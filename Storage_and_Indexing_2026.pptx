
<file path=[Content_Types].xml><?xml version="1.0" encoding="utf-8"?>
<Types xmlns="http://schemas.openxmlformats.org/package/2006/content-types">
  <Default Extension="emf" ContentType="image/x-emf"/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53"/>
  </p:notesMasterIdLst>
  <p:sldIdLst>
    <p:sldId id="445" r:id="rId2"/>
    <p:sldId id="442" r:id="rId3"/>
    <p:sldId id="441" r:id="rId4"/>
    <p:sldId id="443" r:id="rId5"/>
    <p:sldId id="444" r:id="rId6"/>
    <p:sldId id="435" r:id="rId7"/>
    <p:sldId id="436" r:id="rId8"/>
    <p:sldId id="437" r:id="rId9"/>
    <p:sldId id="438" r:id="rId10"/>
    <p:sldId id="440" r:id="rId11"/>
    <p:sldId id="439" r:id="rId12"/>
    <p:sldId id="434" r:id="rId13"/>
    <p:sldId id="282" r:id="rId14"/>
    <p:sldId id="422" r:id="rId15"/>
    <p:sldId id="283" r:id="rId16"/>
    <p:sldId id="423" r:id="rId17"/>
    <p:sldId id="424" r:id="rId18"/>
    <p:sldId id="295" r:id="rId19"/>
    <p:sldId id="426" r:id="rId20"/>
    <p:sldId id="297" r:id="rId21"/>
    <p:sldId id="296" r:id="rId22"/>
    <p:sldId id="396" r:id="rId23"/>
    <p:sldId id="407" r:id="rId24"/>
    <p:sldId id="427" r:id="rId25"/>
    <p:sldId id="300" r:id="rId26"/>
    <p:sldId id="408" r:id="rId27"/>
    <p:sldId id="448" r:id="rId28"/>
    <p:sldId id="258" r:id="rId29"/>
    <p:sldId id="260" r:id="rId30"/>
    <p:sldId id="449" r:id="rId31"/>
    <p:sldId id="374" r:id="rId32"/>
    <p:sldId id="262" r:id="rId33"/>
    <p:sldId id="375" r:id="rId34"/>
    <p:sldId id="486" r:id="rId35"/>
    <p:sldId id="376" r:id="rId36"/>
    <p:sldId id="493" r:id="rId37"/>
    <p:sldId id="383" r:id="rId38"/>
    <p:sldId id="488" r:id="rId39"/>
    <p:sldId id="384" r:id="rId40"/>
    <p:sldId id="494" r:id="rId41"/>
    <p:sldId id="457" r:id="rId42"/>
    <p:sldId id="385" r:id="rId43"/>
    <p:sldId id="456" r:id="rId44"/>
    <p:sldId id="259" r:id="rId45"/>
    <p:sldId id="386" r:id="rId46"/>
    <p:sldId id="489" r:id="rId47"/>
    <p:sldId id="490" r:id="rId48"/>
    <p:sldId id="491" r:id="rId49"/>
    <p:sldId id="492" r:id="rId50"/>
    <p:sldId id="389" r:id="rId51"/>
    <p:sldId id="390" r:id="rId5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7352"/>
    <p:restoredTop sz="94726"/>
  </p:normalViewPr>
  <p:slideViewPr>
    <p:cSldViewPr snapToGrid="0">
      <p:cViewPr varScale="1">
        <p:scale>
          <a:sx n="120" d="100"/>
          <a:sy n="120" d="100"/>
        </p:scale>
        <p:origin x="800" y="18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50" Type="http://schemas.openxmlformats.org/officeDocument/2006/relationships/slide" Target="slides/slide49.xml"/><Relationship Id="rId55" Type="http://schemas.openxmlformats.org/officeDocument/2006/relationships/viewProps" Target="viewProps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3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56" Type="http://schemas.openxmlformats.org/officeDocument/2006/relationships/theme" Target="theme/theme1.xml"/><Relationship Id="rId8" Type="http://schemas.openxmlformats.org/officeDocument/2006/relationships/slide" Target="slides/slide7.xml"/><Relationship Id="rId51" Type="http://schemas.openxmlformats.org/officeDocument/2006/relationships/slide" Target="slides/slide50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54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Relationship Id="rId57" Type="http://schemas.openxmlformats.org/officeDocument/2006/relationships/tableStyles" Target="tableStyles.xml"/><Relationship Id="rId10" Type="http://schemas.openxmlformats.org/officeDocument/2006/relationships/slide" Target="slides/slide9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slide" Target="slides/slide5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329F0C34-9414-DA4B-89A4-332001F5305F}" type="datetimeFigureOut">
              <a:rPr lang="en-US" smtClean="0"/>
              <a:t>2/19/26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072A086D-C623-D843-A536-E5BC4EDAAAF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7879066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3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4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5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7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9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2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4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5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0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850" name="Rectangle 7">
            <a:extLst>
              <a:ext uri="{FF2B5EF4-FFF2-40B4-BE49-F238E27FC236}">
                <a16:creationId xmlns:a16="http://schemas.microsoft.com/office/drawing/2014/main" id="{72614CE6-FFF4-4034-B168-49EFB3E04C27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39299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1pPr>
            <a:lvl2pPr marL="750157" indent="-288522" defTabSz="939299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2pPr>
            <a:lvl3pPr marL="1154087" indent="-230817" defTabSz="939299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3pPr>
            <a:lvl4pPr marL="1615722" indent="-230817" defTabSz="939299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4pPr>
            <a:lvl5pPr marL="2077357" indent="-230817" defTabSz="939299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5pPr>
            <a:lvl6pPr marL="2538992" indent="-230817" defTabSz="939299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6pPr>
            <a:lvl7pPr marL="3000626" indent="-230817" defTabSz="939299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7pPr>
            <a:lvl8pPr marL="3462261" indent="-230817" defTabSz="939299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8pPr>
            <a:lvl9pPr marL="3923896" indent="-230817" defTabSz="939299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9pPr>
          </a:lstStyle>
          <a:p>
            <a:fld id="{BD8D42BA-40E3-4895-A9C8-A200B308F539}" type="slidenum">
              <a:rPr lang="en-US" altLang="en-US" sz="1300"/>
              <a:pPr/>
              <a:t>13</a:t>
            </a:fld>
            <a:endParaRPr lang="en-US" altLang="en-US" sz="1300"/>
          </a:p>
        </p:txBody>
      </p:sp>
      <p:sp>
        <p:nvSpPr>
          <p:cNvPr id="78851" name="Rectangle 2">
            <a:extLst>
              <a:ext uri="{FF2B5EF4-FFF2-40B4-BE49-F238E27FC236}">
                <a16:creationId xmlns:a16="http://schemas.microsoft.com/office/drawing/2014/main" id="{0B5CF2B0-262A-45F7-9707-BE0E50722C71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78852" name="Rectangle 3">
            <a:extLst>
              <a:ext uri="{FF2B5EF4-FFF2-40B4-BE49-F238E27FC236}">
                <a16:creationId xmlns:a16="http://schemas.microsoft.com/office/drawing/2014/main" id="{4BDF3390-60A6-438E-A19E-B7A48E1FE24E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898" name="Rectangle 7">
            <a:extLst>
              <a:ext uri="{FF2B5EF4-FFF2-40B4-BE49-F238E27FC236}">
                <a16:creationId xmlns:a16="http://schemas.microsoft.com/office/drawing/2014/main" id="{545CFAD2-86CA-43EA-9649-01FE1818A7F5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39299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1pPr>
            <a:lvl2pPr marL="750157" indent="-288522" defTabSz="939299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2pPr>
            <a:lvl3pPr marL="1154087" indent="-230817" defTabSz="939299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3pPr>
            <a:lvl4pPr marL="1615722" indent="-230817" defTabSz="939299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4pPr>
            <a:lvl5pPr marL="2077357" indent="-230817" defTabSz="939299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5pPr>
            <a:lvl6pPr marL="2538992" indent="-230817" defTabSz="939299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6pPr>
            <a:lvl7pPr marL="3000626" indent="-230817" defTabSz="939299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7pPr>
            <a:lvl8pPr marL="3462261" indent="-230817" defTabSz="939299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8pPr>
            <a:lvl9pPr marL="3923896" indent="-230817" defTabSz="939299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9pPr>
          </a:lstStyle>
          <a:p>
            <a:fld id="{FA9637EE-2530-47A3-867C-4DFDF031D601}" type="slidenum">
              <a:rPr lang="en-US" altLang="en-US" sz="1300"/>
              <a:pPr/>
              <a:t>14</a:t>
            </a:fld>
            <a:endParaRPr lang="en-US" altLang="en-US" sz="1300"/>
          </a:p>
        </p:txBody>
      </p:sp>
      <p:sp>
        <p:nvSpPr>
          <p:cNvPr id="80899" name="Rectangle 2">
            <a:extLst>
              <a:ext uri="{FF2B5EF4-FFF2-40B4-BE49-F238E27FC236}">
                <a16:creationId xmlns:a16="http://schemas.microsoft.com/office/drawing/2014/main" id="{B81DCE19-5052-4EC6-B3BE-E0CF314AD151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80900" name="Rectangle 3">
            <a:extLst>
              <a:ext uri="{FF2B5EF4-FFF2-40B4-BE49-F238E27FC236}">
                <a16:creationId xmlns:a16="http://schemas.microsoft.com/office/drawing/2014/main" id="{6D5BE292-0595-4EAC-A7BB-D24D85864F8B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latin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664132157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898" name="Rectangle 7">
            <a:extLst>
              <a:ext uri="{FF2B5EF4-FFF2-40B4-BE49-F238E27FC236}">
                <a16:creationId xmlns:a16="http://schemas.microsoft.com/office/drawing/2014/main" id="{545CFAD2-86CA-43EA-9649-01FE1818A7F5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39299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1pPr>
            <a:lvl2pPr marL="750157" indent="-288522" defTabSz="939299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2pPr>
            <a:lvl3pPr marL="1154087" indent="-230817" defTabSz="939299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3pPr>
            <a:lvl4pPr marL="1615722" indent="-230817" defTabSz="939299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4pPr>
            <a:lvl5pPr marL="2077357" indent="-230817" defTabSz="939299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5pPr>
            <a:lvl6pPr marL="2538992" indent="-230817" defTabSz="939299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6pPr>
            <a:lvl7pPr marL="3000626" indent="-230817" defTabSz="939299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7pPr>
            <a:lvl8pPr marL="3462261" indent="-230817" defTabSz="939299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8pPr>
            <a:lvl9pPr marL="3923896" indent="-230817" defTabSz="939299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9pPr>
          </a:lstStyle>
          <a:p>
            <a:fld id="{FA9637EE-2530-47A3-867C-4DFDF031D601}" type="slidenum">
              <a:rPr lang="en-US" altLang="en-US" sz="1300"/>
              <a:pPr/>
              <a:t>15</a:t>
            </a:fld>
            <a:endParaRPr lang="en-US" altLang="en-US" sz="1300"/>
          </a:p>
        </p:txBody>
      </p:sp>
      <p:sp>
        <p:nvSpPr>
          <p:cNvPr id="80899" name="Rectangle 2">
            <a:extLst>
              <a:ext uri="{FF2B5EF4-FFF2-40B4-BE49-F238E27FC236}">
                <a16:creationId xmlns:a16="http://schemas.microsoft.com/office/drawing/2014/main" id="{B81DCE19-5052-4EC6-B3BE-E0CF314AD151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80900" name="Rectangle 3">
            <a:extLst>
              <a:ext uri="{FF2B5EF4-FFF2-40B4-BE49-F238E27FC236}">
                <a16:creationId xmlns:a16="http://schemas.microsoft.com/office/drawing/2014/main" id="{6D5BE292-0595-4EAC-A7BB-D24D85864F8B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898" name="Rectangle 7">
            <a:extLst>
              <a:ext uri="{FF2B5EF4-FFF2-40B4-BE49-F238E27FC236}">
                <a16:creationId xmlns:a16="http://schemas.microsoft.com/office/drawing/2014/main" id="{545CFAD2-86CA-43EA-9649-01FE1818A7F5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39299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1pPr>
            <a:lvl2pPr marL="750157" indent="-288522" defTabSz="939299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2pPr>
            <a:lvl3pPr marL="1154087" indent="-230817" defTabSz="939299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3pPr>
            <a:lvl4pPr marL="1615722" indent="-230817" defTabSz="939299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4pPr>
            <a:lvl5pPr marL="2077357" indent="-230817" defTabSz="939299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5pPr>
            <a:lvl6pPr marL="2538992" indent="-230817" defTabSz="939299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6pPr>
            <a:lvl7pPr marL="3000626" indent="-230817" defTabSz="939299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7pPr>
            <a:lvl8pPr marL="3462261" indent="-230817" defTabSz="939299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8pPr>
            <a:lvl9pPr marL="3923896" indent="-230817" defTabSz="939299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9pPr>
          </a:lstStyle>
          <a:p>
            <a:fld id="{FA9637EE-2530-47A3-867C-4DFDF031D601}" type="slidenum">
              <a:rPr lang="en-US" altLang="en-US" sz="1300"/>
              <a:pPr/>
              <a:t>16</a:t>
            </a:fld>
            <a:endParaRPr lang="en-US" altLang="en-US" sz="1300"/>
          </a:p>
        </p:txBody>
      </p:sp>
      <p:sp>
        <p:nvSpPr>
          <p:cNvPr id="80899" name="Rectangle 2">
            <a:extLst>
              <a:ext uri="{FF2B5EF4-FFF2-40B4-BE49-F238E27FC236}">
                <a16:creationId xmlns:a16="http://schemas.microsoft.com/office/drawing/2014/main" id="{B81DCE19-5052-4EC6-B3BE-E0CF314AD151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80900" name="Rectangle 3">
            <a:extLst>
              <a:ext uri="{FF2B5EF4-FFF2-40B4-BE49-F238E27FC236}">
                <a16:creationId xmlns:a16="http://schemas.microsoft.com/office/drawing/2014/main" id="{6D5BE292-0595-4EAC-A7BB-D24D85864F8B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latin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350353349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898" name="Rectangle 7">
            <a:extLst>
              <a:ext uri="{FF2B5EF4-FFF2-40B4-BE49-F238E27FC236}">
                <a16:creationId xmlns:a16="http://schemas.microsoft.com/office/drawing/2014/main" id="{545CFAD2-86CA-43EA-9649-01FE1818A7F5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39299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1pPr>
            <a:lvl2pPr marL="750157" indent="-288522" defTabSz="939299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2pPr>
            <a:lvl3pPr marL="1154087" indent="-230817" defTabSz="939299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3pPr>
            <a:lvl4pPr marL="1615722" indent="-230817" defTabSz="939299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4pPr>
            <a:lvl5pPr marL="2077357" indent="-230817" defTabSz="939299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5pPr>
            <a:lvl6pPr marL="2538992" indent="-230817" defTabSz="939299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6pPr>
            <a:lvl7pPr marL="3000626" indent="-230817" defTabSz="939299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7pPr>
            <a:lvl8pPr marL="3462261" indent="-230817" defTabSz="939299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8pPr>
            <a:lvl9pPr marL="3923896" indent="-230817" defTabSz="939299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9pPr>
          </a:lstStyle>
          <a:p>
            <a:fld id="{FA9637EE-2530-47A3-867C-4DFDF031D601}" type="slidenum">
              <a:rPr lang="en-US" altLang="en-US" sz="1300"/>
              <a:pPr/>
              <a:t>17</a:t>
            </a:fld>
            <a:endParaRPr lang="en-US" altLang="en-US" sz="1300"/>
          </a:p>
        </p:txBody>
      </p:sp>
      <p:sp>
        <p:nvSpPr>
          <p:cNvPr id="80899" name="Rectangle 2">
            <a:extLst>
              <a:ext uri="{FF2B5EF4-FFF2-40B4-BE49-F238E27FC236}">
                <a16:creationId xmlns:a16="http://schemas.microsoft.com/office/drawing/2014/main" id="{B81DCE19-5052-4EC6-B3BE-E0CF314AD151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80900" name="Rectangle 3">
            <a:extLst>
              <a:ext uri="{FF2B5EF4-FFF2-40B4-BE49-F238E27FC236}">
                <a16:creationId xmlns:a16="http://schemas.microsoft.com/office/drawing/2014/main" id="{6D5BE292-0595-4EAC-A7BB-D24D85864F8B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latin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38741046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186" name="Rectangle 7">
            <a:extLst>
              <a:ext uri="{FF2B5EF4-FFF2-40B4-BE49-F238E27FC236}">
                <a16:creationId xmlns:a16="http://schemas.microsoft.com/office/drawing/2014/main" id="{8E40BEF0-9415-412D-AF21-72BA2D18C45C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39299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1pPr>
            <a:lvl2pPr marL="750157" indent="-288522" defTabSz="939299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2pPr>
            <a:lvl3pPr marL="1154087" indent="-230817" defTabSz="939299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3pPr>
            <a:lvl4pPr marL="1615722" indent="-230817" defTabSz="939299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4pPr>
            <a:lvl5pPr marL="2077357" indent="-230817" defTabSz="939299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5pPr>
            <a:lvl6pPr marL="2538992" indent="-230817" defTabSz="939299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6pPr>
            <a:lvl7pPr marL="3000626" indent="-230817" defTabSz="939299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7pPr>
            <a:lvl8pPr marL="3462261" indent="-230817" defTabSz="939299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8pPr>
            <a:lvl9pPr marL="3923896" indent="-230817" defTabSz="939299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9pPr>
          </a:lstStyle>
          <a:p>
            <a:fld id="{C2E65637-2214-4FA6-A9CC-A7014009F3D6}" type="slidenum">
              <a:rPr lang="en-US" altLang="en-US" sz="1300"/>
              <a:pPr/>
              <a:t>18</a:t>
            </a:fld>
            <a:endParaRPr lang="en-US" altLang="en-US" sz="1300"/>
          </a:p>
        </p:txBody>
      </p:sp>
      <p:sp>
        <p:nvSpPr>
          <p:cNvPr id="93187" name="Rectangle 2">
            <a:extLst>
              <a:ext uri="{FF2B5EF4-FFF2-40B4-BE49-F238E27FC236}">
                <a16:creationId xmlns:a16="http://schemas.microsoft.com/office/drawing/2014/main" id="{F6ACB707-CCC2-4339-8586-9C49A2CAC899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93188" name="Rectangle 3">
            <a:extLst>
              <a:ext uri="{FF2B5EF4-FFF2-40B4-BE49-F238E27FC236}">
                <a16:creationId xmlns:a16="http://schemas.microsoft.com/office/drawing/2014/main" id="{EC05376F-F9AC-467D-82F5-2A937A23D130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234" name="Rectangle 7">
            <a:extLst>
              <a:ext uri="{FF2B5EF4-FFF2-40B4-BE49-F238E27FC236}">
                <a16:creationId xmlns:a16="http://schemas.microsoft.com/office/drawing/2014/main" id="{6ACC2129-DD10-4195-B4E4-0A37464BFA38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39299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1pPr>
            <a:lvl2pPr marL="750157" indent="-288522" defTabSz="939299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2pPr>
            <a:lvl3pPr marL="1154087" indent="-230817" defTabSz="939299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3pPr>
            <a:lvl4pPr marL="1615722" indent="-230817" defTabSz="939299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4pPr>
            <a:lvl5pPr marL="2077357" indent="-230817" defTabSz="939299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5pPr>
            <a:lvl6pPr marL="2538992" indent="-230817" defTabSz="939299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6pPr>
            <a:lvl7pPr marL="3000626" indent="-230817" defTabSz="939299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7pPr>
            <a:lvl8pPr marL="3462261" indent="-230817" defTabSz="939299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8pPr>
            <a:lvl9pPr marL="3923896" indent="-230817" defTabSz="939299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9pPr>
          </a:lstStyle>
          <a:p>
            <a:fld id="{23C8B530-0DB8-4B80-A8A3-17843A477A25}" type="slidenum">
              <a:rPr lang="en-US" altLang="en-US" sz="1300"/>
              <a:pPr/>
              <a:t>20</a:t>
            </a:fld>
            <a:endParaRPr lang="en-US" altLang="en-US" sz="1300"/>
          </a:p>
        </p:txBody>
      </p:sp>
      <p:sp>
        <p:nvSpPr>
          <p:cNvPr id="95235" name="Rectangle 2">
            <a:extLst>
              <a:ext uri="{FF2B5EF4-FFF2-40B4-BE49-F238E27FC236}">
                <a16:creationId xmlns:a16="http://schemas.microsoft.com/office/drawing/2014/main" id="{2367443C-DFF5-4AA5-ABA6-C096F07FD944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95236" name="Rectangle 3">
            <a:extLst>
              <a:ext uri="{FF2B5EF4-FFF2-40B4-BE49-F238E27FC236}">
                <a16:creationId xmlns:a16="http://schemas.microsoft.com/office/drawing/2014/main" id="{B6E1774C-63FE-4622-BF4D-AC0EB01CDB77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 dirty="0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282" name="Rectangle 7">
            <a:extLst>
              <a:ext uri="{FF2B5EF4-FFF2-40B4-BE49-F238E27FC236}">
                <a16:creationId xmlns:a16="http://schemas.microsoft.com/office/drawing/2014/main" id="{6DFF9C4C-A6C6-47DE-9162-4673F144216F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39299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1pPr>
            <a:lvl2pPr marL="750157" indent="-288522" defTabSz="939299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2pPr>
            <a:lvl3pPr marL="1154087" indent="-230817" defTabSz="939299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3pPr>
            <a:lvl4pPr marL="1615722" indent="-230817" defTabSz="939299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4pPr>
            <a:lvl5pPr marL="2077357" indent="-230817" defTabSz="939299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5pPr>
            <a:lvl6pPr marL="2538992" indent="-230817" defTabSz="939299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6pPr>
            <a:lvl7pPr marL="3000626" indent="-230817" defTabSz="939299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7pPr>
            <a:lvl8pPr marL="3462261" indent="-230817" defTabSz="939299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8pPr>
            <a:lvl9pPr marL="3923896" indent="-230817" defTabSz="939299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9pPr>
          </a:lstStyle>
          <a:p>
            <a:fld id="{D2E7717C-BB95-4A69-B6C6-F696DFD972A3}" type="slidenum">
              <a:rPr lang="en-US" altLang="en-US" sz="1300"/>
              <a:pPr/>
              <a:t>21</a:t>
            </a:fld>
            <a:endParaRPr lang="en-US" altLang="en-US" sz="1300"/>
          </a:p>
        </p:txBody>
      </p:sp>
      <p:sp>
        <p:nvSpPr>
          <p:cNvPr id="97283" name="Rectangle 2">
            <a:extLst>
              <a:ext uri="{FF2B5EF4-FFF2-40B4-BE49-F238E27FC236}">
                <a16:creationId xmlns:a16="http://schemas.microsoft.com/office/drawing/2014/main" id="{E7126C29-652A-47EB-9D6F-1C2E666C8B08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97284" name="Rectangle 3">
            <a:extLst>
              <a:ext uri="{FF2B5EF4-FFF2-40B4-BE49-F238E27FC236}">
                <a16:creationId xmlns:a16="http://schemas.microsoft.com/office/drawing/2014/main" id="{E0AF697C-E8F3-4DF3-AC35-E7C8929E55E2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330" name="Rectangle 7">
            <a:extLst>
              <a:ext uri="{FF2B5EF4-FFF2-40B4-BE49-F238E27FC236}">
                <a16:creationId xmlns:a16="http://schemas.microsoft.com/office/drawing/2014/main" id="{38BC8F74-5338-4D8C-9492-03A34375EF78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39299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1pPr>
            <a:lvl2pPr marL="750157" indent="-288522" defTabSz="939299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2pPr>
            <a:lvl3pPr marL="1154087" indent="-230817" defTabSz="939299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3pPr>
            <a:lvl4pPr marL="1615722" indent="-230817" defTabSz="939299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4pPr>
            <a:lvl5pPr marL="2077357" indent="-230817" defTabSz="939299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5pPr>
            <a:lvl6pPr marL="2538992" indent="-230817" defTabSz="939299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6pPr>
            <a:lvl7pPr marL="3000626" indent="-230817" defTabSz="939299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7pPr>
            <a:lvl8pPr marL="3462261" indent="-230817" defTabSz="939299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8pPr>
            <a:lvl9pPr marL="3923896" indent="-230817" defTabSz="939299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9pPr>
          </a:lstStyle>
          <a:p>
            <a:fld id="{E91F6D00-35F2-4B2B-8113-369B74D92DAB}" type="slidenum">
              <a:rPr lang="en-US" altLang="en-US" sz="1300"/>
              <a:pPr/>
              <a:t>22</a:t>
            </a:fld>
            <a:endParaRPr lang="en-US" altLang="en-US" sz="1300"/>
          </a:p>
        </p:txBody>
      </p:sp>
      <p:sp>
        <p:nvSpPr>
          <p:cNvPr id="99331" name="Rectangle 2">
            <a:extLst>
              <a:ext uri="{FF2B5EF4-FFF2-40B4-BE49-F238E27FC236}">
                <a16:creationId xmlns:a16="http://schemas.microsoft.com/office/drawing/2014/main" id="{60F81C1A-4945-4A61-BFAE-5BB6BAE73D4A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99332" name="Rectangle 3">
            <a:extLst>
              <a:ext uri="{FF2B5EF4-FFF2-40B4-BE49-F238E27FC236}">
                <a16:creationId xmlns:a16="http://schemas.microsoft.com/office/drawing/2014/main" id="{A55348B0-634F-4915-A069-EA540582EB55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426" name="Rectangle 7">
            <a:extLst>
              <a:ext uri="{FF2B5EF4-FFF2-40B4-BE49-F238E27FC236}">
                <a16:creationId xmlns:a16="http://schemas.microsoft.com/office/drawing/2014/main" id="{A16E65DD-EF4C-40F9-B8A2-FC5391BB5F3A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39299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1pPr>
            <a:lvl2pPr marL="750157" indent="-288522" defTabSz="939299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2pPr>
            <a:lvl3pPr marL="1154087" indent="-230817" defTabSz="939299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3pPr>
            <a:lvl4pPr marL="1615722" indent="-230817" defTabSz="939299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4pPr>
            <a:lvl5pPr marL="2077357" indent="-230817" defTabSz="939299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5pPr>
            <a:lvl6pPr marL="2538992" indent="-230817" defTabSz="939299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6pPr>
            <a:lvl7pPr marL="3000626" indent="-230817" defTabSz="939299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7pPr>
            <a:lvl8pPr marL="3462261" indent="-230817" defTabSz="939299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8pPr>
            <a:lvl9pPr marL="3923896" indent="-230817" defTabSz="939299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9pPr>
          </a:lstStyle>
          <a:p>
            <a:fld id="{C5B977A4-0CF7-49CC-8CC4-1EEE95D117D8}" type="slidenum">
              <a:rPr lang="en-US" altLang="en-US" sz="1300"/>
              <a:pPr/>
              <a:t>25</a:t>
            </a:fld>
            <a:endParaRPr lang="en-US" altLang="en-US" sz="1300"/>
          </a:p>
        </p:txBody>
      </p:sp>
      <p:sp>
        <p:nvSpPr>
          <p:cNvPr id="103427" name="Rectangle 2">
            <a:extLst>
              <a:ext uri="{FF2B5EF4-FFF2-40B4-BE49-F238E27FC236}">
                <a16:creationId xmlns:a16="http://schemas.microsoft.com/office/drawing/2014/main" id="{E386D52D-B7F3-486C-8A04-B930DD0986D4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03428" name="Rectangle 3">
            <a:extLst>
              <a:ext uri="{FF2B5EF4-FFF2-40B4-BE49-F238E27FC236}">
                <a16:creationId xmlns:a16="http://schemas.microsoft.com/office/drawing/2014/main" id="{EE369836-416C-4229-8A8C-48ECA010C7B7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latin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652694682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42" name="Rectangle 7">
            <a:extLst>
              <a:ext uri="{FF2B5EF4-FFF2-40B4-BE49-F238E27FC236}">
                <a16:creationId xmlns:a16="http://schemas.microsoft.com/office/drawing/2014/main" id="{F5A7988B-18A6-4E89-B7A3-02CD5A8BA565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39299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1pPr>
            <a:lvl2pPr marL="750157" indent="-288522" defTabSz="939299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2pPr>
            <a:lvl3pPr marL="1154087" indent="-230817" defTabSz="939299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3pPr>
            <a:lvl4pPr marL="1615722" indent="-230817" defTabSz="939299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4pPr>
            <a:lvl5pPr marL="2077357" indent="-230817" defTabSz="939299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5pPr>
            <a:lvl6pPr marL="2538992" indent="-230817" defTabSz="939299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6pPr>
            <a:lvl7pPr marL="3000626" indent="-230817" defTabSz="939299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7pPr>
            <a:lvl8pPr marL="3462261" indent="-230817" defTabSz="939299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8pPr>
            <a:lvl9pPr marL="3923896" indent="-230817" defTabSz="939299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9pPr>
          </a:lstStyle>
          <a:p>
            <a:fld id="{0CD13F24-5BFF-454F-A8F8-2726B16156DD}" type="slidenum">
              <a:rPr lang="en-US" altLang="en-US" sz="1200"/>
              <a:pPr/>
              <a:t>28</a:t>
            </a:fld>
            <a:endParaRPr lang="en-US" altLang="en-US" sz="1200"/>
          </a:p>
        </p:txBody>
      </p:sp>
      <p:sp>
        <p:nvSpPr>
          <p:cNvPr id="10243" name="Rectangle 2">
            <a:extLst>
              <a:ext uri="{FF2B5EF4-FFF2-40B4-BE49-F238E27FC236}">
                <a16:creationId xmlns:a16="http://schemas.microsoft.com/office/drawing/2014/main" id="{93A39C31-73EB-4715-B4B8-68D4B837F1C6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0244" name="Rectangle 3">
            <a:extLst>
              <a:ext uri="{FF2B5EF4-FFF2-40B4-BE49-F238E27FC236}">
                <a16:creationId xmlns:a16="http://schemas.microsoft.com/office/drawing/2014/main" id="{385F3768-7479-497E-B124-A7E267648831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942434" y="4447781"/>
            <a:ext cx="5192210" cy="4212424"/>
          </a:xfr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38" name="Rectangle 7">
            <a:extLst>
              <a:ext uri="{FF2B5EF4-FFF2-40B4-BE49-F238E27FC236}">
                <a16:creationId xmlns:a16="http://schemas.microsoft.com/office/drawing/2014/main" id="{77682520-0B29-4E2C-B8EF-EF500DD163C0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39299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1pPr>
            <a:lvl2pPr marL="750157" indent="-288522" defTabSz="939299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2pPr>
            <a:lvl3pPr marL="1154087" indent="-230817" defTabSz="939299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3pPr>
            <a:lvl4pPr marL="1615722" indent="-230817" defTabSz="939299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4pPr>
            <a:lvl5pPr marL="2077357" indent="-230817" defTabSz="939299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5pPr>
            <a:lvl6pPr marL="2538992" indent="-230817" defTabSz="939299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6pPr>
            <a:lvl7pPr marL="3000626" indent="-230817" defTabSz="939299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7pPr>
            <a:lvl8pPr marL="3462261" indent="-230817" defTabSz="939299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8pPr>
            <a:lvl9pPr marL="3923896" indent="-230817" defTabSz="939299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9pPr>
          </a:lstStyle>
          <a:p>
            <a:fld id="{DD4282C8-423F-4181-AE0E-76D77C441D47}" type="slidenum">
              <a:rPr lang="en-US" altLang="en-US" sz="1200"/>
              <a:pPr/>
              <a:t>29</a:t>
            </a:fld>
            <a:endParaRPr lang="en-US" altLang="en-US" sz="1200"/>
          </a:p>
        </p:txBody>
      </p:sp>
      <p:sp>
        <p:nvSpPr>
          <p:cNvPr id="14339" name="Rectangle 2">
            <a:extLst>
              <a:ext uri="{FF2B5EF4-FFF2-40B4-BE49-F238E27FC236}">
                <a16:creationId xmlns:a16="http://schemas.microsoft.com/office/drawing/2014/main" id="{B3871E10-70A6-45E0-910F-25235378732A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4340" name="Rectangle 3">
            <a:extLst>
              <a:ext uri="{FF2B5EF4-FFF2-40B4-BE49-F238E27FC236}">
                <a16:creationId xmlns:a16="http://schemas.microsoft.com/office/drawing/2014/main" id="{A5941599-5110-4A37-8FEC-F97D85E09353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942434" y="4447781"/>
            <a:ext cx="5192210" cy="4212424"/>
          </a:xfr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86" name="Rectangle 7">
            <a:extLst>
              <a:ext uri="{FF2B5EF4-FFF2-40B4-BE49-F238E27FC236}">
                <a16:creationId xmlns:a16="http://schemas.microsoft.com/office/drawing/2014/main" id="{6879A709-AA35-4A6D-9BE7-88A1C74F4BA5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39299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1pPr>
            <a:lvl2pPr marL="750157" indent="-288522" defTabSz="939299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2pPr>
            <a:lvl3pPr marL="1154087" indent="-230817" defTabSz="939299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3pPr>
            <a:lvl4pPr marL="1615722" indent="-230817" defTabSz="939299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4pPr>
            <a:lvl5pPr marL="2077357" indent="-230817" defTabSz="939299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5pPr>
            <a:lvl6pPr marL="2538992" indent="-230817" defTabSz="939299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6pPr>
            <a:lvl7pPr marL="3000626" indent="-230817" defTabSz="939299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7pPr>
            <a:lvl8pPr marL="3462261" indent="-230817" defTabSz="939299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8pPr>
            <a:lvl9pPr marL="3923896" indent="-230817" defTabSz="939299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9pPr>
          </a:lstStyle>
          <a:p>
            <a:fld id="{8D36EA57-3AEE-45DA-8B41-1ABDFD322964}" type="slidenum">
              <a:rPr lang="en-US" altLang="en-US" sz="1200"/>
              <a:pPr/>
              <a:t>30</a:t>
            </a:fld>
            <a:endParaRPr lang="en-US" altLang="en-US" sz="1200"/>
          </a:p>
        </p:txBody>
      </p:sp>
      <p:sp>
        <p:nvSpPr>
          <p:cNvPr id="16387" name="Rectangle 2">
            <a:extLst>
              <a:ext uri="{FF2B5EF4-FFF2-40B4-BE49-F238E27FC236}">
                <a16:creationId xmlns:a16="http://schemas.microsoft.com/office/drawing/2014/main" id="{BBA83F35-444C-4933-A1C1-4CC1BA88256A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6388" name="Rectangle 3">
            <a:extLst>
              <a:ext uri="{FF2B5EF4-FFF2-40B4-BE49-F238E27FC236}">
                <a16:creationId xmlns:a16="http://schemas.microsoft.com/office/drawing/2014/main" id="{3691D86C-4522-4521-AEF2-79F8224DB480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942434" y="4447781"/>
            <a:ext cx="5192210" cy="4212424"/>
          </a:xfr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4" name="Rectangle 7">
            <a:extLst>
              <a:ext uri="{FF2B5EF4-FFF2-40B4-BE49-F238E27FC236}">
                <a16:creationId xmlns:a16="http://schemas.microsoft.com/office/drawing/2014/main" id="{CC37B962-6721-4CB2-BF2F-A4994C84C258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39299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1pPr>
            <a:lvl2pPr marL="750157" indent="-288522" defTabSz="939299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2pPr>
            <a:lvl3pPr marL="1154087" indent="-230817" defTabSz="939299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3pPr>
            <a:lvl4pPr marL="1615722" indent="-230817" defTabSz="939299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4pPr>
            <a:lvl5pPr marL="2077357" indent="-230817" defTabSz="939299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5pPr>
            <a:lvl6pPr marL="2538992" indent="-230817" defTabSz="939299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6pPr>
            <a:lvl7pPr marL="3000626" indent="-230817" defTabSz="939299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7pPr>
            <a:lvl8pPr marL="3462261" indent="-230817" defTabSz="939299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8pPr>
            <a:lvl9pPr marL="3923896" indent="-230817" defTabSz="939299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9pPr>
          </a:lstStyle>
          <a:p>
            <a:fld id="{74B49C02-3301-417A-946C-48DBBC639D36}" type="slidenum">
              <a:rPr lang="en-US" altLang="en-US" sz="1200"/>
              <a:pPr/>
              <a:t>31</a:t>
            </a:fld>
            <a:endParaRPr lang="en-US" altLang="en-US" sz="1200"/>
          </a:p>
        </p:txBody>
      </p:sp>
      <p:sp>
        <p:nvSpPr>
          <p:cNvPr id="18435" name="Rectangle 2">
            <a:extLst>
              <a:ext uri="{FF2B5EF4-FFF2-40B4-BE49-F238E27FC236}">
                <a16:creationId xmlns:a16="http://schemas.microsoft.com/office/drawing/2014/main" id="{58B57A18-7C07-4567-AFE0-C16DB8E58A81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8436" name="Rectangle 3">
            <a:extLst>
              <a:ext uri="{FF2B5EF4-FFF2-40B4-BE49-F238E27FC236}">
                <a16:creationId xmlns:a16="http://schemas.microsoft.com/office/drawing/2014/main" id="{6A712ECB-F40C-4324-82FD-AB0F331C22DF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942434" y="4447781"/>
            <a:ext cx="5192210" cy="4212424"/>
          </a:xfr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82" name="Rectangle 7">
            <a:extLst>
              <a:ext uri="{FF2B5EF4-FFF2-40B4-BE49-F238E27FC236}">
                <a16:creationId xmlns:a16="http://schemas.microsoft.com/office/drawing/2014/main" id="{D3682090-4C7F-4BBF-B210-69B6532E81DF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39299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1pPr>
            <a:lvl2pPr marL="750157" indent="-288522" defTabSz="939299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2pPr>
            <a:lvl3pPr marL="1154087" indent="-230817" defTabSz="939299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3pPr>
            <a:lvl4pPr marL="1615722" indent="-230817" defTabSz="939299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4pPr>
            <a:lvl5pPr marL="2077357" indent="-230817" defTabSz="939299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5pPr>
            <a:lvl6pPr marL="2538992" indent="-230817" defTabSz="939299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6pPr>
            <a:lvl7pPr marL="3000626" indent="-230817" defTabSz="939299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7pPr>
            <a:lvl8pPr marL="3462261" indent="-230817" defTabSz="939299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8pPr>
            <a:lvl9pPr marL="3923896" indent="-230817" defTabSz="939299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9pPr>
          </a:lstStyle>
          <a:p>
            <a:fld id="{96B3E72A-CBD0-4A8B-906B-5F408CB939CB}" type="slidenum">
              <a:rPr lang="en-US" altLang="en-US" sz="1200"/>
              <a:pPr/>
              <a:t>32</a:t>
            </a:fld>
            <a:endParaRPr lang="en-US" altLang="en-US" sz="1200"/>
          </a:p>
        </p:txBody>
      </p:sp>
      <p:sp>
        <p:nvSpPr>
          <p:cNvPr id="20483" name="Rectangle 2">
            <a:extLst>
              <a:ext uri="{FF2B5EF4-FFF2-40B4-BE49-F238E27FC236}">
                <a16:creationId xmlns:a16="http://schemas.microsoft.com/office/drawing/2014/main" id="{CC675BEA-E819-45DB-9D5B-FCC7D29962ED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20484" name="Rectangle 3">
            <a:extLst>
              <a:ext uri="{FF2B5EF4-FFF2-40B4-BE49-F238E27FC236}">
                <a16:creationId xmlns:a16="http://schemas.microsoft.com/office/drawing/2014/main" id="{E6245AE6-F975-4CB6-A6FD-9F8E48BBA4F8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942434" y="4447781"/>
            <a:ext cx="5192210" cy="4212424"/>
          </a:xfr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30" name="Rectangle 7">
            <a:extLst>
              <a:ext uri="{FF2B5EF4-FFF2-40B4-BE49-F238E27FC236}">
                <a16:creationId xmlns:a16="http://schemas.microsoft.com/office/drawing/2014/main" id="{994C62E2-AFD2-4FBB-8598-15205348FB41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39299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1pPr>
            <a:lvl2pPr marL="750157" indent="-288522" defTabSz="939299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2pPr>
            <a:lvl3pPr marL="1154087" indent="-230817" defTabSz="939299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3pPr>
            <a:lvl4pPr marL="1615722" indent="-230817" defTabSz="939299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4pPr>
            <a:lvl5pPr marL="2077357" indent="-230817" defTabSz="939299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5pPr>
            <a:lvl6pPr marL="2538992" indent="-230817" defTabSz="939299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6pPr>
            <a:lvl7pPr marL="3000626" indent="-230817" defTabSz="939299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7pPr>
            <a:lvl8pPr marL="3462261" indent="-230817" defTabSz="939299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8pPr>
            <a:lvl9pPr marL="3923896" indent="-230817" defTabSz="939299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9pPr>
          </a:lstStyle>
          <a:p>
            <a:fld id="{8EC6A394-E874-4EE6-A573-E94510DFC5D6}" type="slidenum">
              <a:rPr lang="en-US" altLang="en-US" sz="1200"/>
              <a:pPr/>
              <a:t>33</a:t>
            </a:fld>
            <a:endParaRPr lang="en-US" altLang="en-US" sz="1200"/>
          </a:p>
        </p:txBody>
      </p:sp>
      <p:sp>
        <p:nvSpPr>
          <p:cNvPr id="22531" name="Rectangle 2">
            <a:extLst>
              <a:ext uri="{FF2B5EF4-FFF2-40B4-BE49-F238E27FC236}">
                <a16:creationId xmlns:a16="http://schemas.microsoft.com/office/drawing/2014/main" id="{7CFC8D8E-E673-4821-A709-6157065E4CDA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22532" name="Rectangle 3">
            <a:extLst>
              <a:ext uri="{FF2B5EF4-FFF2-40B4-BE49-F238E27FC236}">
                <a16:creationId xmlns:a16="http://schemas.microsoft.com/office/drawing/2014/main" id="{AC43F747-DB06-4B73-9E6F-9FE6A13AC2B7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942434" y="4447781"/>
            <a:ext cx="5192210" cy="4212424"/>
          </a:xfr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78" name="Rectangle 7">
            <a:extLst>
              <a:ext uri="{FF2B5EF4-FFF2-40B4-BE49-F238E27FC236}">
                <a16:creationId xmlns:a16="http://schemas.microsoft.com/office/drawing/2014/main" id="{849C3F0A-D3BE-431D-8731-738A67BF79AD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39299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1pPr>
            <a:lvl2pPr marL="750157" indent="-288522" defTabSz="939299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2pPr>
            <a:lvl3pPr marL="1154087" indent="-230817" defTabSz="939299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3pPr>
            <a:lvl4pPr marL="1615722" indent="-230817" defTabSz="939299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4pPr>
            <a:lvl5pPr marL="2077357" indent="-230817" defTabSz="939299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5pPr>
            <a:lvl6pPr marL="2538992" indent="-230817" defTabSz="939299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6pPr>
            <a:lvl7pPr marL="3000626" indent="-230817" defTabSz="939299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7pPr>
            <a:lvl8pPr marL="3462261" indent="-230817" defTabSz="939299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8pPr>
            <a:lvl9pPr marL="3923896" indent="-230817" defTabSz="939299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9pPr>
          </a:lstStyle>
          <a:p>
            <a:fld id="{72EC7B4E-2CDE-43FC-862B-874E947E3B53}" type="slidenum">
              <a:rPr lang="en-US" altLang="en-US" sz="1200"/>
              <a:pPr/>
              <a:t>34</a:t>
            </a:fld>
            <a:endParaRPr lang="en-US" altLang="en-US" sz="1200"/>
          </a:p>
        </p:txBody>
      </p:sp>
      <p:sp>
        <p:nvSpPr>
          <p:cNvPr id="24579" name="Rectangle 2">
            <a:extLst>
              <a:ext uri="{FF2B5EF4-FFF2-40B4-BE49-F238E27FC236}">
                <a16:creationId xmlns:a16="http://schemas.microsoft.com/office/drawing/2014/main" id="{BCF0DBB6-F167-40B1-BD30-66A89FB25342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24580" name="Rectangle 3">
            <a:extLst>
              <a:ext uri="{FF2B5EF4-FFF2-40B4-BE49-F238E27FC236}">
                <a16:creationId xmlns:a16="http://schemas.microsoft.com/office/drawing/2014/main" id="{D5648EE5-B87E-4EDB-BA16-A97C7157303B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942434" y="4447781"/>
            <a:ext cx="5192210" cy="4212424"/>
          </a:xfr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latin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950671566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674" name="Rectangle 7">
            <a:extLst>
              <a:ext uri="{FF2B5EF4-FFF2-40B4-BE49-F238E27FC236}">
                <a16:creationId xmlns:a16="http://schemas.microsoft.com/office/drawing/2014/main" id="{005414BF-A812-43BB-9D8F-B7D74E967BD4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39299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1pPr>
            <a:lvl2pPr marL="750157" indent="-288522" defTabSz="939299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2pPr>
            <a:lvl3pPr marL="1154087" indent="-230817" defTabSz="939299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3pPr>
            <a:lvl4pPr marL="1615722" indent="-230817" defTabSz="939299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4pPr>
            <a:lvl5pPr marL="2077357" indent="-230817" defTabSz="939299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5pPr>
            <a:lvl6pPr marL="2538992" indent="-230817" defTabSz="939299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6pPr>
            <a:lvl7pPr marL="3000626" indent="-230817" defTabSz="939299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7pPr>
            <a:lvl8pPr marL="3462261" indent="-230817" defTabSz="939299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8pPr>
            <a:lvl9pPr marL="3923896" indent="-230817" defTabSz="939299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9pPr>
          </a:lstStyle>
          <a:p>
            <a:fld id="{7E3E7743-31B1-4691-9E91-5BA74FD0DB51}" type="slidenum">
              <a:rPr lang="en-US" altLang="en-US" sz="1200"/>
              <a:pPr/>
              <a:t>35</a:t>
            </a:fld>
            <a:endParaRPr lang="en-US" altLang="en-US" sz="1200"/>
          </a:p>
        </p:txBody>
      </p:sp>
      <p:sp>
        <p:nvSpPr>
          <p:cNvPr id="28675" name="Rectangle 2">
            <a:extLst>
              <a:ext uri="{FF2B5EF4-FFF2-40B4-BE49-F238E27FC236}">
                <a16:creationId xmlns:a16="http://schemas.microsoft.com/office/drawing/2014/main" id="{1CA2EACE-7817-405D-8E26-786659F87C12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28676" name="Rectangle 3">
            <a:extLst>
              <a:ext uri="{FF2B5EF4-FFF2-40B4-BE49-F238E27FC236}">
                <a16:creationId xmlns:a16="http://schemas.microsoft.com/office/drawing/2014/main" id="{E5A893CB-7BEF-4C84-ABB4-CD6B7DADDA17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942434" y="4447781"/>
            <a:ext cx="5192210" cy="4212424"/>
          </a:xfr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914" name="Rectangle 7">
            <a:extLst>
              <a:ext uri="{FF2B5EF4-FFF2-40B4-BE49-F238E27FC236}">
                <a16:creationId xmlns:a16="http://schemas.microsoft.com/office/drawing/2014/main" id="{89A2C9D5-37F8-46BF-A4B2-B8B3BEA4B2BE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39299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1pPr>
            <a:lvl2pPr marL="750157" indent="-288522" defTabSz="939299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2pPr>
            <a:lvl3pPr marL="1154087" indent="-230817" defTabSz="939299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3pPr>
            <a:lvl4pPr marL="1615722" indent="-230817" defTabSz="939299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4pPr>
            <a:lvl5pPr marL="2077357" indent="-230817" defTabSz="939299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5pPr>
            <a:lvl6pPr marL="2538992" indent="-230817" defTabSz="939299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6pPr>
            <a:lvl7pPr marL="3000626" indent="-230817" defTabSz="939299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7pPr>
            <a:lvl8pPr marL="3462261" indent="-230817" defTabSz="939299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8pPr>
            <a:lvl9pPr marL="3923896" indent="-230817" defTabSz="939299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9pPr>
          </a:lstStyle>
          <a:p>
            <a:fld id="{825E3FF6-A043-4717-ACA2-A42D20435F2A}" type="slidenum">
              <a:rPr lang="en-US" altLang="en-US" sz="1200"/>
              <a:pPr/>
              <a:t>37</a:t>
            </a:fld>
            <a:endParaRPr lang="en-US" altLang="en-US" sz="1200"/>
          </a:p>
        </p:txBody>
      </p:sp>
      <p:sp>
        <p:nvSpPr>
          <p:cNvPr id="38915" name="Rectangle 2">
            <a:extLst>
              <a:ext uri="{FF2B5EF4-FFF2-40B4-BE49-F238E27FC236}">
                <a16:creationId xmlns:a16="http://schemas.microsoft.com/office/drawing/2014/main" id="{8E26EBCF-CCF9-49D6-9BC9-0B42E960DB4F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38916" name="Rectangle 3">
            <a:extLst>
              <a:ext uri="{FF2B5EF4-FFF2-40B4-BE49-F238E27FC236}">
                <a16:creationId xmlns:a16="http://schemas.microsoft.com/office/drawing/2014/main" id="{20239E20-9258-406C-ABA4-4100B448CB17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942434" y="4447781"/>
            <a:ext cx="5192210" cy="4212424"/>
          </a:xfr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986" name="Rectangle 7">
            <a:extLst>
              <a:ext uri="{FF2B5EF4-FFF2-40B4-BE49-F238E27FC236}">
                <a16:creationId xmlns:a16="http://schemas.microsoft.com/office/drawing/2014/main" id="{1DBA71E5-18EF-43E7-93DD-CA6F880BF781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39299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1pPr>
            <a:lvl2pPr marL="750157" indent="-288522" defTabSz="939299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2pPr>
            <a:lvl3pPr marL="1154087" indent="-230817" defTabSz="939299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3pPr>
            <a:lvl4pPr marL="1615722" indent="-230817" defTabSz="939299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4pPr>
            <a:lvl5pPr marL="2077357" indent="-230817" defTabSz="939299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5pPr>
            <a:lvl6pPr marL="2538992" indent="-230817" defTabSz="939299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6pPr>
            <a:lvl7pPr marL="3000626" indent="-230817" defTabSz="939299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7pPr>
            <a:lvl8pPr marL="3462261" indent="-230817" defTabSz="939299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8pPr>
            <a:lvl9pPr marL="3923896" indent="-230817" defTabSz="939299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9pPr>
          </a:lstStyle>
          <a:p>
            <a:fld id="{133DC68A-4FDB-4EB8-B0A0-36C89B51C904}" type="slidenum">
              <a:rPr lang="en-US" altLang="en-US" sz="1200"/>
              <a:pPr/>
              <a:t>39</a:t>
            </a:fld>
            <a:endParaRPr lang="en-US" altLang="en-US" sz="1200"/>
          </a:p>
        </p:txBody>
      </p:sp>
      <p:sp>
        <p:nvSpPr>
          <p:cNvPr id="41987" name="Rectangle 2">
            <a:extLst>
              <a:ext uri="{FF2B5EF4-FFF2-40B4-BE49-F238E27FC236}">
                <a16:creationId xmlns:a16="http://schemas.microsoft.com/office/drawing/2014/main" id="{0EFA33CB-C944-4E9D-B3A5-D032771D16B7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41988" name="Rectangle 3">
            <a:extLst>
              <a:ext uri="{FF2B5EF4-FFF2-40B4-BE49-F238E27FC236}">
                <a16:creationId xmlns:a16="http://schemas.microsoft.com/office/drawing/2014/main" id="{C2307F3D-2E4B-472D-8C41-D1FFB2107163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942434" y="4447781"/>
            <a:ext cx="5192210" cy="4212424"/>
          </a:xfr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034" name="Rectangle 7">
            <a:extLst>
              <a:ext uri="{FF2B5EF4-FFF2-40B4-BE49-F238E27FC236}">
                <a16:creationId xmlns:a16="http://schemas.microsoft.com/office/drawing/2014/main" id="{3D93A8BB-72D5-40E9-B777-4CC9355B4022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39299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1pPr>
            <a:lvl2pPr marL="750157" indent="-288522" defTabSz="939299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2pPr>
            <a:lvl3pPr marL="1154087" indent="-230817" defTabSz="939299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3pPr>
            <a:lvl4pPr marL="1615722" indent="-230817" defTabSz="939299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4pPr>
            <a:lvl5pPr marL="2077357" indent="-230817" defTabSz="939299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5pPr>
            <a:lvl6pPr marL="2538992" indent="-230817" defTabSz="939299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6pPr>
            <a:lvl7pPr marL="3000626" indent="-230817" defTabSz="939299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7pPr>
            <a:lvl8pPr marL="3462261" indent="-230817" defTabSz="939299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8pPr>
            <a:lvl9pPr marL="3923896" indent="-230817" defTabSz="939299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9pPr>
          </a:lstStyle>
          <a:p>
            <a:fld id="{50FDFC39-5922-4703-9593-C8F577919411}" type="slidenum">
              <a:rPr lang="en-US" altLang="en-US" sz="1200"/>
              <a:pPr/>
              <a:t>42</a:t>
            </a:fld>
            <a:endParaRPr lang="en-US" altLang="en-US" sz="1200"/>
          </a:p>
        </p:txBody>
      </p:sp>
      <p:sp>
        <p:nvSpPr>
          <p:cNvPr id="44035" name="Rectangle 2">
            <a:extLst>
              <a:ext uri="{FF2B5EF4-FFF2-40B4-BE49-F238E27FC236}">
                <a16:creationId xmlns:a16="http://schemas.microsoft.com/office/drawing/2014/main" id="{C8CCF976-4F51-4193-AF19-DEA748741E65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44036" name="Rectangle 3">
            <a:extLst>
              <a:ext uri="{FF2B5EF4-FFF2-40B4-BE49-F238E27FC236}">
                <a16:creationId xmlns:a16="http://schemas.microsoft.com/office/drawing/2014/main" id="{F6FF947C-4F92-49A0-8338-0BEA886FAC09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942434" y="4447781"/>
            <a:ext cx="5192210" cy="4212424"/>
          </a:xfr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90" name="Rectangle 7">
            <a:extLst>
              <a:ext uri="{FF2B5EF4-FFF2-40B4-BE49-F238E27FC236}">
                <a16:creationId xmlns:a16="http://schemas.microsoft.com/office/drawing/2014/main" id="{9CFB7107-1C42-472A-9833-6940DF3869A6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39299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1pPr>
            <a:lvl2pPr marL="750157" indent="-288522" defTabSz="939299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2pPr>
            <a:lvl3pPr marL="1154087" indent="-230817" defTabSz="939299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3pPr>
            <a:lvl4pPr marL="1615722" indent="-230817" defTabSz="939299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4pPr>
            <a:lvl5pPr marL="2077357" indent="-230817" defTabSz="939299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5pPr>
            <a:lvl6pPr marL="2538992" indent="-230817" defTabSz="939299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6pPr>
            <a:lvl7pPr marL="3000626" indent="-230817" defTabSz="939299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7pPr>
            <a:lvl8pPr marL="3462261" indent="-230817" defTabSz="939299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8pPr>
            <a:lvl9pPr marL="3923896" indent="-230817" defTabSz="939299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9pPr>
          </a:lstStyle>
          <a:p>
            <a:fld id="{0A762164-D93F-4E35-B0AE-B1934AD126B6}" type="slidenum">
              <a:rPr lang="en-US" altLang="en-US" sz="1200"/>
              <a:pPr/>
              <a:t>44</a:t>
            </a:fld>
            <a:endParaRPr lang="en-US" altLang="en-US" sz="1200"/>
          </a:p>
        </p:txBody>
      </p:sp>
      <p:sp>
        <p:nvSpPr>
          <p:cNvPr id="12291" name="Rectangle 2">
            <a:extLst>
              <a:ext uri="{FF2B5EF4-FFF2-40B4-BE49-F238E27FC236}">
                <a16:creationId xmlns:a16="http://schemas.microsoft.com/office/drawing/2014/main" id="{11D1397A-8E5F-4649-BED7-5E5A8D0FC2A9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2292" name="Rectangle 3">
            <a:extLst>
              <a:ext uri="{FF2B5EF4-FFF2-40B4-BE49-F238E27FC236}">
                <a16:creationId xmlns:a16="http://schemas.microsoft.com/office/drawing/2014/main" id="{7F5DD1DF-B9FD-494B-A0D4-6579635A7432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942434" y="4447781"/>
            <a:ext cx="5192210" cy="4212424"/>
          </a:xfr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082" name="Rectangle 7">
            <a:extLst>
              <a:ext uri="{FF2B5EF4-FFF2-40B4-BE49-F238E27FC236}">
                <a16:creationId xmlns:a16="http://schemas.microsoft.com/office/drawing/2014/main" id="{68D50FF3-548E-49DD-BF1B-5A9FCEB953E3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39299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1pPr>
            <a:lvl2pPr marL="750157" indent="-288522" defTabSz="939299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2pPr>
            <a:lvl3pPr marL="1154087" indent="-230817" defTabSz="939299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3pPr>
            <a:lvl4pPr marL="1615722" indent="-230817" defTabSz="939299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4pPr>
            <a:lvl5pPr marL="2077357" indent="-230817" defTabSz="939299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5pPr>
            <a:lvl6pPr marL="2538992" indent="-230817" defTabSz="939299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6pPr>
            <a:lvl7pPr marL="3000626" indent="-230817" defTabSz="939299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7pPr>
            <a:lvl8pPr marL="3462261" indent="-230817" defTabSz="939299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8pPr>
            <a:lvl9pPr marL="3923896" indent="-230817" defTabSz="939299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9pPr>
          </a:lstStyle>
          <a:p>
            <a:fld id="{6C993EA4-DB1C-4EB9-9D70-9176870586F2}" type="slidenum">
              <a:rPr lang="en-US" altLang="en-US" sz="1200"/>
              <a:pPr/>
              <a:t>45</a:t>
            </a:fld>
            <a:endParaRPr lang="en-US" altLang="en-US" sz="1200"/>
          </a:p>
        </p:txBody>
      </p:sp>
      <p:sp>
        <p:nvSpPr>
          <p:cNvPr id="46083" name="Rectangle 2">
            <a:extLst>
              <a:ext uri="{FF2B5EF4-FFF2-40B4-BE49-F238E27FC236}">
                <a16:creationId xmlns:a16="http://schemas.microsoft.com/office/drawing/2014/main" id="{20225422-21CC-4388-95E7-E7F6FAD9A3D9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46084" name="Rectangle 3">
            <a:extLst>
              <a:ext uri="{FF2B5EF4-FFF2-40B4-BE49-F238E27FC236}">
                <a16:creationId xmlns:a16="http://schemas.microsoft.com/office/drawing/2014/main" id="{550AD905-B675-4756-A7AC-ED64B5BA4CC6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942434" y="4447781"/>
            <a:ext cx="5192210" cy="4212424"/>
          </a:xfr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154" name="Rectangle 7">
            <a:extLst>
              <a:ext uri="{FF2B5EF4-FFF2-40B4-BE49-F238E27FC236}">
                <a16:creationId xmlns:a16="http://schemas.microsoft.com/office/drawing/2014/main" id="{976FFAED-2FF8-4D66-B01E-6292648A66BD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39299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1pPr>
            <a:lvl2pPr marL="750157" indent="-288522" defTabSz="939299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2pPr>
            <a:lvl3pPr marL="1154087" indent="-230817" defTabSz="939299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3pPr>
            <a:lvl4pPr marL="1615722" indent="-230817" defTabSz="939299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4pPr>
            <a:lvl5pPr marL="2077357" indent="-230817" defTabSz="939299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5pPr>
            <a:lvl6pPr marL="2538992" indent="-230817" defTabSz="939299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6pPr>
            <a:lvl7pPr marL="3000626" indent="-230817" defTabSz="939299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7pPr>
            <a:lvl8pPr marL="3462261" indent="-230817" defTabSz="939299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8pPr>
            <a:lvl9pPr marL="3923896" indent="-230817" defTabSz="939299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9pPr>
          </a:lstStyle>
          <a:p>
            <a:fld id="{B0666C75-7846-4C8C-B05F-FF2B1C433BE3}" type="slidenum">
              <a:rPr lang="en-US" altLang="en-US" sz="1200"/>
              <a:pPr/>
              <a:t>50</a:t>
            </a:fld>
            <a:endParaRPr lang="en-US" altLang="en-US" sz="1200"/>
          </a:p>
        </p:txBody>
      </p:sp>
      <p:sp>
        <p:nvSpPr>
          <p:cNvPr id="49155" name="Rectangle 2">
            <a:extLst>
              <a:ext uri="{FF2B5EF4-FFF2-40B4-BE49-F238E27FC236}">
                <a16:creationId xmlns:a16="http://schemas.microsoft.com/office/drawing/2014/main" id="{9CAF5A83-C0E8-4D27-B0D7-392C31305720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49156" name="Rectangle 3">
            <a:extLst>
              <a:ext uri="{FF2B5EF4-FFF2-40B4-BE49-F238E27FC236}">
                <a16:creationId xmlns:a16="http://schemas.microsoft.com/office/drawing/2014/main" id="{624F80F9-AD06-4E60-A7ED-149E7D0CD05C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942434" y="4447781"/>
            <a:ext cx="5192210" cy="4212424"/>
          </a:xfr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02" name="Rectangle 7">
            <a:extLst>
              <a:ext uri="{FF2B5EF4-FFF2-40B4-BE49-F238E27FC236}">
                <a16:creationId xmlns:a16="http://schemas.microsoft.com/office/drawing/2014/main" id="{706DAE9B-72C6-4AB5-AA81-FA49D8E229DF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39299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1pPr>
            <a:lvl2pPr marL="750157" indent="-288522" defTabSz="939299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2pPr>
            <a:lvl3pPr marL="1154087" indent="-230817" defTabSz="939299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3pPr>
            <a:lvl4pPr marL="1615722" indent="-230817" defTabSz="939299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4pPr>
            <a:lvl5pPr marL="2077357" indent="-230817" defTabSz="939299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5pPr>
            <a:lvl6pPr marL="2538992" indent="-230817" defTabSz="939299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6pPr>
            <a:lvl7pPr marL="3000626" indent="-230817" defTabSz="939299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7pPr>
            <a:lvl8pPr marL="3462261" indent="-230817" defTabSz="939299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8pPr>
            <a:lvl9pPr marL="3923896" indent="-230817" defTabSz="939299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9pPr>
          </a:lstStyle>
          <a:p>
            <a:fld id="{16CC47F2-2D23-40BE-ADC6-8BAB13C14907}" type="slidenum">
              <a:rPr lang="en-US" altLang="en-US" sz="1200"/>
              <a:pPr/>
              <a:t>51</a:t>
            </a:fld>
            <a:endParaRPr lang="en-US" altLang="en-US" sz="1200"/>
          </a:p>
        </p:txBody>
      </p:sp>
      <p:sp>
        <p:nvSpPr>
          <p:cNvPr id="51203" name="Rectangle 2">
            <a:extLst>
              <a:ext uri="{FF2B5EF4-FFF2-40B4-BE49-F238E27FC236}">
                <a16:creationId xmlns:a16="http://schemas.microsoft.com/office/drawing/2014/main" id="{7B075ECB-C588-48CB-B818-C27F2601E60A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51204" name="Rectangle 3">
            <a:extLst>
              <a:ext uri="{FF2B5EF4-FFF2-40B4-BE49-F238E27FC236}">
                <a16:creationId xmlns:a16="http://schemas.microsoft.com/office/drawing/2014/main" id="{FC78AF38-A0FE-4A09-B2EA-FB2B302F2555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942434" y="4447781"/>
            <a:ext cx="5192210" cy="4212424"/>
          </a:xfr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77D69CB-214C-F214-B37F-D8848C4DA23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17A0567-6F71-E58F-3F0C-4B881626C7F4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GB"/>
              <a:t>Click to edit Master subtitle style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EFCC162-1533-13D3-02E7-47C2EC5DE59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EFECDB1-E682-0D4E-92AE-4180E057DFE0}" type="datetimeFigureOut">
              <a:rPr lang="en-US" smtClean="0"/>
              <a:t>2/19/26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788E957-6DF5-5341-F1C8-F39521E158A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7BB6979-2710-C868-9026-8B555EAB3DF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FA4D45B-62DE-CC44-A9BF-F190102F080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7670654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1208CF0-0620-1AE8-7840-F3C35553616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D3ABA39-3F3B-20C5-70C2-6EB87C465C8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AE46D06-8015-4BB3-5E70-214D44E7E83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EFECDB1-E682-0D4E-92AE-4180E057DFE0}" type="datetimeFigureOut">
              <a:rPr lang="en-US" smtClean="0"/>
              <a:t>2/19/26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AB051A3-1B58-E73F-108C-9E143C95BCC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FBAEB46-5B11-0401-B593-C5D46B70492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FA4D45B-62DE-CC44-A9BF-F190102F080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97085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1D2E9C4-DB51-A20B-EE6C-C6F00FD95BE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81D9CF9-5148-46D1-F2C4-FAA46BE99D3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3BF458C-090C-6586-6FBE-AF7221B8543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EFECDB1-E682-0D4E-92AE-4180E057DFE0}" type="datetimeFigureOut">
              <a:rPr lang="en-US" smtClean="0"/>
              <a:t>2/19/26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E66372A-45C4-24F1-7156-9B3138FDEE5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E10456B-E529-E187-2B3A-AEB5827722D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FA4D45B-62DE-CC44-A9BF-F190102F080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6344621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023417E-2520-0A79-C0EF-A26CC0B0A5B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F0F115C-8687-34B6-B2D0-BFADBC3C7C8F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13457E2C-92FF-E184-24B2-22F7CD4F833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A8881CF-0624-9439-0B4D-28E16B9BC65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EFECDB1-E682-0D4E-92AE-4180E057DFE0}" type="datetimeFigureOut">
              <a:rPr lang="en-US" smtClean="0"/>
              <a:t>2/19/26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7BBCC38-46B2-2C21-0FBD-9802E2F93F2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4322017-EF4B-9C4A-EA14-D7730C55009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FA4D45B-62DE-CC44-A9BF-F190102F080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2769352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29DE5FA-F15E-6D31-20D5-4527B15DBA2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1002421-9C66-4FE5-4AE8-C52A70364E9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A39C37FE-5EF4-5E4C-1573-22135FF972A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6A057F2B-1AD9-3E67-7A4C-B1255F3FFC6D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1BEA90B4-A998-899D-BF78-37FB47939785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A0CAA4A8-5C0A-BA9E-CFB0-AD2C9A721E2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EFECDB1-E682-0D4E-92AE-4180E057DFE0}" type="datetimeFigureOut">
              <a:rPr lang="en-US" smtClean="0"/>
              <a:t>2/19/26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54683934-D78A-EDAB-EA11-A2311877CA9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66F99505-4C66-0934-FDC4-F1ADF5AA975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FA4D45B-62DE-CC44-A9BF-F190102F080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2792373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F7AA796-747C-CA52-4D53-CB3A22D8D77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8314A2DF-E176-34E3-D183-BAEC34BE66E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EFECDB1-E682-0D4E-92AE-4180E057DFE0}" type="datetimeFigureOut">
              <a:rPr lang="en-US" smtClean="0"/>
              <a:t>2/19/26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E42079C1-9AF3-8CD9-D1E0-23096372033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933E923D-C8E4-14BB-C9CC-C6DEF7336E1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FA4D45B-62DE-CC44-A9BF-F190102F080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6843152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CB27F89B-E96A-93BB-AB97-DB25972408E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EFECDB1-E682-0D4E-92AE-4180E057DFE0}" type="datetimeFigureOut">
              <a:rPr lang="en-US" smtClean="0"/>
              <a:t>2/19/26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39A49684-2E7B-AF65-76E5-41F23A7B8D4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6A51F34-8765-7E3B-2794-4E1232114EB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FA4D45B-62DE-CC44-A9BF-F190102F080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1949058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1AAF24B-21BA-E88E-718D-7326021F35E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CB6D756-D0CF-C94D-03A5-A84840679CB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44CDCE12-C54B-E7DE-DC0C-5335221C641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60A43F0-5BC6-7073-D755-79B1A6DEC9E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EFECDB1-E682-0D4E-92AE-4180E057DFE0}" type="datetimeFigureOut">
              <a:rPr lang="en-US" smtClean="0"/>
              <a:t>2/19/26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77CDB82-E021-0AD5-CF85-7917F61B73E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E808E68-72D6-F430-D0E4-E9EA567B85C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FA4D45B-62DE-CC44-A9BF-F190102F080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0432471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8E58FCC-95C9-0B51-B715-0BE5CAA9DD9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79F88056-69B3-D858-0AD7-36B1EFD1FB47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D7E76D16-2FF1-A4CA-2774-49CA4E92B0E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D91FD073-4362-F6F4-FC5D-5B4C064BF7E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EFECDB1-E682-0D4E-92AE-4180E057DFE0}" type="datetimeFigureOut">
              <a:rPr lang="en-US" smtClean="0"/>
              <a:t>2/19/26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880632B-8CF9-D0D5-5645-51CA49B3667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9E6324E-31F0-9D7D-E4EB-A4FACB5E022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FA4D45B-62DE-CC44-A9BF-F190102F080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0373944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D558BDD-1551-8234-5027-DD0EB35AF01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EC241EC6-DA51-AB29-7983-17875E200D8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0BBBB2F-9963-F7F7-1859-B7A10EE11E9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EFECDB1-E682-0D4E-92AE-4180E057DFE0}" type="datetimeFigureOut">
              <a:rPr lang="en-US" smtClean="0"/>
              <a:t>2/19/26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E4DF25A-CFD4-BA54-C261-1DEC16EBB7E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B0AD46F-BC3A-7DE5-B647-755764E0AFD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FA4D45B-62DE-CC44-A9BF-F190102F080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5368451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8EE45408-6037-2840-A51A-E0172D4CBB57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AB2E359A-7574-1437-E32F-8490CB55D87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6D6486E-6904-55BC-3FDE-51B2EF7E953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EFECDB1-E682-0D4E-92AE-4180E057DFE0}" type="datetimeFigureOut">
              <a:rPr lang="en-US" smtClean="0"/>
              <a:t>2/19/26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D81B47F-C2D0-1011-F1D3-F327B4C279F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4AB426E-C144-15A6-0384-370B1DA574B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FA4D45B-62DE-CC44-A9BF-F190102F080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55635800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objOverTx">
  <p:cSld name="Title and Content over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24467" y="117475"/>
            <a:ext cx="10769600" cy="609600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085851" y="1093788"/>
            <a:ext cx="10215033" cy="23749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085851" y="3621089"/>
            <a:ext cx="10215033" cy="237648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Rectangle 3">
            <a:extLst>
              <a:ext uri="{FF2B5EF4-FFF2-40B4-BE49-F238E27FC236}">
                <a16:creationId xmlns:a16="http://schemas.microsoft.com/office/drawing/2014/main" id="{04D526BE-0226-4133-88E4-C4A29BE0FD4E}"/>
              </a:ext>
            </a:extLst>
          </p:cNvPr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27154210-18DD-438C-A438-474022748B37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08669486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777D188F-4624-6473-F532-B9173719578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0CF0DA8-97B0-99F2-659A-98CB05D291D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0DBDF59-3A56-04CE-1847-EEF7F78D400D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0EFECDB1-E682-0D4E-92AE-4180E057DFE0}" type="datetimeFigureOut">
              <a:rPr lang="en-US" smtClean="0"/>
              <a:t>2/19/26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F9D97E1-CFA6-75C8-8C40-1B987A1D82F1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5100225-9E4F-C490-46D7-01DA6E291ABA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3FA4D45B-62DE-CC44-A9BF-F190102F080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2141466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hyperlink" Target="https://www.designgurus.io/course/grokking-sql-for-tech-interviews?source=post_page-----f4b791cc0125---------------------------------------" TargetMode="Externa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hyperlink" Target="https://www.geeksforgeeks.org/computer-science-fundamentals/cache-memory/" TargetMode="Externa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geeksforgeeks.org/operating-systems/magnetic-disk-memory/" TargetMode="External"/><Relationship Id="rId2" Type="http://schemas.openxmlformats.org/officeDocument/2006/relationships/hyperlink" Target="https://www.geeksforgeeks.org/computer-organization-architecture/advantages-and-disadvantages-of-flash-memory/" TargetMode="Externa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hyperlink" Target="https://www.geeksforgeeks.org/dbms/raid-redundant-arrays-of-independent-disks/" TargetMode="Externa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5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geeksforgeeks.org/computer-organization-architecture/magnetic-tape-memory/" TargetMode="External"/><Relationship Id="rId2" Type="http://schemas.openxmlformats.org/officeDocument/2006/relationships/hyperlink" Target="https://www.geeksforgeeks.org/operating-systems/tertiary-storage-in-operating-system/" TargetMode="Externa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8.sv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0.sv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2.svg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4.svg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emf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emf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8" Type="http://schemas.openxmlformats.org/officeDocument/2006/relationships/image" Target="../media/image23.svg"/><Relationship Id="rId3" Type="http://schemas.openxmlformats.org/officeDocument/2006/relationships/image" Target="../media/image18.png"/><Relationship Id="rId7" Type="http://schemas.openxmlformats.org/officeDocument/2006/relationships/image" Target="../media/image22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6.xml"/><Relationship Id="rId6" Type="http://schemas.openxmlformats.org/officeDocument/2006/relationships/image" Target="../media/image21.svg"/><Relationship Id="rId5" Type="http://schemas.openxmlformats.org/officeDocument/2006/relationships/image" Target="../media/image20.png"/><Relationship Id="rId4" Type="http://schemas.openxmlformats.org/officeDocument/2006/relationships/image" Target="../media/image19.svg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4.emf"/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emf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emf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emf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8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9.svg"/></Relationships>
</file>

<file path=ppt/slides/_rels/slide3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0.emf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2.xml"/></Relationships>
</file>

<file path=ppt/slides/_rels/slide3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1.pn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2.png"/><Relationship Id="rId2" Type="http://schemas.openxmlformats.org/officeDocument/2006/relationships/hyperlink" Target="https://en.wikipedia.org/wiki/Logarithmic_time" TargetMode="External"/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3" Type="http://schemas.openxmlformats.org/officeDocument/2006/relationships/hyperlink" Target="https://en.wikipedia.org/wiki/B%2B_tree" TargetMode="External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2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2.xml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3.emf"/><Relationship Id="rId1" Type="http://schemas.openxmlformats.org/officeDocument/2006/relationships/slideLayout" Target="../slideLayouts/slideLayout2.xml"/></Relationships>
</file>

<file path=ppt/slides/_rels/slide4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4.emf"/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2.xml"/></Relationships>
</file>

<file path=ppt/slides/_rels/slide4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4.emf"/><Relationship Id="rId1" Type="http://schemas.openxmlformats.org/officeDocument/2006/relationships/slideLayout" Target="../slideLayouts/slideLayout2.xml"/></Relationships>
</file>

<file path=ppt/slides/_rels/slide4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2.xml"/></Relationships>
</file>

<file path=ppt/slides/_rels/slide4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5.emf"/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2.xml"/></Relationships>
</file>

<file path=ppt/slides/_rels/slide4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7.png"/><Relationship Id="rId2" Type="http://schemas.openxmlformats.org/officeDocument/2006/relationships/image" Target="../media/image36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8.png"/></Relationships>
</file>

<file path=ppt/slides/_rels/slide49.xml.rels><?xml version="1.0" encoding="UTF-8" standalone="yes"?>
<Relationships xmlns="http://schemas.openxmlformats.org/package/2006/relationships"><Relationship Id="rId3" Type="http://schemas.openxmlformats.org/officeDocument/2006/relationships/image" Target="../media/image40.png"/><Relationship Id="rId2" Type="http://schemas.openxmlformats.org/officeDocument/2006/relationships/image" Target="../media/image39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41.png"/></Relationships>
</file>

<file path=ppt/slides/_rels/slide50.xml.rels><?xml version="1.0" encoding="UTF-8" standalone="yes"?>
<Relationships xmlns="http://schemas.openxmlformats.org/package/2006/relationships"><Relationship Id="rId3" Type="http://schemas.openxmlformats.org/officeDocument/2006/relationships/image" Target="../media/image42.emf"/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2.xml"/></Relationships>
</file>

<file path=ppt/slides/_rels/slide5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C62AC8C3-9696-0742-A58F-39AC0E7007C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dirty="0">
                <a:effectLst>
                  <a:outerShdw blurRad="38100" dist="38100" dir="2700000" algn="tl">
                    <a:srgbClr val="C0C0C0"/>
                  </a:outerShdw>
                </a:effectLst>
              </a:rPr>
              <a:t>Data Storage and Indexing</a:t>
            </a:r>
            <a:endParaRPr lang="en-US" dirty="0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A69A2D17-F0FE-DD89-9AAE-22B65ADC208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7337518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97E59DA-0681-E87E-CA15-9DA898C6EEC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4098" name="Picture 2">
            <a:extLst>
              <a:ext uri="{FF2B5EF4-FFF2-40B4-BE49-F238E27FC236}">
                <a16:creationId xmlns:a16="http://schemas.microsoft.com/office/drawing/2014/main" id="{57E81124-6D6F-F095-67E6-9387CA254279}"/>
              </a:ext>
            </a:extLst>
          </p:cNvPr>
          <p:cNvPicPr>
            <a:picLocks noGrp="1" noChangeAspect="1" noChangeArrowheads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419384" y="879570"/>
            <a:ext cx="7593171" cy="542369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98148697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196DC2F-EFE7-A0C9-73B2-3A9AFAB5D60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SQL Query Processing</a:t>
            </a:r>
          </a:p>
        </p:txBody>
      </p:sp>
      <p:pic>
        <p:nvPicPr>
          <p:cNvPr id="3074" name="Picture 2" descr="frame_3241">
            <a:extLst>
              <a:ext uri="{FF2B5EF4-FFF2-40B4-BE49-F238E27FC236}">
                <a16:creationId xmlns:a16="http://schemas.microsoft.com/office/drawing/2014/main" id="{4F21BB1A-B0D1-18ED-7E64-920866B52A7C}"/>
              </a:ext>
            </a:extLst>
          </p:cNvPr>
          <p:cNvPicPr>
            <a:picLocks noGrp="1" noChangeAspect="1" noChangeArrowheads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459990" y="1263745"/>
            <a:ext cx="6915658" cy="461043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414202166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5A294D4-AD65-DDEE-5A04-07B70FC883F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Steps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54C33F0-72E4-10F2-CE07-164D6A85D1B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77500" lnSpcReduction="20000"/>
          </a:bodyPr>
          <a:lstStyle/>
          <a:p>
            <a:pPr marL="0" indent="0">
              <a:buNone/>
            </a:pPr>
            <a:r>
              <a:rPr lang="en-IN" b="1" dirty="0"/>
              <a:t> The Query Arrives — Connection and Authentication</a:t>
            </a:r>
          </a:p>
          <a:p>
            <a:r>
              <a:rPr lang="en-IN" dirty="0"/>
              <a:t>As soon as the query reaches the database server (for example, SELECT name, age FROM users WHERE city = ‘New York’;), it hits the </a:t>
            </a:r>
            <a:r>
              <a:rPr lang="en-IN" b="1" dirty="0"/>
              <a:t>connection manager</a:t>
            </a:r>
            <a:r>
              <a:rPr lang="en-IN" dirty="0"/>
              <a:t> — essentially the database’s front door</a:t>
            </a:r>
          </a:p>
          <a:p>
            <a:pPr lvl="1"/>
            <a:r>
              <a:rPr lang="en-IN" dirty="0"/>
              <a:t>Authentication  </a:t>
            </a:r>
          </a:p>
          <a:p>
            <a:pPr marL="0" indent="0">
              <a:buNone/>
            </a:pPr>
            <a:r>
              <a:rPr lang="en-IN" b="1" dirty="0"/>
              <a:t>Parsing the SQL — Understanding the Request</a:t>
            </a:r>
          </a:p>
          <a:p>
            <a:r>
              <a:rPr lang="en-IN" dirty="0"/>
              <a:t> SQL query goes to the </a:t>
            </a:r>
            <a:r>
              <a:rPr lang="en-IN" b="1" dirty="0"/>
              <a:t>query parser - </a:t>
            </a:r>
            <a:r>
              <a:rPr lang="en-IN" dirty="0"/>
              <a:t> breaks the query text into parts; checks the SQL </a:t>
            </a:r>
            <a:r>
              <a:rPr lang="en-IN" b="1" dirty="0"/>
              <a:t>syntax;</a:t>
            </a:r>
            <a:r>
              <a:rPr lang="en-IN" dirty="0"/>
              <a:t> verifies that all referenced tables and columns actually exist; and there is access to them  </a:t>
            </a:r>
          </a:p>
          <a:p>
            <a:pPr marL="0" indent="0">
              <a:buNone/>
            </a:pPr>
            <a:r>
              <a:rPr lang="en-IN" b="1" dirty="0"/>
              <a:t>Optimization — Planning the Best Route</a:t>
            </a:r>
          </a:p>
          <a:p>
            <a:r>
              <a:rPr lang="en-IN" dirty="0"/>
              <a:t>Most efficient way to execute it - optimizer considers different strategies to get data and decides on the fastest one using statistics about the data </a:t>
            </a:r>
          </a:p>
          <a:p>
            <a:r>
              <a:rPr lang="en-IN" dirty="0"/>
              <a:t> </a:t>
            </a:r>
            <a:r>
              <a:rPr lang="en-IN" b="1" dirty="0"/>
              <a:t>Execution plan</a:t>
            </a:r>
            <a:r>
              <a:rPr lang="en-IN" dirty="0"/>
              <a:t> —  a blueprint of the steps the database will take to get your results</a:t>
            </a:r>
            <a:endParaRPr lang="en-IN" dirty="0">
              <a:hlinkClick r:id="rId2"/>
            </a:endParaRPr>
          </a:p>
          <a:p>
            <a:pPr marL="0" indent="0">
              <a:buNone/>
            </a:pPr>
            <a:r>
              <a:rPr lang="en-IN" b="1" dirty="0"/>
              <a:t>Execution Engine — Carrying Out the Plan</a:t>
            </a:r>
          </a:p>
        </p:txBody>
      </p:sp>
    </p:spTree>
    <p:extLst>
      <p:ext uri="{BB962C8B-B14F-4D97-AF65-F5344CB8AC3E}">
        <p14:creationId xmlns:p14="http://schemas.microsoft.com/office/powerpoint/2010/main" val="210968037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C6CC4B1-0CF1-98A6-2C95-D9BB7455D6E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Execution Engine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BC0014C-D123-E883-E5B3-F3ACAC9C747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20000"/>
          </a:bodyPr>
          <a:lstStyle/>
          <a:p>
            <a:r>
              <a:rPr lang="en-IN" dirty="0"/>
              <a:t>If the plan says “fetch all users from New York via an index,” - the </a:t>
            </a:r>
            <a:r>
              <a:rPr lang="en-IN" b="1" dirty="0"/>
              <a:t>execution engine will ask the storage engine</a:t>
            </a:r>
            <a:r>
              <a:rPr lang="en-IN" dirty="0"/>
              <a:t> to do that, then take those results and maybe filter out just the name and age fields</a:t>
            </a:r>
          </a:p>
          <a:p>
            <a:pPr marL="0" indent="0">
              <a:buNone/>
            </a:pPr>
            <a:r>
              <a:rPr lang="en-IN" b="1" dirty="0"/>
              <a:t>Storage Engine — Retrieving Data and Ensuring Integrity</a:t>
            </a:r>
          </a:p>
          <a:p>
            <a:r>
              <a:rPr lang="en-IN" dirty="0"/>
              <a:t>The </a:t>
            </a:r>
            <a:r>
              <a:rPr lang="en-IN" b="1" dirty="0"/>
              <a:t>storage engine</a:t>
            </a:r>
            <a:r>
              <a:rPr lang="en-IN" dirty="0"/>
              <a:t> is responsible for the actual data retrieval  </a:t>
            </a:r>
          </a:p>
          <a:p>
            <a:r>
              <a:rPr lang="en-IN" dirty="0"/>
              <a:t>The storage engine interacts with the disk and memory,  and also makes sure that the database’s integrity is maintained while the query runs</a:t>
            </a:r>
          </a:p>
          <a:p>
            <a:r>
              <a:rPr lang="en-IN" dirty="0"/>
              <a:t>Ensures that query runs safely by using </a:t>
            </a:r>
            <a:r>
              <a:rPr lang="en-IN" b="1" dirty="0"/>
              <a:t>transactions</a:t>
            </a:r>
            <a:r>
              <a:rPr lang="en-IN" dirty="0"/>
              <a:t> (all-or-nothing execution) and applying </a:t>
            </a:r>
            <a:r>
              <a:rPr lang="en-IN" b="1" dirty="0"/>
              <a:t>locks</a:t>
            </a:r>
            <a:r>
              <a:rPr lang="en-IN" dirty="0"/>
              <a:t> to prevent conflicts with other queries</a:t>
            </a:r>
          </a:p>
          <a:p>
            <a:r>
              <a:rPr lang="en-IN" dirty="0"/>
              <a:t>The storage engine also checks its in-memory </a:t>
            </a:r>
            <a:r>
              <a:rPr lang="en-IN" b="1" dirty="0"/>
              <a:t>cache</a:t>
            </a:r>
            <a:r>
              <a:rPr lang="en-IN" dirty="0"/>
              <a:t> for the required data (for speed) and goes to disk if needed, logging any changes along the way for recovery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37534990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5785A53-1494-9CCE-8F81-61FE0627869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4" name="Content Placeholder 3">
            <a:extLst>
              <a:ext uri="{FF2B5EF4-FFF2-40B4-BE49-F238E27FC236}">
                <a16:creationId xmlns:a16="http://schemas.microsoft.com/office/drawing/2014/main" id="{CD08B1F3-896A-0782-6A82-1FD0F1764BC9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2119186" y="2317000"/>
            <a:ext cx="7661275" cy="3369643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B9C3D0F2-919F-31C1-B716-C5D4A2B8784F}"/>
              </a:ext>
            </a:extLst>
          </p:cNvPr>
          <p:cNvSpPr txBox="1"/>
          <p:nvPr/>
        </p:nvSpPr>
        <p:spPr>
          <a:xfrm>
            <a:off x="2119185" y="1171358"/>
            <a:ext cx="7953630" cy="76751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ts val="2250"/>
              </a:lnSpc>
              <a:spcBef>
                <a:spcPts val="225"/>
              </a:spcBef>
              <a:spcAft>
                <a:spcPts val="450"/>
              </a:spcAft>
            </a:pPr>
            <a:r>
              <a:rPr lang="en-IN" dirty="0">
                <a:solidFill>
                  <a:srgbClr val="273239"/>
                </a:solidFill>
                <a:latin typeface="Nunito" pitchFamily="2" charset="77"/>
              </a:rPr>
              <a:t>The records in databases are stored in </a:t>
            </a:r>
            <a:r>
              <a:rPr lang="en-IN" b="1" dirty="0">
                <a:solidFill>
                  <a:srgbClr val="273239"/>
                </a:solidFill>
                <a:latin typeface="Nunito" pitchFamily="2" charset="77"/>
              </a:rPr>
              <a:t>file formats</a:t>
            </a:r>
            <a:endParaRPr lang="en-IN" dirty="0">
              <a:solidFill>
                <a:srgbClr val="273239"/>
              </a:solidFill>
              <a:latin typeface="Nunito" pitchFamily="2" charset="77"/>
            </a:endParaRPr>
          </a:p>
          <a:p>
            <a:pPr>
              <a:lnSpc>
                <a:spcPts val="2250"/>
              </a:lnSpc>
              <a:spcBef>
                <a:spcPts val="225"/>
              </a:spcBef>
              <a:spcAft>
                <a:spcPts val="450"/>
              </a:spcAft>
            </a:pPr>
            <a:r>
              <a:rPr lang="en-IN" dirty="0">
                <a:solidFill>
                  <a:srgbClr val="273239"/>
                </a:solidFill>
                <a:latin typeface="Nunito" pitchFamily="2" charset="77"/>
              </a:rPr>
              <a:t> Physically, the data is stored in electromagnetic format on a device </a:t>
            </a:r>
          </a:p>
        </p:txBody>
      </p:sp>
    </p:spTree>
    <p:extLst>
      <p:ext uri="{BB962C8B-B14F-4D97-AF65-F5344CB8AC3E}">
        <p14:creationId xmlns:p14="http://schemas.microsoft.com/office/powerpoint/2010/main" val="356296833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7B39D7F-5FF8-1B92-6FC6-E01B94E9955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>
                <a:effectLst/>
              </a:rPr>
              <a:t>Primary Memory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1BE3BCE-C720-90F3-D6F5-32D4986907E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009330" y="1426464"/>
            <a:ext cx="8360220" cy="4328160"/>
          </a:xfrm>
        </p:spPr>
        <p:txBody>
          <a:bodyPr/>
          <a:lstStyle/>
          <a:p>
            <a:r>
              <a:rPr lang="en-IN" sz="2000" dirty="0"/>
              <a:t>This is directly accessible by the central processing unit</a:t>
            </a:r>
          </a:p>
          <a:p>
            <a:endParaRPr lang="en-IN" sz="2000" dirty="0"/>
          </a:p>
          <a:p>
            <a:r>
              <a:rPr lang="en-IN" sz="2000" dirty="0"/>
              <a:t>According to performance and speed, the primary memory devices are </a:t>
            </a:r>
            <a:r>
              <a:rPr lang="en-IN" sz="2000" b="1" i="1" dirty="0"/>
              <a:t>the fastest devices, </a:t>
            </a:r>
            <a:r>
              <a:rPr lang="en-IN" sz="2000" dirty="0"/>
              <a:t>and this feature is in direct correlation with their capacity</a:t>
            </a:r>
          </a:p>
          <a:p>
            <a:r>
              <a:rPr lang="en-IN" sz="2000" dirty="0"/>
              <a:t>The size of these devices is considerably smaller and they are volatile. </a:t>
            </a:r>
          </a:p>
          <a:p>
            <a:r>
              <a:rPr lang="en-IN" sz="2000" dirty="0"/>
              <a:t> Usually more expensive due to their increased speed and performance.</a:t>
            </a:r>
          </a:p>
          <a:p>
            <a:r>
              <a:rPr lang="en-IN" sz="2000" b="1" dirty="0"/>
              <a:t>Cache Memory: </a:t>
            </a:r>
            <a:r>
              <a:rPr lang="en-IN" sz="2000" u="sng" dirty="0">
                <a:hlinkClick r:id="rId2"/>
              </a:rPr>
              <a:t>Cache Memory</a:t>
            </a:r>
            <a:r>
              <a:rPr lang="en-IN" sz="2000" dirty="0"/>
              <a:t> is a special very high-speed memory. It is used to speed up and synchronize with a high-speed CPU </a:t>
            </a:r>
          </a:p>
          <a:p>
            <a:pPr marL="0" indent="0">
              <a:buNone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99898124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8FED8FC-5431-9BC7-A600-B03B059E566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>
                <a:effectLst/>
              </a:rPr>
              <a:t>Secondary Memory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DEF3EB3-1156-9075-11EB-1C386699465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962912" y="1252285"/>
            <a:ext cx="8406638" cy="4903787"/>
          </a:xfrm>
        </p:spPr>
        <p:txBody>
          <a:bodyPr>
            <a:normAutofit fontScale="70000" lnSpcReduction="20000"/>
          </a:bodyPr>
          <a:lstStyle/>
          <a:p>
            <a:r>
              <a:rPr lang="en-IN" dirty="0"/>
              <a:t> Devices that can be accessed for storing data that will be needed at a later point in time for various purposes or database actions</a:t>
            </a:r>
          </a:p>
          <a:p>
            <a:r>
              <a:rPr lang="en-IN" dirty="0"/>
              <a:t>The size of this group of devices is noticeably larger than the primary devices and smaller than the tertiary devices. </a:t>
            </a:r>
          </a:p>
          <a:p>
            <a:endParaRPr lang="en-IN" b="1" dirty="0"/>
          </a:p>
          <a:p>
            <a:r>
              <a:rPr lang="en-IN" u="sng" dirty="0">
                <a:hlinkClick r:id="rId2"/>
              </a:rPr>
              <a:t>Flash memory</a:t>
            </a:r>
            <a:r>
              <a:rPr lang="en-IN" dirty="0"/>
              <a:t>, also known as flash storage, is a type of </a:t>
            </a:r>
            <a:r>
              <a:rPr lang="en-IN" dirty="0" err="1"/>
              <a:t>nonvolatile</a:t>
            </a:r>
            <a:r>
              <a:rPr lang="en-IN" dirty="0"/>
              <a:t> memory that erases data in units called blocks and rewrites data at the byte level</a:t>
            </a:r>
          </a:p>
          <a:p>
            <a:pPr marL="0" indent="0">
              <a:buNone/>
            </a:pPr>
            <a:r>
              <a:rPr lang="en-IN" dirty="0"/>
              <a:t>Flash memory is widely used for storage and data transfer in consumer devices, enterprise systems, and industrial applications</a:t>
            </a:r>
          </a:p>
          <a:p>
            <a:pPr marL="0" indent="0">
              <a:buNone/>
            </a:pPr>
            <a:r>
              <a:rPr lang="en-IN" dirty="0"/>
              <a:t>Unlike traditional hard drives, flash memories are able to retain data even after the power has been turned off</a:t>
            </a:r>
          </a:p>
          <a:p>
            <a:pPr marL="0" indent="0">
              <a:buNone/>
            </a:pPr>
            <a:endParaRPr lang="en-IN" b="1" dirty="0"/>
          </a:p>
          <a:p>
            <a:pPr marL="0" indent="0">
              <a:buNone/>
            </a:pPr>
            <a:r>
              <a:rPr lang="en-IN" b="1" dirty="0"/>
              <a:t>Magnetic Disk Storage:</a:t>
            </a:r>
            <a:r>
              <a:rPr lang="en-IN" dirty="0"/>
              <a:t> A </a:t>
            </a:r>
            <a:r>
              <a:rPr lang="en-IN" u="sng" dirty="0">
                <a:hlinkClick r:id="rId3"/>
              </a:rPr>
              <a:t>Magnetic Disk</a:t>
            </a:r>
            <a:r>
              <a:rPr lang="en-IN" dirty="0"/>
              <a:t> is a type of secondary memory that is a flat disc covered with a magnetic coating to hold information</a:t>
            </a:r>
            <a:br>
              <a:rPr lang="en-IN" dirty="0"/>
            </a:b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64233380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F191F00-B911-AC42-4A6E-D59F1FE55CB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b="0" u="sng" dirty="0">
                <a:solidFill>
                  <a:schemeClr val="tx1"/>
                </a:solidFill>
                <a:effectLst/>
                <a:latin typeface="Nunito" pitchFamily="2" charset="77"/>
                <a:hlinkClick r:id="rId2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Redundant Array of Independent Disks</a:t>
            </a:r>
            <a:r>
              <a:rPr lang="en-IN" b="0" u="sng" dirty="0">
                <a:solidFill>
                  <a:schemeClr val="tx1"/>
                </a:solidFill>
                <a:effectLst/>
                <a:latin typeface="Nunito" pitchFamily="2" charset="77"/>
              </a:rPr>
              <a:t> </a:t>
            </a:r>
            <a:endParaRPr lang="en-US" u="sng" dirty="0">
              <a:solidFill>
                <a:schemeClr val="tx1"/>
              </a:solidFill>
            </a:endParaRPr>
          </a:p>
        </p:txBody>
      </p:sp>
      <p:pic>
        <p:nvPicPr>
          <p:cNvPr id="1026" name="Picture 2" descr="Raid-0">
            <a:extLst>
              <a:ext uri="{FF2B5EF4-FFF2-40B4-BE49-F238E27FC236}">
                <a16:creationId xmlns:a16="http://schemas.microsoft.com/office/drawing/2014/main" id="{807A3DF3-6686-DDFA-DFCD-8BFAC5EC9C3B}"/>
              </a:ext>
            </a:extLst>
          </p:cNvPr>
          <p:cNvPicPr>
            <a:picLocks noGrp="1" noChangeAspect="1" noChangeArrowheads="1"/>
          </p:cNvPicPr>
          <p:nvPr>
            <p:ph idx="1"/>
          </p:nvPr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29329"/>
          <a:stretch>
            <a:fillRect/>
          </a:stretch>
        </p:blipFill>
        <p:spPr bwMode="auto">
          <a:xfrm>
            <a:off x="2394931" y="2335060"/>
            <a:ext cx="6558927" cy="151387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0F666F57-6A12-00CE-F3DD-0666309E9A0F}"/>
              </a:ext>
            </a:extLst>
          </p:cNvPr>
          <p:cNvSpPr txBox="1"/>
          <p:nvPr/>
        </p:nvSpPr>
        <p:spPr>
          <a:xfrm>
            <a:off x="1576243" y="1238680"/>
            <a:ext cx="7377615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 fontAlgn="base">
              <a:spcAft>
                <a:spcPts val="750"/>
              </a:spcAft>
            </a:pPr>
            <a:r>
              <a:rPr lang="en-IN" dirty="0">
                <a:solidFill>
                  <a:srgbClr val="273239"/>
                </a:solidFill>
                <a:latin typeface="Nunito" pitchFamily="2" charset="77"/>
              </a:rPr>
              <a:t>In</a:t>
            </a:r>
            <a:r>
              <a:rPr lang="en-IN" u="sng" dirty="0">
                <a:solidFill>
                  <a:srgbClr val="357960"/>
                </a:solidFill>
                <a:latin typeface="Nunito" pitchFamily="2" charset="77"/>
                <a:hlinkClick r:id="rId2"/>
              </a:rPr>
              <a:t> the Redundant Array of Independent Disks</a:t>
            </a:r>
            <a:r>
              <a:rPr lang="en-IN" dirty="0">
                <a:solidFill>
                  <a:srgbClr val="273239"/>
                </a:solidFill>
                <a:latin typeface="Nunito" pitchFamily="2" charset="77"/>
              </a:rPr>
              <a:t> technology, two or more secondary storage devices are connected so that the devices operate as one </a:t>
            </a:r>
            <a:r>
              <a:rPr lang="en-IN" dirty="0" err="1">
                <a:solidFill>
                  <a:srgbClr val="273239"/>
                </a:solidFill>
                <a:latin typeface="Nunito" pitchFamily="2" charset="77"/>
              </a:rPr>
              <a:t>st</a:t>
            </a:r>
            <a:r>
              <a:rPr lang="en-IN" dirty="0">
                <a:solidFill>
                  <a:srgbClr val="273239"/>
                </a:solidFill>
                <a:latin typeface="Nunito" pitchFamily="2" charset="77"/>
              </a:rPr>
              <a:t> </a:t>
            </a:r>
          </a:p>
        </p:txBody>
      </p:sp>
      <p:pic>
        <p:nvPicPr>
          <p:cNvPr id="1028" name="Picture 4" descr="Raid-3">
            <a:extLst>
              <a:ext uri="{FF2B5EF4-FFF2-40B4-BE49-F238E27FC236}">
                <a16:creationId xmlns:a16="http://schemas.microsoft.com/office/drawing/2014/main" id="{24137E39-28C9-1D08-1DEA-04A5398B7B88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8604" b="31463"/>
          <a:stretch>
            <a:fillRect/>
          </a:stretch>
        </p:blipFill>
        <p:spPr bwMode="auto">
          <a:xfrm>
            <a:off x="1765715" y="3868178"/>
            <a:ext cx="8183118" cy="233273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494074056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B67FF58-B951-1817-38E9-850F60F90A4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>
                <a:effectLst/>
              </a:rPr>
              <a:t>Tertiary Memory 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19D0E2D-5937-A781-9A3A-FB50E528897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338389" y="1511809"/>
            <a:ext cx="7661275" cy="4485767"/>
          </a:xfrm>
        </p:spPr>
        <p:txBody>
          <a:bodyPr/>
          <a:lstStyle/>
          <a:p>
            <a:r>
              <a:rPr lang="en-IN" sz="2000" u="sng" dirty="0">
                <a:hlinkClick r:id="rId2"/>
              </a:rPr>
              <a:t>Tertiary Memory</a:t>
            </a:r>
            <a:r>
              <a:rPr lang="en-IN" sz="2000" dirty="0"/>
              <a:t> refers to devices that can hold a large amount of data without being constantly connected to the server or the peripherals</a:t>
            </a:r>
          </a:p>
          <a:p>
            <a:r>
              <a:rPr lang="en-IN" sz="2000" dirty="0"/>
              <a:t> The cost of tertiary storage is lower than primary and secondary</a:t>
            </a:r>
          </a:p>
          <a:p>
            <a:r>
              <a:rPr lang="en-IN" sz="2000" dirty="0"/>
              <a:t>Means to make a backup of data, this type of storage is commonly used for making copies from servers and databases</a:t>
            </a:r>
          </a:p>
          <a:p>
            <a:pPr marL="0" indent="0">
              <a:buNone/>
            </a:pPr>
            <a:endParaRPr lang="en-IN" sz="2000" dirty="0"/>
          </a:p>
          <a:p>
            <a:r>
              <a:rPr lang="en-IN" sz="2000" b="1" dirty="0"/>
              <a:t>Optical Storage: </a:t>
            </a:r>
            <a:r>
              <a:rPr lang="en-IN" sz="2000" dirty="0"/>
              <a:t>It is a type of storage where reading and writing are to be performed with the help of a laser</a:t>
            </a:r>
            <a:r>
              <a:rPr lang="en-IN" sz="2000" u="sng" dirty="0"/>
              <a:t> </a:t>
            </a:r>
            <a:endParaRPr lang="en-IN" sz="2000" dirty="0"/>
          </a:p>
          <a:p>
            <a:endParaRPr lang="en-IN" sz="2000" dirty="0"/>
          </a:p>
          <a:p>
            <a:r>
              <a:rPr lang="en-IN" sz="2000" b="1" dirty="0"/>
              <a:t>Tape Storage: </a:t>
            </a:r>
            <a:r>
              <a:rPr lang="en-IN" sz="2000" u="sng" dirty="0">
                <a:hlinkClick r:id="rId3"/>
              </a:rPr>
              <a:t>Tape Storage</a:t>
            </a:r>
            <a:r>
              <a:rPr lang="en-IN" sz="2000" dirty="0"/>
              <a:t> is a type of storage data where we use magnetic tape to store data 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802887123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75563CD-026D-4D6D-6F7E-49865C235C0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2050" name="Picture 2" descr="Storage Hierarchy">
            <a:extLst>
              <a:ext uri="{FF2B5EF4-FFF2-40B4-BE49-F238E27FC236}">
                <a16:creationId xmlns:a16="http://schemas.microsoft.com/office/drawing/2014/main" id="{840EB32B-4F6A-4173-2D25-77C2BB509CE6}"/>
              </a:ext>
            </a:extLst>
          </p:cNvPr>
          <p:cNvPicPr>
            <a:picLocks noGrp="1" noChangeAspect="1" noChangeArrowheads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862329" y="1385157"/>
            <a:ext cx="8077199" cy="440604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057844013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5C74C12-9DBC-B75D-D2E2-EAF933043C0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Accessing Data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9B0BFD0-63D4-96E3-185D-AE27248C351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292351" y="1511809"/>
            <a:ext cx="7661275" cy="4095623"/>
          </a:xfrm>
        </p:spPr>
        <p:txBody>
          <a:bodyPr>
            <a:normAutofit fontScale="92500" lnSpcReduction="10000"/>
          </a:bodyPr>
          <a:lstStyle/>
          <a:p>
            <a:r>
              <a:rPr lang="en-IN" b="1" dirty="0"/>
              <a:t>Access Types:</a:t>
            </a:r>
            <a:r>
              <a:rPr lang="en-IN" dirty="0"/>
              <a:t> This refers to the </a:t>
            </a:r>
            <a:r>
              <a:rPr lang="en-IN" b="1" dirty="0"/>
              <a:t>type of access</a:t>
            </a:r>
            <a:r>
              <a:rPr lang="en-IN" dirty="0"/>
              <a:t>, such as value-based search, range access, etc.</a:t>
            </a:r>
          </a:p>
          <a:p>
            <a:r>
              <a:rPr lang="en-IN" b="1" dirty="0"/>
              <a:t>Access Time:</a:t>
            </a:r>
            <a:r>
              <a:rPr lang="en-IN" dirty="0"/>
              <a:t> It refers to the </a:t>
            </a:r>
            <a:r>
              <a:rPr lang="en-IN" b="1" dirty="0"/>
              <a:t>time</a:t>
            </a:r>
            <a:r>
              <a:rPr lang="en-IN" dirty="0"/>
              <a:t> needed to find a particular data element or set of elements.</a:t>
            </a:r>
          </a:p>
          <a:p>
            <a:r>
              <a:rPr lang="en-IN" b="1" dirty="0"/>
              <a:t>Insertion Time:</a:t>
            </a:r>
            <a:r>
              <a:rPr lang="en-IN" dirty="0"/>
              <a:t> It refers to the time taken to </a:t>
            </a:r>
            <a:r>
              <a:rPr lang="en-IN" b="1" dirty="0"/>
              <a:t>find the appropriate space and insert new data.</a:t>
            </a:r>
          </a:p>
          <a:p>
            <a:r>
              <a:rPr lang="en-IN" b="1" dirty="0"/>
              <a:t>Deletion Time:</a:t>
            </a:r>
            <a:r>
              <a:rPr lang="en-IN" dirty="0"/>
              <a:t> Time taken to </a:t>
            </a:r>
            <a:r>
              <a:rPr lang="en-IN" b="1" dirty="0"/>
              <a:t>find an item an</a:t>
            </a:r>
            <a:r>
              <a:rPr lang="en-IN" dirty="0"/>
              <a:t>d delete it as well as update the index structure.</a:t>
            </a:r>
          </a:p>
          <a:p>
            <a:r>
              <a:rPr lang="en-IN" b="1" dirty="0"/>
              <a:t>Space Overhead:</a:t>
            </a:r>
            <a:r>
              <a:rPr lang="en-IN" dirty="0"/>
              <a:t> It refers to the additional </a:t>
            </a:r>
            <a:r>
              <a:rPr lang="en-IN" b="1" dirty="0"/>
              <a:t>space</a:t>
            </a:r>
            <a:r>
              <a:rPr lang="en-IN" dirty="0"/>
              <a:t> required by the index.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14477026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9682" name="Rectangle 2">
            <a:extLst>
              <a:ext uri="{FF2B5EF4-FFF2-40B4-BE49-F238E27FC236}">
                <a16:creationId xmlns:a16="http://schemas.microsoft.com/office/drawing/2014/main" id="{A40D8FBD-C4B3-47AD-8320-48C6E70CFBAB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>
              <a:defRPr/>
            </a:pPr>
            <a:r>
              <a:rPr lang="en-US" altLang="en-US">
                <a:effectLst>
                  <a:outerShdw blurRad="38100" dist="38100" dir="2700000" algn="tl">
                    <a:srgbClr val="C0C0C0"/>
                  </a:outerShdw>
                </a:effectLst>
              </a:rPr>
              <a:t>File Organization</a:t>
            </a:r>
          </a:p>
        </p:txBody>
      </p:sp>
      <p:sp>
        <p:nvSpPr>
          <p:cNvPr id="77827" name="Rectangle 3">
            <a:extLst>
              <a:ext uri="{FF2B5EF4-FFF2-40B4-BE49-F238E27FC236}">
                <a16:creationId xmlns:a16="http://schemas.microsoft.com/office/drawing/2014/main" id="{B3A0C481-BBD2-48D5-9CB8-C59C3FA7C9A9}"/>
              </a:ext>
            </a:extLst>
          </p:cNvPr>
          <p:cNvSpPr>
            <a:spLocks noGrp="1" noChangeArrowheads="1"/>
          </p:cNvSpPr>
          <p:nvPr>
            <p:ph idx="1"/>
          </p:nvPr>
        </p:nvSpPr>
        <p:spPr>
          <a:xfrm>
            <a:off x="2072895" y="1422973"/>
            <a:ext cx="7707313" cy="4903787"/>
          </a:xfrm>
        </p:spPr>
        <p:txBody>
          <a:bodyPr/>
          <a:lstStyle/>
          <a:p>
            <a:r>
              <a:rPr lang="en-US" altLang="en-US" sz="2400" dirty="0"/>
              <a:t>The database is stored as a collection of </a:t>
            </a:r>
            <a:r>
              <a:rPr lang="en-US" altLang="en-US" sz="2400" i="1" dirty="0"/>
              <a:t>files</a:t>
            </a:r>
            <a:r>
              <a:rPr lang="en-US" altLang="en-US" sz="2400" dirty="0"/>
              <a:t>.  Each file is a sequence of </a:t>
            </a:r>
            <a:r>
              <a:rPr lang="en-US" altLang="en-US" sz="2400" i="1" dirty="0"/>
              <a:t>records.  </a:t>
            </a:r>
            <a:r>
              <a:rPr lang="en-US" altLang="en-US" sz="2400" dirty="0"/>
              <a:t>A record is a sequence of fields.</a:t>
            </a:r>
          </a:p>
          <a:p>
            <a:r>
              <a:rPr lang="en-US" altLang="en-US" sz="2400" dirty="0"/>
              <a:t>One approach</a:t>
            </a:r>
          </a:p>
          <a:p>
            <a:pPr lvl="1"/>
            <a:r>
              <a:rPr lang="en-US" altLang="en-US" dirty="0"/>
              <a:t>Assume record size is fixed</a:t>
            </a:r>
          </a:p>
          <a:p>
            <a:pPr lvl="1"/>
            <a:r>
              <a:rPr lang="en-US" altLang="en-US" dirty="0"/>
              <a:t>Each file has records of one particular type only</a:t>
            </a:r>
          </a:p>
          <a:p>
            <a:pPr lvl="1"/>
            <a:r>
              <a:rPr lang="en-US" altLang="en-US" dirty="0"/>
              <a:t>Different files are used for different relations</a:t>
            </a:r>
          </a:p>
          <a:p>
            <a:pPr marL="457200" lvl="1" indent="0">
              <a:buNone/>
            </a:pPr>
            <a:r>
              <a:rPr lang="en-US" altLang="en-US" b="1" i="1" dirty="0"/>
              <a:t>This case is easiest to implement</a:t>
            </a:r>
          </a:p>
          <a:p>
            <a:pPr marL="7938" indent="-7938"/>
            <a:r>
              <a:rPr lang="en-US" altLang="en-US" sz="2400" dirty="0"/>
              <a:t> We assume that records are smaller than a disk block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0706" name="Rectangle 2">
            <a:extLst>
              <a:ext uri="{FF2B5EF4-FFF2-40B4-BE49-F238E27FC236}">
                <a16:creationId xmlns:a16="http://schemas.microsoft.com/office/drawing/2014/main" id="{43367653-EE3B-4308-B688-073192C53A40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115186" y="0"/>
            <a:ext cx="10515600" cy="1325563"/>
          </a:xfrm>
        </p:spPr>
        <p:txBody>
          <a:bodyPr/>
          <a:lstStyle/>
          <a:p>
            <a:pPr>
              <a:defRPr/>
            </a:pPr>
            <a:r>
              <a:rPr lang="en-US" altLang="en-US" dirty="0">
                <a:effectLst>
                  <a:outerShdw blurRad="38100" dist="38100" dir="2700000" algn="tl">
                    <a:srgbClr val="C0C0C0"/>
                  </a:outerShdw>
                </a:effectLst>
              </a:rPr>
              <a:t>Fixed-Length Records</a:t>
            </a:r>
          </a:p>
        </p:txBody>
      </p:sp>
      <p:sp>
        <p:nvSpPr>
          <p:cNvPr id="79875" name="Rectangle 3">
            <a:extLst>
              <a:ext uri="{FF2B5EF4-FFF2-40B4-BE49-F238E27FC236}">
                <a16:creationId xmlns:a16="http://schemas.microsoft.com/office/drawing/2014/main" id="{4AE7AAC6-B0E2-411A-A36F-61F8050E8E71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2036318" y="1041659"/>
            <a:ext cx="7513883" cy="1913067"/>
          </a:xfrm>
        </p:spPr>
        <p:txBody>
          <a:bodyPr>
            <a:normAutofit fontScale="92500" lnSpcReduction="10000"/>
          </a:bodyPr>
          <a:lstStyle/>
          <a:p>
            <a:r>
              <a:rPr lang="en-US" altLang="en-US" dirty="0"/>
              <a:t>Simple approach:</a:t>
            </a:r>
          </a:p>
          <a:p>
            <a:pPr lvl="1"/>
            <a:r>
              <a:rPr lang="en-US" altLang="en-US" dirty="0"/>
              <a:t>Store record </a:t>
            </a:r>
            <a:r>
              <a:rPr lang="en-US" altLang="en-US" i="1" dirty="0" err="1"/>
              <a:t>i</a:t>
            </a:r>
            <a:r>
              <a:rPr lang="en-US" altLang="en-US" dirty="0"/>
              <a:t> starting from byte </a:t>
            </a:r>
            <a:r>
              <a:rPr lang="en-US" altLang="en-US" i="1" dirty="0">
                <a:sym typeface="Greek Symbols" pitchFamily="18" charset="2"/>
              </a:rPr>
              <a:t>n </a:t>
            </a:r>
            <a:r>
              <a:rPr lang="en-US" altLang="en-US" i="1" dirty="0">
                <a:sym typeface="Symbol" panose="05050102010706020507" pitchFamily="18" charset="2"/>
              </a:rPr>
              <a:t> (</a:t>
            </a:r>
            <a:r>
              <a:rPr lang="en-US" altLang="en-US" i="1" dirty="0" err="1">
                <a:sym typeface="Symbol" panose="05050102010706020507" pitchFamily="18" charset="2"/>
              </a:rPr>
              <a:t>i</a:t>
            </a:r>
            <a:r>
              <a:rPr lang="en-US" altLang="en-US" i="1" dirty="0">
                <a:sym typeface="Symbol" panose="05050102010706020507" pitchFamily="18" charset="2"/>
              </a:rPr>
              <a:t> – </a:t>
            </a:r>
            <a:r>
              <a:rPr lang="en-US" altLang="en-US" dirty="0">
                <a:sym typeface="Symbol" panose="05050102010706020507" pitchFamily="18" charset="2"/>
              </a:rPr>
              <a:t>1), where </a:t>
            </a:r>
            <a:r>
              <a:rPr lang="en-US" altLang="en-US" i="1" dirty="0">
                <a:sym typeface="Symbol" panose="05050102010706020507" pitchFamily="18" charset="2"/>
              </a:rPr>
              <a:t>n </a:t>
            </a:r>
            <a:r>
              <a:rPr lang="en-US" altLang="en-US" dirty="0">
                <a:sym typeface="Symbol" panose="05050102010706020507" pitchFamily="18" charset="2"/>
              </a:rPr>
              <a:t>is the size of each record.</a:t>
            </a:r>
          </a:p>
          <a:p>
            <a:pPr lvl="1"/>
            <a:r>
              <a:rPr lang="en-US" altLang="en-US" dirty="0">
                <a:sym typeface="Symbol" panose="05050102010706020507" pitchFamily="18" charset="2"/>
              </a:rPr>
              <a:t>Record access is simple but records may cross blocks</a:t>
            </a:r>
          </a:p>
          <a:p>
            <a:pPr lvl="2"/>
            <a:r>
              <a:rPr lang="en-US" altLang="en-US" b="1" dirty="0">
                <a:sym typeface="Symbol" panose="05050102010706020507" pitchFamily="18" charset="2"/>
              </a:rPr>
              <a:t>Modification: do not allow records to cross block boundaries</a:t>
            </a:r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9F4CCBFC-2976-4FF3-B9E2-11AE645EEE6D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 bwMode="auto">
          <a:xfrm>
            <a:off x="2804990" y="2954726"/>
            <a:ext cx="6229283" cy="330894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285682496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0706" name="Rectangle 2">
            <a:extLst>
              <a:ext uri="{FF2B5EF4-FFF2-40B4-BE49-F238E27FC236}">
                <a16:creationId xmlns:a16="http://schemas.microsoft.com/office/drawing/2014/main" id="{43367653-EE3B-4308-B688-073192C53A40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0" y="-169353"/>
            <a:ext cx="10515600" cy="1325563"/>
          </a:xfrm>
        </p:spPr>
        <p:txBody>
          <a:bodyPr/>
          <a:lstStyle/>
          <a:p>
            <a:pPr>
              <a:defRPr/>
            </a:pPr>
            <a:r>
              <a:rPr lang="en-US" altLang="en-US" dirty="0">
                <a:effectLst>
                  <a:outerShdw blurRad="38100" dist="38100" dir="2700000" algn="tl">
                    <a:srgbClr val="C0C0C0"/>
                  </a:outerShdw>
                </a:effectLst>
              </a:rPr>
              <a:t>Fixed-Length Records</a:t>
            </a:r>
          </a:p>
        </p:txBody>
      </p:sp>
      <p:sp>
        <p:nvSpPr>
          <p:cNvPr id="79875" name="Rectangle 3">
            <a:extLst>
              <a:ext uri="{FF2B5EF4-FFF2-40B4-BE49-F238E27FC236}">
                <a16:creationId xmlns:a16="http://schemas.microsoft.com/office/drawing/2014/main" id="{4AE7AAC6-B0E2-411A-A36F-61F8050E8E71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2292350" y="846224"/>
            <a:ext cx="7513883" cy="5181220"/>
          </a:xfrm>
        </p:spPr>
        <p:txBody>
          <a:bodyPr/>
          <a:lstStyle/>
          <a:p>
            <a:r>
              <a:rPr lang="en-US" altLang="en-US" dirty="0"/>
              <a:t>Deletion of record </a:t>
            </a:r>
            <a:r>
              <a:rPr lang="en-US" altLang="en-US" i="1" dirty="0"/>
              <a:t>i:  </a:t>
            </a:r>
            <a:r>
              <a:rPr lang="en-US" altLang="en-US" dirty="0"/>
              <a:t>alternatives</a:t>
            </a:r>
            <a:r>
              <a:rPr lang="en-US" altLang="en-US" i="1" dirty="0"/>
              <a:t>:</a:t>
            </a:r>
          </a:p>
          <a:p>
            <a:pPr lvl="1"/>
            <a:r>
              <a:rPr lang="en-US" altLang="en-US" b="1" dirty="0"/>
              <a:t>move records </a:t>
            </a:r>
            <a:r>
              <a:rPr lang="en-US" altLang="en-US" b="1" i="1" dirty="0" err="1"/>
              <a:t>i</a:t>
            </a:r>
            <a:r>
              <a:rPr lang="en-US" altLang="en-US" b="1" dirty="0"/>
              <a:t> + 1, . . ., </a:t>
            </a:r>
            <a:r>
              <a:rPr lang="en-US" altLang="en-US" b="1" i="1" dirty="0"/>
              <a:t>n</a:t>
            </a:r>
            <a:r>
              <a:rPr lang="en-US" altLang="en-US" b="1" dirty="0"/>
              <a:t>  to </a:t>
            </a:r>
            <a:r>
              <a:rPr lang="en-US" altLang="en-US" b="1" i="1" dirty="0" err="1"/>
              <a:t>i</a:t>
            </a:r>
            <a:r>
              <a:rPr lang="en-US" altLang="en-US" b="1" i="1" dirty="0"/>
              <a:t>, . . . , n </a:t>
            </a:r>
            <a:r>
              <a:rPr lang="en-US" altLang="en-US" b="1" i="1" dirty="0">
                <a:sym typeface="Symbol" panose="05050102010706020507" pitchFamily="18" charset="2"/>
              </a:rPr>
              <a:t>– </a:t>
            </a:r>
            <a:r>
              <a:rPr lang="en-US" altLang="en-US" b="1" dirty="0">
                <a:sym typeface="Symbol" panose="05050102010706020507" pitchFamily="18" charset="2"/>
              </a:rPr>
              <a:t>1</a:t>
            </a:r>
          </a:p>
          <a:p>
            <a:pPr lvl="1"/>
            <a:r>
              <a:rPr lang="en-US" altLang="en-US" dirty="0">
                <a:sym typeface="Symbol" panose="05050102010706020507" pitchFamily="18" charset="2"/>
              </a:rPr>
              <a:t>move record </a:t>
            </a:r>
            <a:r>
              <a:rPr lang="en-US" altLang="en-US" i="1" dirty="0">
                <a:sym typeface="Symbol" panose="05050102010706020507" pitchFamily="18" charset="2"/>
              </a:rPr>
              <a:t>n </a:t>
            </a:r>
            <a:r>
              <a:rPr lang="en-US" altLang="en-US" dirty="0">
                <a:sym typeface="Symbol" panose="05050102010706020507" pitchFamily="18" charset="2"/>
              </a:rPr>
              <a:t> to </a:t>
            </a:r>
            <a:r>
              <a:rPr lang="en-US" altLang="en-US" i="1" dirty="0" err="1">
                <a:sym typeface="Symbol" panose="05050102010706020507" pitchFamily="18" charset="2"/>
              </a:rPr>
              <a:t>i</a:t>
            </a:r>
            <a:endParaRPr lang="en-US" altLang="en-US" dirty="0">
              <a:sym typeface="Symbol" panose="05050102010706020507" pitchFamily="18" charset="2"/>
            </a:endParaRPr>
          </a:p>
          <a:p>
            <a:pPr lvl="1"/>
            <a:r>
              <a:rPr lang="en-US" altLang="en-US" b="1" dirty="0">
                <a:sym typeface="Symbol" panose="05050102010706020507" pitchFamily="18" charset="2"/>
              </a:rPr>
              <a:t>do not move records, but link all free records on a </a:t>
            </a:r>
            <a:r>
              <a:rPr lang="en-US" altLang="en-US" b="1" i="1" dirty="0">
                <a:sym typeface="Symbol" panose="05050102010706020507" pitchFamily="18" charset="2"/>
              </a:rPr>
              <a:t>free list</a:t>
            </a:r>
          </a:p>
          <a:p>
            <a:pPr marL="457200" lvl="1" indent="0">
              <a:buNone/>
            </a:pPr>
            <a:r>
              <a:rPr lang="en-US" altLang="en-US" b="1" dirty="0">
                <a:sym typeface="Symbol" panose="05050102010706020507" pitchFamily="18" charset="2"/>
              </a:rPr>
              <a:t>Record 3 deleted</a:t>
            </a:r>
          </a:p>
        </p:txBody>
      </p:sp>
      <p:pic>
        <p:nvPicPr>
          <p:cNvPr id="6" name="Graphic 5">
            <a:extLst>
              <a:ext uri="{FF2B5EF4-FFF2-40B4-BE49-F238E27FC236}">
                <a16:creationId xmlns:a16="http://schemas.microsoft.com/office/drawing/2014/main" id="{F5576AFE-02C2-4348-8F1E-7F5213955C35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5525679" y="2887451"/>
            <a:ext cx="6070473" cy="3546992"/>
          </a:xfrm>
          <a:prstGeom prst="rect">
            <a:avLst/>
          </a:prstGeom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0706" name="Rectangle 2">
            <a:extLst>
              <a:ext uri="{FF2B5EF4-FFF2-40B4-BE49-F238E27FC236}">
                <a16:creationId xmlns:a16="http://schemas.microsoft.com/office/drawing/2014/main" id="{43367653-EE3B-4308-B688-073192C53A40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0" y="-108046"/>
            <a:ext cx="10515600" cy="1325563"/>
          </a:xfrm>
        </p:spPr>
        <p:txBody>
          <a:bodyPr/>
          <a:lstStyle/>
          <a:p>
            <a:pPr>
              <a:defRPr/>
            </a:pPr>
            <a:r>
              <a:rPr lang="en-US" altLang="en-US" dirty="0">
                <a:effectLst>
                  <a:outerShdw blurRad="38100" dist="38100" dir="2700000" algn="tl">
                    <a:srgbClr val="C0C0C0"/>
                  </a:outerShdw>
                </a:effectLst>
              </a:rPr>
              <a:t>Fixed-Length Records</a:t>
            </a:r>
          </a:p>
        </p:txBody>
      </p:sp>
      <p:sp>
        <p:nvSpPr>
          <p:cNvPr id="79875" name="Rectangle 3">
            <a:extLst>
              <a:ext uri="{FF2B5EF4-FFF2-40B4-BE49-F238E27FC236}">
                <a16:creationId xmlns:a16="http://schemas.microsoft.com/office/drawing/2014/main" id="{4AE7AAC6-B0E2-411A-A36F-61F8050E8E71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2292350" y="990600"/>
            <a:ext cx="7985506" cy="5312664"/>
          </a:xfrm>
        </p:spPr>
        <p:txBody>
          <a:bodyPr/>
          <a:lstStyle/>
          <a:p>
            <a:r>
              <a:rPr lang="en-US" altLang="en-US" dirty="0"/>
              <a:t>Deletion of record </a:t>
            </a:r>
            <a:r>
              <a:rPr lang="en-US" altLang="en-US" i="1" dirty="0"/>
              <a:t>i:  </a:t>
            </a:r>
            <a:r>
              <a:rPr lang="en-US" altLang="en-US" dirty="0"/>
              <a:t>alternatives</a:t>
            </a:r>
            <a:r>
              <a:rPr lang="en-US" altLang="en-US" i="1" dirty="0"/>
              <a:t>:</a:t>
            </a:r>
          </a:p>
          <a:p>
            <a:pPr lvl="1"/>
            <a:r>
              <a:rPr lang="en-US" altLang="en-US" dirty="0"/>
              <a:t>move records </a:t>
            </a:r>
            <a:r>
              <a:rPr lang="en-US" altLang="en-US" i="1" dirty="0" err="1"/>
              <a:t>i</a:t>
            </a:r>
            <a:r>
              <a:rPr lang="en-US" altLang="en-US" dirty="0"/>
              <a:t> + 1, . . ., </a:t>
            </a:r>
            <a:r>
              <a:rPr lang="en-US" altLang="en-US" i="1" dirty="0"/>
              <a:t>n</a:t>
            </a:r>
            <a:r>
              <a:rPr lang="en-US" altLang="en-US" dirty="0"/>
              <a:t>  to </a:t>
            </a:r>
            <a:r>
              <a:rPr lang="en-US" altLang="en-US" i="1" dirty="0" err="1"/>
              <a:t>i</a:t>
            </a:r>
            <a:r>
              <a:rPr lang="en-US" altLang="en-US" i="1" dirty="0"/>
              <a:t>, . . . , n </a:t>
            </a:r>
            <a:r>
              <a:rPr lang="en-US" altLang="en-US" i="1" dirty="0">
                <a:sym typeface="Symbol" panose="05050102010706020507" pitchFamily="18" charset="2"/>
              </a:rPr>
              <a:t>– </a:t>
            </a:r>
            <a:r>
              <a:rPr lang="en-US" altLang="en-US" dirty="0">
                <a:sym typeface="Symbol" panose="05050102010706020507" pitchFamily="18" charset="2"/>
              </a:rPr>
              <a:t>1</a:t>
            </a:r>
          </a:p>
          <a:p>
            <a:pPr lvl="1"/>
            <a:r>
              <a:rPr lang="en-US" altLang="en-US" b="1" dirty="0">
                <a:sym typeface="Symbol" panose="05050102010706020507" pitchFamily="18" charset="2"/>
              </a:rPr>
              <a:t>move record </a:t>
            </a:r>
            <a:r>
              <a:rPr lang="en-US" altLang="en-US" b="1" i="1" dirty="0">
                <a:sym typeface="Symbol" panose="05050102010706020507" pitchFamily="18" charset="2"/>
              </a:rPr>
              <a:t>n </a:t>
            </a:r>
            <a:r>
              <a:rPr lang="en-US" altLang="en-US" b="1" dirty="0">
                <a:sym typeface="Symbol" panose="05050102010706020507" pitchFamily="18" charset="2"/>
              </a:rPr>
              <a:t> to </a:t>
            </a:r>
            <a:r>
              <a:rPr lang="en-US" altLang="en-US" b="1" i="1" dirty="0" err="1">
                <a:sym typeface="Symbol" panose="05050102010706020507" pitchFamily="18" charset="2"/>
              </a:rPr>
              <a:t>i</a:t>
            </a:r>
            <a:endParaRPr lang="en-US" altLang="en-US" b="1" dirty="0">
              <a:sym typeface="Symbol" panose="05050102010706020507" pitchFamily="18" charset="2"/>
            </a:endParaRPr>
          </a:p>
          <a:p>
            <a:pPr lvl="1"/>
            <a:r>
              <a:rPr lang="en-US" altLang="en-US" dirty="0">
                <a:sym typeface="Symbol" panose="05050102010706020507" pitchFamily="18" charset="2"/>
              </a:rPr>
              <a:t>do not move records, but link all free records on a </a:t>
            </a:r>
            <a:r>
              <a:rPr lang="en-US" altLang="en-US" i="1" dirty="0">
                <a:sym typeface="Symbol" panose="05050102010706020507" pitchFamily="18" charset="2"/>
              </a:rPr>
              <a:t>free list</a:t>
            </a:r>
          </a:p>
          <a:p>
            <a:pPr marL="457200" lvl="1" indent="0">
              <a:buNone/>
            </a:pPr>
            <a:r>
              <a:rPr lang="en-US" altLang="en-US" b="1" dirty="0">
                <a:sym typeface="Symbol" panose="05050102010706020507" pitchFamily="18" charset="2"/>
              </a:rPr>
              <a:t>Record 3 deleted and replaced by record 11</a:t>
            </a:r>
          </a:p>
          <a:p>
            <a:pPr marL="457200" lvl="1" indent="0">
              <a:buNone/>
            </a:pPr>
            <a:endParaRPr lang="en-US" altLang="en-US" b="1" dirty="0">
              <a:sym typeface="Symbol" panose="05050102010706020507" pitchFamily="18" charset="2"/>
            </a:endParaRPr>
          </a:p>
        </p:txBody>
      </p:sp>
      <p:pic>
        <p:nvPicPr>
          <p:cNvPr id="5" name="Graphic 4">
            <a:extLst>
              <a:ext uri="{FF2B5EF4-FFF2-40B4-BE49-F238E27FC236}">
                <a16:creationId xmlns:a16="http://schemas.microsoft.com/office/drawing/2014/main" id="{57778C1E-DCEA-447C-99A5-A41591D38C83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5305844" y="3531300"/>
            <a:ext cx="5152188" cy="299413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43755185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0706" name="Rectangle 2">
            <a:extLst>
              <a:ext uri="{FF2B5EF4-FFF2-40B4-BE49-F238E27FC236}">
                <a16:creationId xmlns:a16="http://schemas.microsoft.com/office/drawing/2014/main" id="{43367653-EE3B-4308-B688-073192C53A40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178981" y="-54400"/>
            <a:ext cx="10515600" cy="1325563"/>
          </a:xfrm>
        </p:spPr>
        <p:txBody>
          <a:bodyPr/>
          <a:lstStyle/>
          <a:p>
            <a:pPr>
              <a:defRPr/>
            </a:pPr>
            <a:r>
              <a:rPr lang="en-US" altLang="en-US" dirty="0">
                <a:effectLst>
                  <a:outerShdw blurRad="38100" dist="38100" dir="2700000" algn="tl">
                    <a:srgbClr val="C0C0C0"/>
                  </a:outerShdw>
                </a:effectLst>
              </a:rPr>
              <a:t>Fixed-Length Records</a:t>
            </a:r>
          </a:p>
        </p:txBody>
      </p:sp>
      <p:sp>
        <p:nvSpPr>
          <p:cNvPr id="79875" name="Rectangle 3">
            <a:extLst>
              <a:ext uri="{FF2B5EF4-FFF2-40B4-BE49-F238E27FC236}">
                <a16:creationId xmlns:a16="http://schemas.microsoft.com/office/drawing/2014/main" id="{4AE7AAC6-B0E2-411A-A36F-61F8050E8E71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2292350" y="1150644"/>
            <a:ext cx="7513883" cy="4876800"/>
          </a:xfrm>
        </p:spPr>
        <p:txBody>
          <a:bodyPr/>
          <a:lstStyle/>
          <a:p>
            <a:r>
              <a:rPr lang="en-US" altLang="en-US" dirty="0"/>
              <a:t>Deletion of record </a:t>
            </a:r>
            <a:r>
              <a:rPr lang="en-US" altLang="en-US" i="1" dirty="0"/>
              <a:t>i:  </a:t>
            </a:r>
            <a:r>
              <a:rPr lang="en-US" altLang="en-US" dirty="0"/>
              <a:t>alternatives</a:t>
            </a:r>
            <a:r>
              <a:rPr lang="en-US" altLang="en-US" i="1" dirty="0"/>
              <a:t>:</a:t>
            </a:r>
          </a:p>
          <a:p>
            <a:pPr lvl="1"/>
            <a:r>
              <a:rPr lang="en-US" altLang="en-US" dirty="0"/>
              <a:t>move records </a:t>
            </a:r>
            <a:r>
              <a:rPr lang="en-US" altLang="en-US" i="1" dirty="0" err="1"/>
              <a:t>i</a:t>
            </a:r>
            <a:r>
              <a:rPr lang="en-US" altLang="en-US" dirty="0"/>
              <a:t> + 1, . . ., </a:t>
            </a:r>
            <a:r>
              <a:rPr lang="en-US" altLang="en-US" i="1" dirty="0"/>
              <a:t>n</a:t>
            </a:r>
            <a:r>
              <a:rPr lang="en-US" altLang="en-US" dirty="0"/>
              <a:t>  to </a:t>
            </a:r>
            <a:r>
              <a:rPr lang="en-US" altLang="en-US" i="1" dirty="0" err="1"/>
              <a:t>i</a:t>
            </a:r>
            <a:r>
              <a:rPr lang="en-US" altLang="en-US" i="1" dirty="0"/>
              <a:t>, . . . , n </a:t>
            </a:r>
            <a:r>
              <a:rPr lang="en-US" altLang="en-US" i="1" dirty="0">
                <a:sym typeface="Symbol" panose="05050102010706020507" pitchFamily="18" charset="2"/>
              </a:rPr>
              <a:t>– </a:t>
            </a:r>
            <a:r>
              <a:rPr lang="en-US" altLang="en-US" dirty="0">
                <a:sym typeface="Symbol" panose="05050102010706020507" pitchFamily="18" charset="2"/>
              </a:rPr>
              <a:t>1</a:t>
            </a:r>
          </a:p>
          <a:p>
            <a:pPr lvl="1"/>
            <a:r>
              <a:rPr lang="en-US" altLang="en-US" dirty="0">
                <a:sym typeface="Symbol" panose="05050102010706020507" pitchFamily="18" charset="2"/>
              </a:rPr>
              <a:t>move record </a:t>
            </a:r>
            <a:r>
              <a:rPr lang="en-US" altLang="en-US" i="1" dirty="0">
                <a:sym typeface="Symbol" panose="05050102010706020507" pitchFamily="18" charset="2"/>
              </a:rPr>
              <a:t>n </a:t>
            </a:r>
            <a:r>
              <a:rPr lang="en-US" altLang="en-US" dirty="0">
                <a:sym typeface="Symbol" panose="05050102010706020507" pitchFamily="18" charset="2"/>
              </a:rPr>
              <a:t> to </a:t>
            </a:r>
            <a:r>
              <a:rPr lang="en-US" altLang="en-US" i="1" dirty="0" err="1">
                <a:sym typeface="Symbol" panose="05050102010706020507" pitchFamily="18" charset="2"/>
              </a:rPr>
              <a:t>i</a:t>
            </a:r>
            <a:endParaRPr lang="en-US" altLang="en-US" dirty="0">
              <a:sym typeface="Symbol" panose="05050102010706020507" pitchFamily="18" charset="2"/>
            </a:endParaRPr>
          </a:p>
          <a:p>
            <a:pPr lvl="1"/>
            <a:r>
              <a:rPr lang="en-US" altLang="en-US" b="1" dirty="0">
                <a:sym typeface="Symbol" panose="05050102010706020507" pitchFamily="18" charset="2"/>
              </a:rPr>
              <a:t>do not move records, but link all free records on a </a:t>
            </a:r>
            <a:r>
              <a:rPr lang="en-US" altLang="en-US" b="1" i="1" dirty="0">
                <a:sym typeface="Symbol" panose="05050102010706020507" pitchFamily="18" charset="2"/>
              </a:rPr>
              <a:t>free list</a:t>
            </a:r>
            <a:endParaRPr lang="en-US" altLang="en-US" b="1" dirty="0">
              <a:sym typeface="Symbol" panose="05050102010706020507" pitchFamily="18" charset="2"/>
            </a:endParaRPr>
          </a:p>
        </p:txBody>
      </p:sp>
      <p:pic>
        <p:nvPicPr>
          <p:cNvPr id="6" name="Graphic 5">
            <a:extLst>
              <a:ext uri="{FF2B5EF4-FFF2-40B4-BE49-F238E27FC236}">
                <a16:creationId xmlns:a16="http://schemas.microsoft.com/office/drawing/2014/main" id="{BD4EC9B3-0153-42F4-B4AB-9D1A903324FD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5230775" y="3174445"/>
            <a:ext cx="5259366" cy="330513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11644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4018" name="Rectangle 2">
            <a:extLst>
              <a:ext uri="{FF2B5EF4-FFF2-40B4-BE49-F238E27FC236}">
                <a16:creationId xmlns:a16="http://schemas.microsoft.com/office/drawing/2014/main" id="{CD661752-6D5D-4C06-8C65-4072717CE78B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>
              <a:defRPr/>
            </a:pPr>
            <a:r>
              <a:rPr lang="en-US" altLang="en-US">
                <a:effectLst>
                  <a:outerShdw blurRad="38100" dist="38100" dir="2700000" algn="tl">
                    <a:srgbClr val="C0C0C0"/>
                  </a:outerShdw>
                </a:effectLst>
              </a:rPr>
              <a:t>Organization of Records in Files</a:t>
            </a:r>
          </a:p>
        </p:txBody>
      </p:sp>
      <p:sp>
        <p:nvSpPr>
          <p:cNvPr id="92163" name="Rectangle 3">
            <a:extLst>
              <a:ext uri="{FF2B5EF4-FFF2-40B4-BE49-F238E27FC236}">
                <a16:creationId xmlns:a16="http://schemas.microsoft.com/office/drawing/2014/main" id="{4808D252-6480-4FF6-B632-437EDA2418DF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1945019" y="1690688"/>
            <a:ext cx="8077200" cy="4867635"/>
          </a:xfrm>
        </p:spPr>
        <p:txBody>
          <a:bodyPr>
            <a:normAutofit fontScale="85000" lnSpcReduction="20000"/>
          </a:bodyPr>
          <a:lstStyle/>
          <a:p>
            <a:r>
              <a:rPr lang="en-US" altLang="en-US" b="1" dirty="0">
                <a:solidFill>
                  <a:srgbClr val="002060"/>
                </a:solidFill>
              </a:rPr>
              <a:t>Heap</a:t>
            </a:r>
            <a:r>
              <a:rPr lang="en-US" altLang="en-US" b="1" dirty="0"/>
              <a:t> </a:t>
            </a:r>
            <a:r>
              <a:rPr lang="en-US" altLang="en-US" dirty="0"/>
              <a:t>– record can be placed anywhere in the file where there is space</a:t>
            </a:r>
          </a:p>
          <a:p>
            <a:r>
              <a:rPr lang="en-US" altLang="en-US" b="1" dirty="0">
                <a:solidFill>
                  <a:srgbClr val="002060"/>
                </a:solidFill>
              </a:rPr>
              <a:t>Sequential</a:t>
            </a:r>
            <a:r>
              <a:rPr lang="en-US" altLang="en-US" b="1" dirty="0">
                <a:solidFill>
                  <a:schemeClr val="tx2"/>
                </a:solidFill>
              </a:rPr>
              <a:t> </a:t>
            </a:r>
            <a:r>
              <a:rPr lang="en-US" altLang="en-US" dirty="0"/>
              <a:t>– store records in sequential order, based on the value of the search key of each record</a:t>
            </a:r>
          </a:p>
          <a:p>
            <a:r>
              <a:rPr lang="en-US" altLang="en-US" dirty="0"/>
              <a:t>In a  </a:t>
            </a:r>
            <a:r>
              <a:rPr lang="en-US" altLang="en-US" b="1" dirty="0" err="1">
                <a:solidFill>
                  <a:srgbClr val="002060"/>
                </a:solidFill>
              </a:rPr>
              <a:t>multitable</a:t>
            </a:r>
            <a:r>
              <a:rPr lang="en-US" altLang="en-US" b="1" dirty="0">
                <a:solidFill>
                  <a:srgbClr val="002060"/>
                </a:solidFill>
              </a:rPr>
              <a:t> clustering file organization </a:t>
            </a:r>
            <a:r>
              <a:rPr lang="en-US" altLang="en-US" dirty="0">
                <a:solidFill>
                  <a:srgbClr val="002060"/>
                </a:solidFill>
              </a:rPr>
              <a:t> </a:t>
            </a:r>
            <a:r>
              <a:rPr lang="en-US" altLang="en-US" dirty="0"/>
              <a:t>records of several different relations can be stored in the same file</a:t>
            </a:r>
          </a:p>
          <a:p>
            <a:pPr lvl="1"/>
            <a:r>
              <a:rPr lang="en-US" altLang="en-US" dirty="0"/>
              <a:t>Motivation: store related records on the same block to minimize I/O</a:t>
            </a:r>
          </a:p>
          <a:p>
            <a:r>
              <a:rPr lang="en-US" altLang="en-US" b="1" dirty="0">
                <a:solidFill>
                  <a:srgbClr val="002060"/>
                </a:solidFill>
              </a:rPr>
              <a:t>B</a:t>
            </a:r>
            <a:r>
              <a:rPr lang="en-US" altLang="en-US" b="1" baseline="30000" dirty="0">
                <a:solidFill>
                  <a:srgbClr val="002060"/>
                </a:solidFill>
              </a:rPr>
              <a:t>+</a:t>
            </a:r>
            <a:r>
              <a:rPr lang="en-US" altLang="en-US" b="1" dirty="0">
                <a:solidFill>
                  <a:srgbClr val="002060"/>
                </a:solidFill>
              </a:rPr>
              <a:t>-tree file organization</a:t>
            </a:r>
          </a:p>
          <a:p>
            <a:pPr lvl="1"/>
            <a:r>
              <a:rPr lang="en-US" altLang="en-US" dirty="0">
                <a:solidFill>
                  <a:schemeClr val="accent4">
                    <a:lumMod val="95000"/>
                    <a:lumOff val="5000"/>
                  </a:schemeClr>
                </a:solidFill>
              </a:rPr>
              <a:t>Ordered storage even with inserts/deletes</a:t>
            </a:r>
          </a:p>
          <a:p>
            <a:pPr lvl="1"/>
            <a:r>
              <a:rPr lang="en-US" altLang="en-US" dirty="0">
                <a:solidFill>
                  <a:schemeClr val="accent4">
                    <a:lumMod val="95000"/>
                    <a:lumOff val="5000"/>
                  </a:schemeClr>
                </a:solidFill>
              </a:rPr>
              <a:t>More on this in Chapter 14</a:t>
            </a:r>
          </a:p>
          <a:p>
            <a:r>
              <a:rPr lang="en-US" altLang="en-US" b="1" dirty="0">
                <a:solidFill>
                  <a:srgbClr val="002060"/>
                </a:solidFill>
              </a:rPr>
              <a:t>Hashing</a:t>
            </a:r>
            <a:r>
              <a:rPr lang="en-US" altLang="en-US" dirty="0"/>
              <a:t> – a hash function computed on search key; the result specifies in which block of the file the record should be placed</a:t>
            </a:r>
          </a:p>
          <a:p>
            <a:pPr lvl="1"/>
            <a:r>
              <a:rPr lang="en-US" altLang="en-US" dirty="0"/>
              <a:t>More on this in Chapter 14</a:t>
            </a:r>
          </a:p>
          <a:p>
            <a:endParaRPr lang="en-US" altLang="en-US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531C99F-2FB0-4CCB-90E4-2C4846F4162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68349" y="0"/>
            <a:ext cx="10515600" cy="1325563"/>
          </a:xfrm>
        </p:spPr>
        <p:txBody>
          <a:bodyPr/>
          <a:lstStyle/>
          <a:p>
            <a:r>
              <a:rPr lang="en-IN" dirty="0"/>
              <a:t>Heap File Organization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073BD8A-474A-4BC0-8DF8-2859E40A243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370141" y="1141557"/>
            <a:ext cx="9451717" cy="5344303"/>
          </a:xfrm>
        </p:spPr>
        <p:txBody>
          <a:bodyPr>
            <a:noAutofit/>
          </a:bodyPr>
          <a:lstStyle/>
          <a:p>
            <a:r>
              <a:rPr lang="en-IN" sz="2000" dirty="0"/>
              <a:t>Records can be placed anywhere in the file where there is free space</a:t>
            </a:r>
          </a:p>
          <a:p>
            <a:r>
              <a:rPr lang="en-IN" sz="2000" dirty="0"/>
              <a:t>Records usually do not move once allocated</a:t>
            </a:r>
          </a:p>
          <a:p>
            <a:r>
              <a:rPr lang="en-IN" sz="2000" dirty="0"/>
              <a:t>Important to be able to efficiently find free space within file</a:t>
            </a:r>
          </a:p>
          <a:p>
            <a:r>
              <a:rPr lang="en-IN" sz="2000" b="1" dirty="0"/>
              <a:t>Free-space map</a:t>
            </a:r>
          </a:p>
          <a:p>
            <a:pPr lvl="1"/>
            <a:r>
              <a:rPr lang="en-IN" sz="2000" dirty="0"/>
              <a:t>Array with 1 entry per block.  Each entry is a few bits to a byte, and records fraction of block that is free</a:t>
            </a:r>
          </a:p>
          <a:p>
            <a:pPr lvl="1"/>
            <a:r>
              <a:rPr lang="en-IN" sz="2000" dirty="0"/>
              <a:t>In example below, 3 bits per block, value divided by 8 indicates fraction of block that is free</a:t>
            </a:r>
            <a:br>
              <a:rPr lang="en-IN" sz="2000" dirty="0"/>
            </a:br>
            <a:br>
              <a:rPr lang="en-IN" sz="2000" dirty="0"/>
            </a:br>
            <a:endParaRPr lang="en-IN" sz="2000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F9AD693F-0ACF-4245-8328-5BDC50A20A3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704442" y="4292683"/>
            <a:ext cx="4251489" cy="45993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39051124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6066" name="Rectangle 2">
            <a:extLst>
              <a:ext uri="{FF2B5EF4-FFF2-40B4-BE49-F238E27FC236}">
                <a16:creationId xmlns:a16="http://schemas.microsoft.com/office/drawing/2014/main" id="{8961343C-9DCE-41B6-83FD-AF636EC64C8F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178981" y="-166503"/>
            <a:ext cx="10515600" cy="1325563"/>
          </a:xfrm>
        </p:spPr>
        <p:txBody>
          <a:bodyPr/>
          <a:lstStyle/>
          <a:p>
            <a:pPr>
              <a:defRPr/>
            </a:pPr>
            <a:r>
              <a:rPr lang="en-US" altLang="en-US" dirty="0">
                <a:effectLst>
                  <a:outerShdw blurRad="38100" dist="38100" dir="2700000" algn="tl">
                    <a:srgbClr val="C0C0C0"/>
                  </a:outerShdw>
                </a:effectLst>
              </a:rPr>
              <a:t>Sequential File Organization</a:t>
            </a:r>
          </a:p>
        </p:txBody>
      </p:sp>
      <p:sp>
        <p:nvSpPr>
          <p:cNvPr id="94211" name="Rectangle 3">
            <a:extLst>
              <a:ext uri="{FF2B5EF4-FFF2-40B4-BE49-F238E27FC236}">
                <a16:creationId xmlns:a16="http://schemas.microsoft.com/office/drawing/2014/main" id="{5D31A57C-3D93-4733-8DEA-422D3C6A5A99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1314826" y="1159060"/>
            <a:ext cx="9498485" cy="1333500"/>
          </a:xfrm>
        </p:spPr>
        <p:txBody>
          <a:bodyPr>
            <a:normAutofit lnSpcReduction="10000"/>
          </a:bodyPr>
          <a:lstStyle/>
          <a:p>
            <a:r>
              <a:rPr lang="en-US" altLang="en-US" dirty="0"/>
              <a:t>Suitable for applications that require sequential processing of the entire file </a:t>
            </a:r>
          </a:p>
          <a:p>
            <a:r>
              <a:rPr lang="en-US" altLang="en-US" dirty="0"/>
              <a:t>The records in the file are ordered by a </a:t>
            </a:r>
            <a:r>
              <a:rPr lang="en-US" altLang="en-US" dirty="0">
                <a:solidFill>
                  <a:srgbClr val="002060"/>
                </a:solidFill>
              </a:rPr>
              <a:t>search-key</a:t>
            </a:r>
          </a:p>
        </p:txBody>
      </p:sp>
      <p:pic>
        <p:nvPicPr>
          <p:cNvPr id="94212" name="Picture 11">
            <a:extLst>
              <a:ext uri="{FF2B5EF4-FFF2-40B4-BE49-F238E27FC236}">
                <a16:creationId xmlns:a16="http://schemas.microsoft.com/office/drawing/2014/main" id="{9759213F-D318-4553-BE18-85B78FE780A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831790" y="2561091"/>
            <a:ext cx="6040282" cy="401989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042" name="Rectangle 2">
            <a:extLst>
              <a:ext uri="{FF2B5EF4-FFF2-40B4-BE49-F238E27FC236}">
                <a16:creationId xmlns:a16="http://schemas.microsoft.com/office/drawing/2014/main" id="{C3C53EFA-B3D6-4C50-B2C6-C8B05B887C3D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222250" y="0"/>
            <a:ext cx="10515600" cy="1325563"/>
          </a:xfrm>
        </p:spPr>
        <p:txBody>
          <a:bodyPr/>
          <a:lstStyle/>
          <a:p>
            <a:pPr>
              <a:defRPr/>
            </a:pPr>
            <a:r>
              <a:rPr lang="en-US" altLang="en-US" dirty="0">
                <a:effectLst>
                  <a:outerShdw blurRad="38100" dist="38100" dir="2700000" algn="tl">
                    <a:srgbClr val="C0C0C0"/>
                  </a:outerShdw>
                </a:effectLst>
              </a:rPr>
              <a:t>Sequential File Organization (Cont.)</a:t>
            </a:r>
          </a:p>
        </p:txBody>
      </p:sp>
      <p:sp>
        <p:nvSpPr>
          <p:cNvPr id="96259" name="Rectangle 3">
            <a:extLst>
              <a:ext uri="{FF2B5EF4-FFF2-40B4-BE49-F238E27FC236}">
                <a16:creationId xmlns:a16="http://schemas.microsoft.com/office/drawing/2014/main" id="{93F2AC50-E56B-4614-A322-7C69BACB2739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441767" y="1101099"/>
            <a:ext cx="6235480" cy="3976687"/>
          </a:xfrm>
        </p:spPr>
        <p:txBody>
          <a:bodyPr>
            <a:normAutofit fontScale="92500" lnSpcReduction="10000"/>
          </a:bodyPr>
          <a:lstStyle/>
          <a:p>
            <a:r>
              <a:rPr lang="en-US" altLang="en-US" dirty="0"/>
              <a:t>Deletion – use pointer chains</a:t>
            </a:r>
          </a:p>
          <a:p>
            <a:r>
              <a:rPr lang="en-US" altLang="en-US" dirty="0"/>
              <a:t>Insertion –locate the position where the record is to be inserted</a:t>
            </a:r>
          </a:p>
          <a:p>
            <a:pPr lvl="1"/>
            <a:r>
              <a:rPr lang="en-US" altLang="en-US" dirty="0"/>
              <a:t>if there is free space insert there </a:t>
            </a:r>
          </a:p>
          <a:p>
            <a:pPr lvl="1"/>
            <a:r>
              <a:rPr lang="en-US" altLang="en-US" dirty="0"/>
              <a:t>if no free space, insert the record in an </a:t>
            </a:r>
            <a:r>
              <a:rPr lang="en-US" altLang="en-US" dirty="0">
                <a:solidFill>
                  <a:srgbClr val="002060"/>
                </a:solidFill>
              </a:rPr>
              <a:t>overflow block</a:t>
            </a:r>
          </a:p>
          <a:p>
            <a:pPr lvl="1"/>
            <a:r>
              <a:rPr lang="en-US" altLang="en-US" dirty="0"/>
              <a:t>In either case, pointer chain must be updated</a:t>
            </a:r>
          </a:p>
          <a:p>
            <a:r>
              <a:rPr lang="en-US" altLang="en-US" dirty="0"/>
              <a:t>Need to reorganize the file</a:t>
            </a:r>
            <a:br>
              <a:rPr lang="en-US" altLang="en-US" dirty="0"/>
            </a:br>
            <a:r>
              <a:rPr lang="en-US" altLang="en-US" dirty="0"/>
              <a:t> from time to time to restore</a:t>
            </a:r>
            <a:br>
              <a:rPr lang="en-US" altLang="en-US" dirty="0"/>
            </a:br>
            <a:r>
              <a:rPr lang="en-US" altLang="en-US" dirty="0"/>
              <a:t> sequential order</a:t>
            </a:r>
          </a:p>
        </p:txBody>
      </p:sp>
      <p:pic>
        <p:nvPicPr>
          <p:cNvPr id="96260" name="Picture 11">
            <a:extLst>
              <a:ext uri="{FF2B5EF4-FFF2-40B4-BE49-F238E27FC236}">
                <a16:creationId xmlns:a16="http://schemas.microsoft.com/office/drawing/2014/main" id="{A47C8099-0E08-48EA-9787-BD27C85E7CF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041708" y="3251274"/>
            <a:ext cx="4708525" cy="34559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7474" name="Rectangle 2">
            <a:extLst>
              <a:ext uri="{FF2B5EF4-FFF2-40B4-BE49-F238E27FC236}">
                <a16:creationId xmlns:a16="http://schemas.microsoft.com/office/drawing/2014/main" id="{1E0CDBBC-71C6-47C5-B89E-1BDF28D18652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147083" y="-117475"/>
            <a:ext cx="10515600" cy="1325563"/>
          </a:xfrm>
        </p:spPr>
        <p:txBody>
          <a:bodyPr/>
          <a:lstStyle/>
          <a:p>
            <a:pPr>
              <a:defRPr/>
            </a:pPr>
            <a:r>
              <a:rPr lang="en-US" altLang="en-US" dirty="0">
                <a:effectLst>
                  <a:outerShdw blurRad="38100" dist="38100" dir="2700000" algn="tl">
                    <a:srgbClr val="C0C0C0"/>
                  </a:outerShdw>
                </a:effectLst>
              </a:rPr>
              <a:t>Multitable Clustering File Organization</a:t>
            </a:r>
          </a:p>
        </p:txBody>
      </p:sp>
      <p:sp>
        <p:nvSpPr>
          <p:cNvPr id="98307" name="Rectangle 3">
            <a:extLst>
              <a:ext uri="{FF2B5EF4-FFF2-40B4-BE49-F238E27FC236}">
                <a16:creationId xmlns:a16="http://schemas.microsoft.com/office/drawing/2014/main" id="{C767BF78-D2D9-436C-985A-ECF7147D743E}"/>
              </a:ext>
            </a:extLst>
          </p:cNvPr>
          <p:cNvSpPr>
            <a:spLocks noChangeArrowheads="1"/>
          </p:cNvSpPr>
          <p:nvPr/>
        </p:nvSpPr>
        <p:spPr bwMode="auto">
          <a:xfrm>
            <a:off x="2392364" y="1016000"/>
            <a:ext cx="6784975" cy="6413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35000"/>
              </a:spcBef>
              <a:buClr>
                <a:schemeClr val="tx2"/>
              </a:buClr>
              <a:buSzPct val="90000"/>
              <a:buFont typeface="Monotype Sorts" pitchFamily="-65" charset="2"/>
              <a:buChar char="n"/>
              <a:defRPr kumimoji="1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35000"/>
              </a:spcBef>
              <a:buClr>
                <a:schemeClr val="folHlink"/>
              </a:buClr>
              <a:buSzPct val="80000"/>
              <a:buFont typeface="Monotype Sorts" pitchFamily="-65" charset="2"/>
              <a:buChar char="l"/>
              <a:defRPr kumimoji="1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35000"/>
              </a:spcBef>
              <a:buClr>
                <a:srgbClr val="33CC33"/>
              </a:buClr>
              <a:buSzPct val="75000"/>
              <a:buFont typeface="Webdings" panose="05030102010509060703" pitchFamily="18" charset="2"/>
              <a:buChar char="4"/>
              <a:defRPr kumimoji="1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35000"/>
              </a:spcBef>
              <a:buClr>
                <a:schemeClr val="hlink"/>
              </a:buClr>
              <a:buFont typeface="Times New Roman" panose="02020603050405020304" pitchFamily="18" charset="0"/>
              <a:buChar char="–"/>
              <a:defRPr kumimoji="1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35000"/>
              </a:spcBef>
              <a:buClr>
                <a:schemeClr val="tx2"/>
              </a:buClr>
              <a:buSzPct val="75000"/>
              <a:buChar char="»"/>
              <a:defRPr kumimoji="1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35000"/>
              </a:spcBef>
              <a:spcAft>
                <a:spcPct val="0"/>
              </a:spcAft>
              <a:buClr>
                <a:schemeClr val="tx2"/>
              </a:buClr>
              <a:buSzPct val="75000"/>
              <a:buChar char="»"/>
              <a:defRPr kumimoji="1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35000"/>
              </a:spcBef>
              <a:spcAft>
                <a:spcPct val="0"/>
              </a:spcAft>
              <a:buClr>
                <a:schemeClr val="tx2"/>
              </a:buClr>
              <a:buSzPct val="75000"/>
              <a:buChar char="»"/>
              <a:defRPr kumimoji="1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35000"/>
              </a:spcBef>
              <a:spcAft>
                <a:spcPct val="0"/>
              </a:spcAft>
              <a:buClr>
                <a:schemeClr val="tx2"/>
              </a:buClr>
              <a:buSzPct val="75000"/>
              <a:buChar char="»"/>
              <a:defRPr kumimoji="1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35000"/>
              </a:spcBef>
              <a:spcAft>
                <a:spcPct val="0"/>
              </a:spcAft>
              <a:buClr>
                <a:schemeClr val="tx2"/>
              </a:buClr>
              <a:buSzPct val="75000"/>
              <a:buChar char="»"/>
              <a:defRPr kumimoji="1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dirty="0"/>
              <a:t>Store several relations in one file using a </a:t>
            </a:r>
            <a:r>
              <a:rPr lang="en-US" altLang="en-US" b="1" dirty="0" err="1">
                <a:solidFill>
                  <a:srgbClr val="002060"/>
                </a:solidFill>
              </a:rPr>
              <a:t>multitable</a:t>
            </a:r>
            <a:r>
              <a:rPr lang="en-US" altLang="en-US" b="1" dirty="0">
                <a:solidFill>
                  <a:srgbClr val="002060"/>
                </a:solidFill>
              </a:rPr>
              <a:t> clustering </a:t>
            </a:r>
            <a:r>
              <a:rPr lang="en-US" altLang="en-US" dirty="0"/>
              <a:t>file organization</a:t>
            </a:r>
          </a:p>
        </p:txBody>
      </p:sp>
      <p:sp>
        <p:nvSpPr>
          <p:cNvPr id="98311" name="Text Box 7">
            <a:extLst>
              <a:ext uri="{FF2B5EF4-FFF2-40B4-BE49-F238E27FC236}">
                <a16:creationId xmlns:a16="http://schemas.microsoft.com/office/drawing/2014/main" id="{A8C408CC-5E78-4F76-950F-93004534DCC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727325" y="1895476"/>
            <a:ext cx="1339850" cy="366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35000"/>
              </a:spcBef>
              <a:buClr>
                <a:schemeClr val="tx2"/>
              </a:buClr>
              <a:buSzPct val="90000"/>
              <a:buFont typeface="Monotype Sorts" pitchFamily="-65" charset="2"/>
              <a:buChar char="n"/>
              <a:defRPr kumimoji="1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35000"/>
              </a:spcBef>
              <a:buClr>
                <a:schemeClr val="folHlink"/>
              </a:buClr>
              <a:buSzPct val="80000"/>
              <a:buFont typeface="Monotype Sorts" pitchFamily="-65" charset="2"/>
              <a:buChar char="l"/>
              <a:defRPr kumimoji="1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35000"/>
              </a:spcBef>
              <a:buClr>
                <a:srgbClr val="33CC33"/>
              </a:buClr>
              <a:buSzPct val="75000"/>
              <a:buFont typeface="Webdings" panose="05030102010509060703" pitchFamily="18" charset="2"/>
              <a:buChar char="4"/>
              <a:defRPr kumimoji="1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35000"/>
              </a:spcBef>
              <a:buClr>
                <a:schemeClr val="hlink"/>
              </a:buClr>
              <a:buFont typeface="Times New Roman" panose="02020603050405020304" pitchFamily="18" charset="0"/>
              <a:buChar char="–"/>
              <a:defRPr kumimoji="1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35000"/>
              </a:spcBef>
              <a:buClr>
                <a:schemeClr val="tx2"/>
              </a:buClr>
              <a:buSzPct val="75000"/>
              <a:buChar char="»"/>
              <a:defRPr kumimoji="1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35000"/>
              </a:spcBef>
              <a:spcAft>
                <a:spcPct val="0"/>
              </a:spcAft>
              <a:buClr>
                <a:schemeClr val="tx2"/>
              </a:buClr>
              <a:buSzPct val="75000"/>
              <a:buChar char="»"/>
              <a:defRPr kumimoji="1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35000"/>
              </a:spcBef>
              <a:spcAft>
                <a:spcPct val="0"/>
              </a:spcAft>
              <a:buClr>
                <a:schemeClr val="tx2"/>
              </a:buClr>
              <a:buSzPct val="75000"/>
              <a:buChar char="»"/>
              <a:defRPr kumimoji="1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35000"/>
              </a:spcBef>
              <a:spcAft>
                <a:spcPct val="0"/>
              </a:spcAft>
              <a:buClr>
                <a:schemeClr val="tx2"/>
              </a:buClr>
              <a:buSzPct val="75000"/>
              <a:buChar char="»"/>
              <a:defRPr kumimoji="1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35000"/>
              </a:spcBef>
              <a:spcAft>
                <a:spcPct val="0"/>
              </a:spcAft>
              <a:buClr>
                <a:schemeClr val="tx2"/>
              </a:buClr>
              <a:buSzPct val="75000"/>
              <a:buChar char="»"/>
              <a:defRPr kumimoji="1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kumimoji="0" lang="en-US" altLang="en-US" i="1" dirty="0"/>
              <a:t>department</a:t>
            </a:r>
          </a:p>
        </p:txBody>
      </p:sp>
      <p:sp>
        <p:nvSpPr>
          <p:cNvPr id="98312" name="Text Box 8">
            <a:extLst>
              <a:ext uri="{FF2B5EF4-FFF2-40B4-BE49-F238E27FC236}">
                <a16:creationId xmlns:a16="http://schemas.microsoft.com/office/drawing/2014/main" id="{997D0B1D-B44C-4ECF-9498-1849597FB48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787650" y="3238501"/>
            <a:ext cx="1123950" cy="366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35000"/>
              </a:spcBef>
              <a:buClr>
                <a:schemeClr val="tx2"/>
              </a:buClr>
              <a:buSzPct val="90000"/>
              <a:buFont typeface="Monotype Sorts" pitchFamily="-65" charset="2"/>
              <a:buChar char="n"/>
              <a:defRPr kumimoji="1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35000"/>
              </a:spcBef>
              <a:buClr>
                <a:schemeClr val="folHlink"/>
              </a:buClr>
              <a:buSzPct val="80000"/>
              <a:buFont typeface="Monotype Sorts" pitchFamily="-65" charset="2"/>
              <a:buChar char="l"/>
              <a:defRPr kumimoji="1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35000"/>
              </a:spcBef>
              <a:buClr>
                <a:srgbClr val="33CC33"/>
              </a:buClr>
              <a:buSzPct val="75000"/>
              <a:buFont typeface="Webdings" panose="05030102010509060703" pitchFamily="18" charset="2"/>
              <a:buChar char="4"/>
              <a:defRPr kumimoji="1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35000"/>
              </a:spcBef>
              <a:buClr>
                <a:schemeClr val="hlink"/>
              </a:buClr>
              <a:buFont typeface="Times New Roman" panose="02020603050405020304" pitchFamily="18" charset="0"/>
              <a:buChar char="–"/>
              <a:defRPr kumimoji="1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35000"/>
              </a:spcBef>
              <a:buClr>
                <a:schemeClr val="tx2"/>
              </a:buClr>
              <a:buSzPct val="75000"/>
              <a:buChar char="»"/>
              <a:defRPr kumimoji="1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35000"/>
              </a:spcBef>
              <a:spcAft>
                <a:spcPct val="0"/>
              </a:spcAft>
              <a:buClr>
                <a:schemeClr val="tx2"/>
              </a:buClr>
              <a:buSzPct val="75000"/>
              <a:buChar char="»"/>
              <a:defRPr kumimoji="1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35000"/>
              </a:spcBef>
              <a:spcAft>
                <a:spcPct val="0"/>
              </a:spcAft>
              <a:buClr>
                <a:schemeClr val="tx2"/>
              </a:buClr>
              <a:buSzPct val="75000"/>
              <a:buChar char="»"/>
              <a:defRPr kumimoji="1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35000"/>
              </a:spcBef>
              <a:spcAft>
                <a:spcPct val="0"/>
              </a:spcAft>
              <a:buClr>
                <a:schemeClr val="tx2"/>
              </a:buClr>
              <a:buSzPct val="75000"/>
              <a:buChar char="»"/>
              <a:defRPr kumimoji="1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35000"/>
              </a:spcBef>
              <a:spcAft>
                <a:spcPct val="0"/>
              </a:spcAft>
              <a:buClr>
                <a:schemeClr val="tx2"/>
              </a:buClr>
              <a:buSzPct val="75000"/>
              <a:buChar char="»"/>
              <a:defRPr kumimoji="1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kumimoji="0" lang="en-US" altLang="en-US" i="1"/>
              <a:t>instructor</a:t>
            </a:r>
          </a:p>
        </p:txBody>
      </p:sp>
      <p:sp>
        <p:nvSpPr>
          <p:cNvPr id="98313" name="Text Box 9">
            <a:extLst>
              <a:ext uri="{FF2B5EF4-FFF2-40B4-BE49-F238E27FC236}">
                <a16:creationId xmlns:a16="http://schemas.microsoft.com/office/drawing/2014/main" id="{406E2E2B-92DC-4A3F-9645-D094BDCFAE6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252663" y="4738689"/>
            <a:ext cx="2203450" cy="9159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35000"/>
              </a:spcBef>
              <a:buClr>
                <a:schemeClr val="tx2"/>
              </a:buClr>
              <a:buSzPct val="90000"/>
              <a:buFont typeface="Monotype Sorts" pitchFamily="-65" charset="2"/>
              <a:buChar char="n"/>
              <a:defRPr kumimoji="1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35000"/>
              </a:spcBef>
              <a:buClr>
                <a:schemeClr val="folHlink"/>
              </a:buClr>
              <a:buSzPct val="80000"/>
              <a:buFont typeface="Monotype Sorts" pitchFamily="-65" charset="2"/>
              <a:buChar char="l"/>
              <a:defRPr kumimoji="1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35000"/>
              </a:spcBef>
              <a:buClr>
                <a:srgbClr val="33CC33"/>
              </a:buClr>
              <a:buSzPct val="75000"/>
              <a:buFont typeface="Webdings" panose="05030102010509060703" pitchFamily="18" charset="2"/>
              <a:buChar char="4"/>
              <a:defRPr kumimoji="1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35000"/>
              </a:spcBef>
              <a:buClr>
                <a:schemeClr val="hlink"/>
              </a:buClr>
              <a:buFont typeface="Times New Roman" panose="02020603050405020304" pitchFamily="18" charset="0"/>
              <a:buChar char="–"/>
              <a:defRPr kumimoji="1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35000"/>
              </a:spcBef>
              <a:buClr>
                <a:schemeClr val="tx2"/>
              </a:buClr>
              <a:buSzPct val="75000"/>
              <a:buChar char="»"/>
              <a:defRPr kumimoji="1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35000"/>
              </a:spcBef>
              <a:spcAft>
                <a:spcPct val="0"/>
              </a:spcAft>
              <a:buClr>
                <a:schemeClr val="tx2"/>
              </a:buClr>
              <a:buSzPct val="75000"/>
              <a:buChar char="»"/>
              <a:defRPr kumimoji="1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35000"/>
              </a:spcBef>
              <a:spcAft>
                <a:spcPct val="0"/>
              </a:spcAft>
              <a:buClr>
                <a:schemeClr val="tx2"/>
              </a:buClr>
              <a:buSzPct val="75000"/>
              <a:buChar char="»"/>
              <a:defRPr kumimoji="1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35000"/>
              </a:spcBef>
              <a:spcAft>
                <a:spcPct val="0"/>
              </a:spcAft>
              <a:buClr>
                <a:schemeClr val="tx2"/>
              </a:buClr>
              <a:buSzPct val="75000"/>
              <a:buChar char="»"/>
              <a:defRPr kumimoji="1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35000"/>
              </a:spcBef>
              <a:spcAft>
                <a:spcPct val="0"/>
              </a:spcAft>
              <a:buClr>
                <a:schemeClr val="tx2"/>
              </a:buClr>
              <a:buSzPct val="75000"/>
              <a:buChar char="»"/>
              <a:defRPr kumimoji="1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kumimoji="0" lang="en-US" altLang="en-US" dirty="0" err="1"/>
              <a:t>multitable</a:t>
            </a:r>
            <a:r>
              <a:rPr kumimoji="0" lang="en-US" altLang="en-US" dirty="0"/>
              <a:t> clustering</a:t>
            </a:r>
          </a:p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kumimoji="0" lang="en-US" altLang="en-US" dirty="0"/>
              <a:t>of</a:t>
            </a:r>
            <a:r>
              <a:rPr kumimoji="0" lang="en-US" altLang="en-US" i="1" dirty="0"/>
              <a:t> department </a:t>
            </a:r>
            <a:r>
              <a:rPr kumimoji="0" lang="en-US" altLang="en-US" dirty="0"/>
              <a:t>and</a:t>
            </a:r>
            <a:r>
              <a:rPr kumimoji="0" lang="en-US" altLang="en-US" i="1" dirty="0"/>
              <a:t> </a:t>
            </a:r>
          </a:p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kumimoji="0" lang="en-US" altLang="en-US" i="1" dirty="0"/>
              <a:t>instructor</a:t>
            </a:r>
          </a:p>
        </p:txBody>
      </p:sp>
      <p:pic>
        <p:nvPicPr>
          <p:cNvPr id="10" name="Graphic 9">
            <a:extLst>
              <a:ext uri="{FF2B5EF4-FFF2-40B4-BE49-F238E27FC236}">
                <a16:creationId xmlns:a16="http://schemas.microsoft.com/office/drawing/2014/main" id="{3FFF8798-6E6B-47E8-8BB9-C2576E506B61}"/>
              </a:ext>
            </a:extLst>
          </p:cNvPr>
          <p:cNvPicPr>
            <a:picLocks noChangeAspect="1"/>
          </p:cNvPicPr>
          <p:nvPr/>
        </p:nvPicPr>
        <p:blipFill rotWithShape="1"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rcRect t="1" b="33413"/>
          <a:stretch/>
        </p:blipFill>
        <p:spPr>
          <a:xfrm>
            <a:off x="4641184" y="1481328"/>
            <a:ext cx="3383855" cy="1256022"/>
          </a:xfrm>
          <a:prstGeom prst="rect">
            <a:avLst/>
          </a:prstGeom>
        </p:spPr>
      </p:pic>
      <p:pic>
        <p:nvPicPr>
          <p:cNvPr id="11" name="Graphic 10">
            <a:extLst>
              <a:ext uri="{FF2B5EF4-FFF2-40B4-BE49-F238E27FC236}">
                <a16:creationId xmlns:a16="http://schemas.microsoft.com/office/drawing/2014/main" id="{50C245B3-E503-4226-969D-8E82216262E9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4717265" y="2896919"/>
            <a:ext cx="3633856" cy="1416588"/>
          </a:xfrm>
          <a:prstGeom prst="rect">
            <a:avLst/>
          </a:prstGeom>
        </p:spPr>
      </p:pic>
      <p:pic>
        <p:nvPicPr>
          <p:cNvPr id="12" name="Graphic 11">
            <a:extLst>
              <a:ext uri="{FF2B5EF4-FFF2-40B4-BE49-F238E27FC236}">
                <a16:creationId xmlns:a16="http://schemas.microsoft.com/office/drawing/2014/main" id="{6804855E-3CEB-48E5-B9FA-BCC8F0829A02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4810119" y="4638391"/>
            <a:ext cx="4155860" cy="1677595"/>
          </a:xfrm>
          <a:prstGeom prst="rect">
            <a:avLst/>
          </a:prstGeom>
        </p:spPr>
      </p:pic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2274" name="Rectangle 2">
            <a:extLst>
              <a:ext uri="{FF2B5EF4-FFF2-40B4-BE49-F238E27FC236}">
                <a16:creationId xmlns:a16="http://schemas.microsoft.com/office/drawing/2014/main" id="{2761E86C-52C6-4666-890C-618804EBC77A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2463804" y="117475"/>
            <a:ext cx="8077200" cy="609600"/>
          </a:xfrm>
          <a:extLst>
            <a:ext uri="{909E8E84-426E-40dd-AFC4-6F175D3DCCD1}"/>
            <a:ext uri="{91240B29-F687-4f45-9708-019B960494DF}"/>
          </a:extLst>
        </p:spPr>
        <p:txBody>
          <a:bodyPr/>
          <a:lstStyle/>
          <a:p>
            <a:pPr>
              <a:defRPr/>
            </a:pPr>
            <a:r>
              <a:rPr lang="en-US" altLang="en-US" sz="2800" dirty="0">
                <a:effectLst>
                  <a:outerShdw blurRad="38100" dist="38100" dir="2700000" algn="tl">
                    <a:srgbClr val="C0C0C0"/>
                  </a:outerShdw>
                </a:effectLst>
              </a:rPr>
              <a:t>Multitable Clustering File Organization (cont.)</a:t>
            </a:r>
          </a:p>
        </p:txBody>
      </p:sp>
      <p:sp>
        <p:nvSpPr>
          <p:cNvPr id="100355" name="Rectangle 3">
            <a:extLst>
              <a:ext uri="{FF2B5EF4-FFF2-40B4-BE49-F238E27FC236}">
                <a16:creationId xmlns:a16="http://schemas.microsoft.com/office/drawing/2014/main" id="{5DE76852-4504-41F8-A327-27C6F05B7238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1505542" y="1704349"/>
            <a:ext cx="7707313" cy="2282825"/>
          </a:xfrm>
        </p:spPr>
        <p:txBody>
          <a:bodyPr>
            <a:normAutofit fontScale="77500" lnSpcReduction="20000"/>
          </a:bodyPr>
          <a:lstStyle/>
          <a:p>
            <a:r>
              <a:rPr lang="en-US" altLang="en-US" dirty="0"/>
              <a:t>Good for queries involving </a:t>
            </a:r>
            <a:r>
              <a:rPr lang="en-US" altLang="en-US" i="1" dirty="0"/>
              <a:t>department </a:t>
            </a:r>
            <a:r>
              <a:rPr lang="en-US" altLang="en-US" dirty="0"/>
              <a:t> </a:t>
            </a:r>
            <a:r>
              <a:rPr lang="en-IN" dirty="0"/>
              <a:t>⨝</a:t>
            </a:r>
            <a:r>
              <a:rPr lang="en-US" altLang="en-US" dirty="0"/>
              <a:t> </a:t>
            </a:r>
            <a:r>
              <a:rPr lang="en-US" altLang="en-US" i="1" dirty="0"/>
              <a:t>instructor</a:t>
            </a:r>
            <a:r>
              <a:rPr lang="en-US" altLang="en-US" dirty="0"/>
              <a:t>, and for queries involving one single department and its instructors</a:t>
            </a:r>
          </a:p>
          <a:p>
            <a:r>
              <a:rPr lang="en-US" altLang="en-US" dirty="0"/>
              <a:t>bad for queries involving only </a:t>
            </a:r>
            <a:r>
              <a:rPr lang="en-US" altLang="en-US" i="1" dirty="0"/>
              <a:t>department</a:t>
            </a:r>
          </a:p>
          <a:p>
            <a:r>
              <a:rPr lang="en-US" altLang="en-US" dirty="0"/>
              <a:t>results in variable size records</a:t>
            </a:r>
          </a:p>
          <a:p>
            <a:r>
              <a:rPr lang="en-US" altLang="en-US" dirty="0"/>
              <a:t>Can add pointer chains to link records of a particular relation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BF78BCA-59BB-4645-ADFD-BA7077CC730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5428" y="0"/>
            <a:ext cx="10515600" cy="1325563"/>
          </a:xfrm>
        </p:spPr>
        <p:txBody>
          <a:bodyPr/>
          <a:lstStyle/>
          <a:p>
            <a:r>
              <a:rPr lang="en-IN" dirty="0"/>
              <a:t>Partitioning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29B0A5E-214E-480B-959C-AEE1B25115D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80239" y="1424622"/>
            <a:ext cx="9890789" cy="4668647"/>
          </a:xfrm>
        </p:spPr>
        <p:txBody>
          <a:bodyPr>
            <a:normAutofit fontScale="92500" lnSpcReduction="20000"/>
          </a:bodyPr>
          <a:lstStyle/>
          <a:p>
            <a:r>
              <a:rPr lang="en-IN" b="1" dirty="0">
                <a:solidFill>
                  <a:srgbClr val="002060"/>
                </a:solidFill>
              </a:rPr>
              <a:t>Table partitioning</a:t>
            </a:r>
            <a:r>
              <a:rPr lang="en-IN" dirty="0"/>
              <a:t>: Records in a relation can be partitioned into smaller relations that are stored separately</a:t>
            </a:r>
          </a:p>
          <a:p>
            <a:r>
              <a:rPr lang="en-IN" dirty="0"/>
              <a:t>E.g., </a:t>
            </a:r>
            <a:r>
              <a:rPr lang="en-IN" i="1" dirty="0"/>
              <a:t>transaction </a:t>
            </a:r>
            <a:r>
              <a:rPr lang="en-IN" dirty="0"/>
              <a:t>relation may be partitioned into </a:t>
            </a:r>
            <a:br>
              <a:rPr lang="en-IN" dirty="0"/>
            </a:br>
            <a:r>
              <a:rPr lang="en-IN" dirty="0"/>
              <a:t>  </a:t>
            </a:r>
            <a:r>
              <a:rPr lang="en-IN" i="1" dirty="0"/>
              <a:t>transaction_2018, transaction_2019, etc.</a:t>
            </a:r>
          </a:p>
          <a:p>
            <a:endParaRPr lang="en-IN" i="1" dirty="0"/>
          </a:p>
          <a:p>
            <a:r>
              <a:rPr lang="en-IN" dirty="0"/>
              <a:t>Queries written on </a:t>
            </a:r>
            <a:r>
              <a:rPr lang="en-IN" i="1" dirty="0"/>
              <a:t>transaction</a:t>
            </a:r>
            <a:r>
              <a:rPr lang="en-IN" dirty="0"/>
              <a:t> must access records in all partitions</a:t>
            </a:r>
          </a:p>
          <a:p>
            <a:pPr lvl="1"/>
            <a:r>
              <a:rPr lang="en-IN" dirty="0"/>
              <a:t>Unless query has a selection such as </a:t>
            </a:r>
            <a:r>
              <a:rPr lang="en-IN" i="1" dirty="0"/>
              <a:t>year=</a:t>
            </a:r>
            <a:r>
              <a:rPr lang="en-IN" dirty="0"/>
              <a:t>2019, in which case only one partition in needed</a:t>
            </a:r>
          </a:p>
          <a:p>
            <a:r>
              <a:rPr lang="en-IN" dirty="0"/>
              <a:t>Partitioning </a:t>
            </a:r>
          </a:p>
          <a:p>
            <a:pPr lvl="1"/>
            <a:r>
              <a:rPr lang="en-IN" dirty="0"/>
              <a:t>Reduces costs of some operations such as free space management</a:t>
            </a:r>
          </a:p>
          <a:p>
            <a:pPr lvl="1"/>
            <a:r>
              <a:rPr lang="en-IN" dirty="0"/>
              <a:t>Allows different partitions to be stored on different storage devices </a:t>
            </a:r>
          </a:p>
          <a:p>
            <a:pPr lvl="2"/>
            <a:r>
              <a:rPr lang="en-IN" dirty="0"/>
              <a:t>E.g., </a:t>
            </a:r>
            <a:r>
              <a:rPr lang="en-IN" i="1" dirty="0"/>
              <a:t>transaction </a:t>
            </a:r>
            <a:r>
              <a:rPr lang="en-IN" dirty="0"/>
              <a:t>partition for current year on SSD, for older years on magnetic disk</a:t>
            </a:r>
          </a:p>
        </p:txBody>
      </p:sp>
    </p:spTree>
    <p:extLst>
      <p:ext uri="{BB962C8B-B14F-4D97-AF65-F5344CB8AC3E}">
        <p14:creationId xmlns:p14="http://schemas.microsoft.com/office/powerpoint/2010/main" val="3567220658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0162" name="Rectangle 2">
            <a:extLst>
              <a:ext uri="{FF2B5EF4-FFF2-40B4-BE49-F238E27FC236}">
                <a16:creationId xmlns:a16="http://schemas.microsoft.com/office/drawing/2014/main" id="{6C427681-FE92-4716-B0D6-3C1132EC37B2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412897" y="0"/>
            <a:ext cx="10515600" cy="1325563"/>
          </a:xfrm>
        </p:spPr>
        <p:txBody>
          <a:bodyPr/>
          <a:lstStyle/>
          <a:p>
            <a:pPr>
              <a:defRPr/>
            </a:pPr>
            <a:r>
              <a:rPr lang="en-US" altLang="en-US" dirty="0">
                <a:effectLst>
                  <a:outerShdw blurRad="38100" dist="38100" dir="2700000" algn="tl">
                    <a:srgbClr val="C0C0C0"/>
                  </a:outerShdw>
                </a:effectLst>
              </a:rPr>
              <a:t>Data Dictionary Storage</a:t>
            </a:r>
          </a:p>
        </p:txBody>
      </p:sp>
      <p:sp>
        <p:nvSpPr>
          <p:cNvPr id="102403" name="Rectangle 3">
            <a:extLst>
              <a:ext uri="{FF2B5EF4-FFF2-40B4-BE49-F238E27FC236}">
                <a16:creationId xmlns:a16="http://schemas.microsoft.com/office/drawing/2014/main" id="{5F8AF8E1-0BFE-4988-B8AF-22B99F21E0C1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1351019" y="1949709"/>
            <a:ext cx="8853376" cy="4527550"/>
          </a:xfrm>
        </p:spPr>
        <p:txBody>
          <a:bodyPr>
            <a:normAutofit lnSpcReduction="10000"/>
          </a:bodyPr>
          <a:lstStyle/>
          <a:p>
            <a:pPr>
              <a:lnSpc>
                <a:spcPct val="90000"/>
              </a:lnSpc>
            </a:pPr>
            <a:r>
              <a:rPr lang="en-US" altLang="en-US" dirty="0"/>
              <a:t>Information about relations</a:t>
            </a:r>
          </a:p>
          <a:p>
            <a:pPr lvl="1">
              <a:lnSpc>
                <a:spcPct val="90000"/>
              </a:lnSpc>
            </a:pPr>
            <a:r>
              <a:rPr lang="en-US" altLang="en-US" dirty="0"/>
              <a:t>names of relations</a:t>
            </a:r>
          </a:p>
          <a:p>
            <a:pPr lvl="1">
              <a:lnSpc>
                <a:spcPct val="90000"/>
              </a:lnSpc>
            </a:pPr>
            <a:r>
              <a:rPr lang="en-US" altLang="en-US" dirty="0"/>
              <a:t>names, types and lengths of attributes of each relation</a:t>
            </a:r>
          </a:p>
          <a:p>
            <a:pPr lvl="1">
              <a:lnSpc>
                <a:spcPct val="90000"/>
              </a:lnSpc>
            </a:pPr>
            <a:r>
              <a:rPr lang="en-US" altLang="en-US" dirty="0"/>
              <a:t>names and definitions of views</a:t>
            </a:r>
          </a:p>
          <a:p>
            <a:pPr lvl="1">
              <a:lnSpc>
                <a:spcPct val="90000"/>
              </a:lnSpc>
            </a:pPr>
            <a:r>
              <a:rPr lang="en-US" altLang="en-US" dirty="0"/>
              <a:t>integrity constraints</a:t>
            </a:r>
          </a:p>
          <a:p>
            <a:pPr>
              <a:lnSpc>
                <a:spcPct val="90000"/>
              </a:lnSpc>
            </a:pPr>
            <a:r>
              <a:rPr lang="en-US" altLang="en-US" dirty="0"/>
              <a:t>User and accounting information, including passwords</a:t>
            </a:r>
          </a:p>
          <a:p>
            <a:pPr>
              <a:lnSpc>
                <a:spcPct val="90000"/>
              </a:lnSpc>
            </a:pPr>
            <a:r>
              <a:rPr lang="en-US" altLang="en-US" dirty="0"/>
              <a:t>Statistical and descriptive data</a:t>
            </a:r>
          </a:p>
          <a:p>
            <a:pPr lvl="1">
              <a:lnSpc>
                <a:spcPct val="90000"/>
              </a:lnSpc>
            </a:pPr>
            <a:r>
              <a:rPr lang="en-US" altLang="en-US" dirty="0"/>
              <a:t>number of tuples in each relation</a:t>
            </a:r>
          </a:p>
          <a:p>
            <a:pPr>
              <a:lnSpc>
                <a:spcPct val="90000"/>
              </a:lnSpc>
            </a:pPr>
            <a:r>
              <a:rPr lang="en-US" altLang="en-US" dirty="0"/>
              <a:t>Physical file organization information</a:t>
            </a:r>
          </a:p>
          <a:p>
            <a:pPr lvl="1">
              <a:lnSpc>
                <a:spcPct val="90000"/>
              </a:lnSpc>
            </a:pPr>
            <a:r>
              <a:rPr lang="en-US" altLang="en-US" dirty="0"/>
              <a:t>How relation is stored (sequential/hash/…)</a:t>
            </a:r>
          </a:p>
          <a:p>
            <a:pPr lvl="1">
              <a:lnSpc>
                <a:spcPct val="90000"/>
              </a:lnSpc>
            </a:pPr>
            <a:r>
              <a:rPr lang="en-US" altLang="en-US" dirty="0"/>
              <a:t>Physical location of relation </a:t>
            </a:r>
          </a:p>
        </p:txBody>
      </p:sp>
      <p:sp>
        <p:nvSpPr>
          <p:cNvPr id="102404" name="Text Box 6">
            <a:extLst>
              <a:ext uri="{FF2B5EF4-FFF2-40B4-BE49-F238E27FC236}">
                <a16:creationId xmlns:a16="http://schemas.microsoft.com/office/drawing/2014/main" id="{38943F03-FAEF-41D0-8332-F8979FE5859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438401" y="1120974"/>
            <a:ext cx="6678613" cy="61555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>
            <a:spAutoFit/>
          </a:bodyPr>
          <a:lstStyle>
            <a:lvl1pPr>
              <a:spcBef>
                <a:spcPct val="35000"/>
              </a:spcBef>
              <a:buClr>
                <a:schemeClr val="tx2"/>
              </a:buClr>
              <a:buSzPct val="90000"/>
              <a:buFont typeface="Monotype Sorts" pitchFamily="-65" charset="2"/>
              <a:buChar char="n"/>
              <a:defRPr kumimoji="1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35000"/>
              </a:spcBef>
              <a:buClr>
                <a:schemeClr val="folHlink"/>
              </a:buClr>
              <a:buSzPct val="80000"/>
              <a:buFont typeface="Monotype Sorts" pitchFamily="-65" charset="2"/>
              <a:buChar char="l"/>
              <a:defRPr kumimoji="1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35000"/>
              </a:spcBef>
              <a:buClr>
                <a:srgbClr val="33CC33"/>
              </a:buClr>
              <a:buSzPct val="75000"/>
              <a:buFont typeface="Webdings" panose="05030102010509060703" pitchFamily="18" charset="2"/>
              <a:buChar char="4"/>
              <a:defRPr kumimoji="1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35000"/>
              </a:spcBef>
              <a:buClr>
                <a:schemeClr val="hlink"/>
              </a:buClr>
              <a:buFont typeface="Times New Roman" panose="02020603050405020304" pitchFamily="18" charset="0"/>
              <a:buChar char="–"/>
              <a:defRPr kumimoji="1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35000"/>
              </a:spcBef>
              <a:buClr>
                <a:schemeClr val="tx2"/>
              </a:buClr>
              <a:buSzPct val="75000"/>
              <a:buChar char="»"/>
              <a:defRPr kumimoji="1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35000"/>
              </a:spcBef>
              <a:spcAft>
                <a:spcPct val="0"/>
              </a:spcAft>
              <a:buClr>
                <a:schemeClr val="tx2"/>
              </a:buClr>
              <a:buSzPct val="75000"/>
              <a:buChar char="»"/>
              <a:defRPr kumimoji="1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35000"/>
              </a:spcBef>
              <a:spcAft>
                <a:spcPct val="0"/>
              </a:spcAft>
              <a:buClr>
                <a:schemeClr val="tx2"/>
              </a:buClr>
              <a:buSzPct val="75000"/>
              <a:buChar char="»"/>
              <a:defRPr kumimoji="1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35000"/>
              </a:spcBef>
              <a:spcAft>
                <a:spcPct val="0"/>
              </a:spcAft>
              <a:buClr>
                <a:schemeClr val="tx2"/>
              </a:buClr>
              <a:buSzPct val="75000"/>
              <a:buChar char="»"/>
              <a:defRPr kumimoji="1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35000"/>
              </a:spcBef>
              <a:spcAft>
                <a:spcPct val="0"/>
              </a:spcAft>
              <a:buClr>
                <a:schemeClr val="tx2"/>
              </a:buClr>
              <a:buSzPct val="75000"/>
              <a:buChar char="»"/>
              <a:defRPr kumimoji="1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>
              <a:spcBef>
                <a:spcPct val="50000"/>
              </a:spcBef>
              <a:buClrTx/>
              <a:buSzTx/>
              <a:buFontTx/>
              <a:buNone/>
            </a:pPr>
            <a:r>
              <a:rPr kumimoji="0" lang="en-US" altLang="en-US" sz="1700" dirty="0"/>
              <a:t>The</a:t>
            </a:r>
            <a:r>
              <a:rPr kumimoji="0" lang="en-US" altLang="en-US" sz="1700" dirty="0">
                <a:solidFill>
                  <a:srgbClr val="000099"/>
                </a:solidFill>
              </a:rPr>
              <a:t> </a:t>
            </a:r>
            <a:r>
              <a:rPr kumimoji="0" lang="en-US" altLang="en-US" sz="1700" b="1" dirty="0">
                <a:solidFill>
                  <a:srgbClr val="002060"/>
                </a:solidFill>
              </a:rPr>
              <a:t>Data dictionary</a:t>
            </a:r>
            <a:r>
              <a:rPr kumimoji="0" lang="en-US" altLang="en-US" sz="1700" dirty="0">
                <a:solidFill>
                  <a:srgbClr val="002060"/>
                </a:solidFill>
              </a:rPr>
              <a:t> </a:t>
            </a:r>
            <a:r>
              <a:rPr kumimoji="0" lang="en-US" altLang="en-US" sz="1700" dirty="0"/>
              <a:t>(also called </a:t>
            </a:r>
            <a:r>
              <a:rPr kumimoji="0" lang="en-US" altLang="en-US" sz="1700" b="1" dirty="0">
                <a:solidFill>
                  <a:srgbClr val="002060"/>
                </a:solidFill>
              </a:rPr>
              <a:t>system catalog</a:t>
            </a:r>
            <a:r>
              <a:rPr kumimoji="0" lang="en-US" altLang="en-US" sz="1700" dirty="0"/>
              <a:t>) stores </a:t>
            </a:r>
            <a:r>
              <a:rPr kumimoji="0" lang="en-US" altLang="en-US" sz="1700" b="1" dirty="0">
                <a:solidFill>
                  <a:srgbClr val="002060"/>
                </a:solidFill>
              </a:rPr>
              <a:t>metadata</a:t>
            </a:r>
            <a:r>
              <a:rPr kumimoji="0" lang="en-US" altLang="en-US" sz="1700" dirty="0"/>
              <a:t>; that is, data about data, such as</a:t>
            </a:r>
          </a:p>
        </p:txBody>
      </p:sp>
    </p:spTree>
    <p:extLst>
      <p:ext uri="{BB962C8B-B14F-4D97-AF65-F5344CB8AC3E}">
        <p14:creationId xmlns:p14="http://schemas.microsoft.com/office/powerpoint/2010/main" val="2517847946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450" name="Rectangle 2">
            <a:extLst>
              <a:ext uri="{FF2B5EF4-FFF2-40B4-BE49-F238E27FC236}">
                <a16:creationId xmlns:a16="http://schemas.microsoft.com/office/drawing/2014/main" id="{EE94F84B-01EE-4596-897A-63559CB1C446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831065" y="295274"/>
            <a:ext cx="8104188" cy="609600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r>
              <a:rPr lang="en-US" altLang="en-US" sz="2800" dirty="0"/>
              <a:t>Relational Representation of System Metadata</a:t>
            </a:r>
          </a:p>
        </p:txBody>
      </p:sp>
      <p:pic>
        <p:nvPicPr>
          <p:cNvPr id="104451" name="Picture 4">
            <a:extLst>
              <a:ext uri="{FF2B5EF4-FFF2-40B4-BE49-F238E27FC236}">
                <a16:creationId xmlns:a16="http://schemas.microsoft.com/office/drawing/2014/main" id="{31E46661-04BA-487C-A994-B5995C0261C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454267" y="1103487"/>
            <a:ext cx="5874946" cy="487362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04452" name="Rectangle 6">
            <a:extLst>
              <a:ext uri="{FF2B5EF4-FFF2-40B4-BE49-F238E27FC236}">
                <a16:creationId xmlns:a16="http://schemas.microsoft.com/office/drawing/2014/main" id="{3D2E2374-DDB3-4BA5-963B-D3E90138181B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1060312" y="1103487"/>
            <a:ext cx="2419350" cy="4873625"/>
          </a:xfrm>
          <a:noFill/>
        </p:spPr>
        <p:txBody>
          <a:bodyPr/>
          <a:lstStyle/>
          <a:p>
            <a:r>
              <a:rPr lang="en-US" altLang="en-US" dirty="0"/>
              <a:t>Relational representation on disk</a:t>
            </a:r>
          </a:p>
          <a:p>
            <a:r>
              <a:rPr lang="en-US" altLang="en-US" dirty="0"/>
              <a:t>Specialized data structures designed for efficient access, in memory</a:t>
            </a:r>
          </a:p>
        </p:txBody>
      </p:sp>
    </p:spTree>
    <p:extLst>
      <p:ext uri="{BB962C8B-B14F-4D97-AF65-F5344CB8AC3E}">
        <p14:creationId xmlns:p14="http://schemas.microsoft.com/office/powerpoint/2010/main" val="4097189315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8F4EBB5-3165-36D3-5F53-D840A10B504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85851" y="250824"/>
            <a:ext cx="10769600" cy="609600"/>
          </a:xfrm>
        </p:spPr>
        <p:txBody>
          <a:bodyPr>
            <a:normAutofit fontScale="90000"/>
          </a:bodyPr>
          <a:lstStyle/>
          <a:p>
            <a:r>
              <a:rPr lang="en-US" dirty="0"/>
              <a:t>Indexing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755537C-88EA-C60C-0899-0485A3A00CA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85851" y="1272746"/>
            <a:ext cx="10215033" cy="4724830"/>
          </a:xfrm>
        </p:spPr>
        <p:txBody>
          <a:bodyPr>
            <a:normAutofit fontScale="92500" lnSpcReduction="10000"/>
          </a:bodyPr>
          <a:lstStyle/>
          <a:p>
            <a:r>
              <a:rPr lang="en-US" dirty="0"/>
              <a:t>Many / Most queries reference only a small portion of the records in a file</a:t>
            </a:r>
          </a:p>
          <a:p>
            <a:pPr lvl="1"/>
            <a:r>
              <a:rPr lang="en-US" dirty="0"/>
              <a:t>Example –</a:t>
            </a:r>
          </a:p>
          <a:p>
            <a:pPr lvl="2"/>
            <a:r>
              <a:rPr lang="en-US" dirty="0"/>
              <a:t> Find all instructors in Physics Department  </a:t>
            </a:r>
          </a:p>
          <a:p>
            <a:pPr lvl="2"/>
            <a:r>
              <a:rPr lang="en-US" dirty="0"/>
              <a:t>Find courses registered by student ID – 21200</a:t>
            </a:r>
          </a:p>
          <a:p>
            <a:r>
              <a:rPr lang="en-US" dirty="0"/>
              <a:t>Inefficient for the system to read every record to check the department value</a:t>
            </a:r>
          </a:p>
          <a:p>
            <a:r>
              <a:rPr lang="en-US" b="1" dirty="0"/>
              <a:t>An Index in a DBMS works the same way as an index of words work for  books – 	</a:t>
            </a:r>
            <a:r>
              <a:rPr lang="en-US" dirty="0"/>
              <a:t>- To look up a word - find it in the index – go to the page number</a:t>
            </a:r>
          </a:p>
          <a:p>
            <a:pPr lvl="2"/>
            <a:r>
              <a:rPr lang="en-US" dirty="0"/>
              <a:t>Words are in sorted order  </a:t>
            </a:r>
          </a:p>
          <a:p>
            <a:r>
              <a:rPr lang="en-US" dirty="0"/>
              <a:t>DBMS would look up an index to find the block in which the record is stored</a:t>
            </a:r>
          </a:p>
        </p:txBody>
      </p:sp>
    </p:spTree>
    <p:extLst>
      <p:ext uri="{BB962C8B-B14F-4D97-AF65-F5344CB8AC3E}">
        <p14:creationId xmlns:p14="http://schemas.microsoft.com/office/powerpoint/2010/main" val="2010416448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9778" name="Rectangle 2">
            <a:extLst>
              <a:ext uri="{FF2B5EF4-FFF2-40B4-BE49-F238E27FC236}">
                <a16:creationId xmlns:a16="http://schemas.microsoft.com/office/drawing/2014/main" id="{F3BCB465-833C-46CA-9A94-74540559D134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349103" y="-144250"/>
            <a:ext cx="10515600" cy="1325563"/>
          </a:xfrm>
        </p:spPr>
        <p:txBody>
          <a:bodyPr/>
          <a:lstStyle/>
          <a:p>
            <a:pPr>
              <a:defRPr/>
            </a:pPr>
            <a:r>
              <a:rPr lang="en-US" altLang="en-US" dirty="0">
                <a:effectLst>
                  <a:outerShdw blurRad="38100" dist="38100" dir="2700000" algn="tl">
                    <a:srgbClr val="C0C0C0"/>
                  </a:outerShdw>
                </a:effectLst>
              </a:rPr>
              <a:t>Basic Concepts</a:t>
            </a:r>
          </a:p>
        </p:txBody>
      </p:sp>
      <p:sp>
        <p:nvSpPr>
          <p:cNvPr id="9219" name="Rectangle 3">
            <a:extLst>
              <a:ext uri="{FF2B5EF4-FFF2-40B4-BE49-F238E27FC236}">
                <a16:creationId xmlns:a16="http://schemas.microsoft.com/office/drawing/2014/main" id="{21872072-543E-4407-92E7-BD753A24D6EA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1231392" y="970211"/>
            <a:ext cx="10094976" cy="5203825"/>
          </a:xfrm>
        </p:spPr>
        <p:txBody>
          <a:bodyPr>
            <a:normAutofit fontScale="92500" lnSpcReduction="10000"/>
          </a:bodyPr>
          <a:lstStyle/>
          <a:p>
            <a:r>
              <a:rPr lang="en-US" altLang="en-US" dirty="0"/>
              <a:t>Indexing mechanisms used to speed up access to desired data.</a:t>
            </a:r>
          </a:p>
          <a:p>
            <a:pPr lvl="1"/>
            <a:r>
              <a:rPr lang="en-US" altLang="en-US" dirty="0"/>
              <a:t>E.g., author catalog in library</a:t>
            </a:r>
          </a:p>
          <a:p>
            <a:r>
              <a:rPr lang="en-US" altLang="en-US" b="1" dirty="0">
                <a:solidFill>
                  <a:srgbClr val="002060"/>
                </a:solidFill>
              </a:rPr>
              <a:t>Search Key</a:t>
            </a:r>
            <a:r>
              <a:rPr lang="en-US" altLang="en-US" dirty="0">
                <a:solidFill>
                  <a:srgbClr val="002060"/>
                </a:solidFill>
              </a:rPr>
              <a:t> </a:t>
            </a:r>
            <a:r>
              <a:rPr lang="en-US" altLang="en-US" dirty="0"/>
              <a:t>- attribute to set of attributes used to look up records in a file.</a:t>
            </a:r>
          </a:p>
          <a:p>
            <a:r>
              <a:rPr lang="en-US" altLang="en-US" dirty="0"/>
              <a:t>An </a:t>
            </a:r>
            <a:r>
              <a:rPr lang="en-US" altLang="en-US" b="1" dirty="0">
                <a:solidFill>
                  <a:srgbClr val="002060"/>
                </a:solidFill>
              </a:rPr>
              <a:t>index file </a:t>
            </a:r>
            <a:r>
              <a:rPr lang="en-US" altLang="en-US" dirty="0"/>
              <a:t>consists of records (called </a:t>
            </a:r>
            <a:r>
              <a:rPr lang="en-US" altLang="en-US" b="1" dirty="0">
                <a:solidFill>
                  <a:srgbClr val="002060"/>
                </a:solidFill>
              </a:rPr>
              <a:t>index entries</a:t>
            </a:r>
            <a:r>
              <a:rPr lang="en-US" altLang="en-US" dirty="0"/>
              <a:t>) of the form</a:t>
            </a:r>
            <a:br>
              <a:rPr lang="en-US" altLang="en-US" dirty="0"/>
            </a:br>
            <a:br>
              <a:rPr lang="en-US" altLang="en-US" dirty="0"/>
            </a:br>
            <a:endParaRPr lang="en-US" altLang="en-US" dirty="0"/>
          </a:p>
          <a:p>
            <a:endParaRPr lang="en-US" altLang="en-US" dirty="0"/>
          </a:p>
          <a:p>
            <a:r>
              <a:rPr lang="en-US" altLang="en-US" dirty="0"/>
              <a:t>Index files are typically much smaller than the original file </a:t>
            </a:r>
          </a:p>
          <a:p>
            <a:r>
              <a:rPr lang="en-US" altLang="en-US" dirty="0"/>
              <a:t>Two basic kinds of indices:</a:t>
            </a:r>
          </a:p>
          <a:p>
            <a:pPr lvl="1"/>
            <a:r>
              <a:rPr lang="en-US" altLang="en-US" b="1" dirty="0"/>
              <a:t>Ordered indices:  </a:t>
            </a:r>
            <a:r>
              <a:rPr lang="en-US" altLang="en-US" dirty="0"/>
              <a:t>search keys are stored in sorted order</a:t>
            </a:r>
          </a:p>
          <a:p>
            <a:pPr lvl="1"/>
            <a:r>
              <a:rPr lang="en-US" altLang="en-US" b="1" dirty="0"/>
              <a:t>Hash indices:</a:t>
            </a:r>
            <a:r>
              <a:rPr lang="en-US" altLang="en-US" dirty="0"/>
              <a:t>  search keys are distributed uniformly across </a:t>
            </a:r>
            <a:r>
              <a:rPr lang="ja-JP" altLang="en-US" dirty="0"/>
              <a:t>“</a:t>
            </a:r>
            <a:r>
              <a:rPr lang="en-US" altLang="ja-JP" dirty="0"/>
              <a:t>buckets</a:t>
            </a:r>
            <a:r>
              <a:rPr lang="ja-JP" altLang="en-US" dirty="0"/>
              <a:t>”</a:t>
            </a:r>
            <a:r>
              <a:rPr lang="en-US" altLang="ja-JP" dirty="0"/>
              <a:t> using a </a:t>
            </a:r>
            <a:r>
              <a:rPr lang="ja-JP" altLang="en-US" dirty="0"/>
              <a:t>“</a:t>
            </a:r>
            <a:r>
              <a:rPr lang="en-US" altLang="ja-JP" dirty="0"/>
              <a:t>hash function</a:t>
            </a:r>
            <a:r>
              <a:rPr lang="ja-JP" altLang="en-US" dirty="0"/>
              <a:t>”</a:t>
            </a:r>
            <a:r>
              <a:rPr lang="en-US" altLang="ja-JP" dirty="0"/>
              <a:t>. </a:t>
            </a:r>
            <a:endParaRPr lang="en-US" altLang="en-US" dirty="0"/>
          </a:p>
        </p:txBody>
      </p:sp>
      <p:sp>
        <p:nvSpPr>
          <p:cNvPr id="9220" name="Rectangle 4">
            <a:extLst>
              <a:ext uri="{FF2B5EF4-FFF2-40B4-BE49-F238E27FC236}">
                <a16:creationId xmlns:a16="http://schemas.microsoft.com/office/drawing/2014/main" id="{16F06304-6B39-487A-8AC9-A9EBD9D3B4F8}"/>
              </a:ext>
            </a:extLst>
          </p:cNvPr>
          <p:cNvSpPr>
            <a:spLocks noChangeArrowheads="1"/>
          </p:cNvSpPr>
          <p:nvPr/>
        </p:nvSpPr>
        <p:spPr bwMode="auto">
          <a:xfrm>
            <a:off x="4272612" y="3293499"/>
            <a:ext cx="1506538" cy="384175"/>
          </a:xfrm>
          <a:prstGeom prst="rect">
            <a:avLst/>
          </a:prstGeom>
          <a:solidFill>
            <a:schemeClr val="accent1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spcBef>
                <a:spcPct val="35000"/>
              </a:spcBef>
              <a:buClr>
                <a:schemeClr val="tx2"/>
              </a:buClr>
              <a:buSzPct val="90000"/>
              <a:buFont typeface="Monotype Sorts" pitchFamily="-65" charset="2"/>
              <a:buChar char="n"/>
              <a:defRPr kumimoji="1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35000"/>
              </a:spcBef>
              <a:buClr>
                <a:schemeClr val="folHlink"/>
              </a:buClr>
              <a:buSzPct val="80000"/>
              <a:buFont typeface="Monotype Sorts" pitchFamily="-65" charset="2"/>
              <a:buChar char="l"/>
              <a:defRPr kumimoji="1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35000"/>
              </a:spcBef>
              <a:buClr>
                <a:srgbClr val="33CC33"/>
              </a:buClr>
              <a:buSzPct val="75000"/>
              <a:buFont typeface="Webdings" panose="05030102010509060703" pitchFamily="18" charset="2"/>
              <a:buChar char="4"/>
              <a:defRPr kumimoji="1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35000"/>
              </a:spcBef>
              <a:buClr>
                <a:schemeClr val="hlink"/>
              </a:buClr>
              <a:buFont typeface="Times New Roman" panose="02020603050405020304" pitchFamily="18" charset="0"/>
              <a:buChar char="–"/>
              <a:defRPr kumimoji="1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35000"/>
              </a:spcBef>
              <a:buClr>
                <a:schemeClr val="tx2"/>
              </a:buClr>
              <a:buSzPct val="75000"/>
              <a:buChar char="»"/>
              <a:defRPr kumimoji="1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35000"/>
              </a:spcBef>
              <a:spcAft>
                <a:spcPct val="0"/>
              </a:spcAft>
              <a:buClr>
                <a:schemeClr val="tx2"/>
              </a:buClr>
              <a:buSzPct val="75000"/>
              <a:buChar char="»"/>
              <a:defRPr kumimoji="1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35000"/>
              </a:spcBef>
              <a:spcAft>
                <a:spcPct val="0"/>
              </a:spcAft>
              <a:buClr>
                <a:schemeClr val="tx2"/>
              </a:buClr>
              <a:buSzPct val="75000"/>
              <a:buChar char="»"/>
              <a:defRPr kumimoji="1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35000"/>
              </a:spcBef>
              <a:spcAft>
                <a:spcPct val="0"/>
              </a:spcAft>
              <a:buClr>
                <a:schemeClr val="tx2"/>
              </a:buClr>
              <a:buSzPct val="75000"/>
              <a:buChar char="»"/>
              <a:defRPr kumimoji="1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35000"/>
              </a:spcBef>
              <a:spcAft>
                <a:spcPct val="0"/>
              </a:spcAft>
              <a:buClr>
                <a:schemeClr val="tx2"/>
              </a:buClr>
              <a:buSzPct val="75000"/>
              <a:buChar char="»"/>
              <a:defRPr kumimoji="1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 algn="ctr">
              <a:spcBef>
                <a:spcPct val="0"/>
              </a:spcBef>
              <a:buClrTx/>
              <a:buSzTx/>
              <a:buFontTx/>
              <a:buNone/>
            </a:pPr>
            <a:r>
              <a:rPr kumimoji="0" lang="en-US" altLang="en-US" dirty="0"/>
              <a:t>search-key</a:t>
            </a:r>
          </a:p>
        </p:txBody>
      </p:sp>
      <p:sp>
        <p:nvSpPr>
          <p:cNvPr id="9221" name="Rectangle 5">
            <a:extLst>
              <a:ext uri="{FF2B5EF4-FFF2-40B4-BE49-F238E27FC236}">
                <a16:creationId xmlns:a16="http://schemas.microsoft.com/office/drawing/2014/main" id="{680F23AC-7EEA-420A-A744-1154880804FB}"/>
              </a:ext>
            </a:extLst>
          </p:cNvPr>
          <p:cNvSpPr>
            <a:spLocks noChangeArrowheads="1"/>
          </p:cNvSpPr>
          <p:nvPr/>
        </p:nvSpPr>
        <p:spPr bwMode="auto">
          <a:xfrm>
            <a:off x="5779150" y="3293499"/>
            <a:ext cx="1184275" cy="384175"/>
          </a:xfrm>
          <a:prstGeom prst="rect">
            <a:avLst/>
          </a:prstGeom>
          <a:solidFill>
            <a:schemeClr val="accent1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spcBef>
                <a:spcPct val="35000"/>
              </a:spcBef>
              <a:buClr>
                <a:schemeClr val="tx2"/>
              </a:buClr>
              <a:buSzPct val="90000"/>
              <a:buFont typeface="Monotype Sorts" pitchFamily="-65" charset="2"/>
              <a:buChar char="n"/>
              <a:defRPr kumimoji="1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35000"/>
              </a:spcBef>
              <a:buClr>
                <a:schemeClr val="folHlink"/>
              </a:buClr>
              <a:buSzPct val="80000"/>
              <a:buFont typeface="Monotype Sorts" pitchFamily="-65" charset="2"/>
              <a:buChar char="l"/>
              <a:defRPr kumimoji="1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35000"/>
              </a:spcBef>
              <a:buClr>
                <a:srgbClr val="33CC33"/>
              </a:buClr>
              <a:buSzPct val="75000"/>
              <a:buFont typeface="Webdings" panose="05030102010509060703" pitchFamily="18" charset="2"/>
              <a:buChar char="4"/>
              <a:defRPr kumimoji="1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35000"/>
              </a:spcBef>
              <a:buClr>
                <a:schemeClr val="hlink"/>
              </a:buClr>
              <a:buFont typeface="Times New Roman" panose="02020603050405020304" pitchFamily="18" charset="0"/>
              <a:buChar char="–"/>
              <a:defRPr kumimoji="1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35000"/>
              </a:spcBef>
              <a:buClr>
                <a:schemeClr val="tx2"/>
              </a:buClr>
              <a:buSzPct val="75000"/>
              <a:buChar char="»"/>
              <a:defRPr kumimoji="1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35000"/>
              </a:spcBef>
              <a:spcAft>
                <a:spcPct val="0"/>
              </a:spcAft>
              <a:buClr>
                <a:schemeClr val="tx2"/>
              </a:buClr>
              <a:buSzPct val="75000"/>
              <a:buChar char="»"/>
              <a:defRPr kumimoji="1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35000"/>
              </a:spcBef>
              <a:spcAft>
                <a:spcPct val="0"/>
              </a:spcAft>
              <a:buClr>
                <a:schemeClr val="tx2"/>
              </a:buClr>
              <a:buSzPct val="75000"/>
              <a:buChar char="»"/>
              <a:defRPr kumimoji="1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35000"/>
              </a:spcBef>
              <a:spcAft>
                <a:spcPct val="0"/>
              </a:spcAft>
              <a:buClr>
                <a:schemeClr val="tx2"/>
              </a:buClr>
              <a:buSzPct val="75000"/>
              <a:buChar char="»"/>
              <a:defRPr kumimoji="1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35000"/>
              </a:spcBef>
              <a:spcAft>
                <a:spcPct val="0"/>
              </a:spcAft>
              <a:buClr>
                <a:schemeClr val="tx2"/>
              </a:buClr>
              <a:buSzPct val="75000"/>
              <a:buChar char="»"/>
              <a:defRPr kumimoji="1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 algn="ctr">
              <a:spcBef>
                <a:spcPct val="0"/>
              </a:spcBef>
              <a:buClrTx/>
              <a:buSzTx/>
              <a:buFontTx/>
              <a:buNone/>
            </a:pPr>
            <a:r>
              <a:rPr kumimoji="0" lang="en-US" altLang="en-US"/>
              <a:t>pointer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3874" name="Rectangle 2">
            <a:extLst>
              <a:ext uri="{FF2B5EF4-FFF2-40B4-BE49-F238E27FC236}">
                <a16:creationId xmlns:a16="http://schemas.microsoft.com/office/drawing/2014/main" id="{A471252C-098C-486A-8E72-7C38AC42B3C3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519223" y="0"/>
            <a:ext cx="10515600" cy="1325563"/>
          </a:xfrm>
        </p:spPr>
        <p:txBody>
          <a:bodyPr/>
          <a:lstStyle/>
          <a:p>
            <a:pPr>
              <a:defRPr/>
            </a:pPr>
            <a:r>
              <a:rPr lang="en-US" altLang="en-US" dirty="0">
                <a:effectLst>
                  <a:outerShdw blurRad="38100" dist="38100" dir="2700000" algn="tl">
                    <a:srgbClr val="C0C0C0"/>
                  </a:outerShdw>
                </a:effectLst>
              </a:rPr>
              <a:t>Ordered Indices</a:t>
            </a:r>
          </a:p>
        </p:txBody>
      </p:sp>
      <p:sp>
        <p:nvSpPr>
          <p:cNvPr id="1103875" name="Rectangle 3">
            <a:extLst>
              <a:ext uri="{FF2B5EF4-FFF2-40B4-BE49-F238E27FC236}">
                <a16:creationId xmlns:a16="http://schemas.microsoft.com/office/drawing/2014/main" id="{9A931772-41AD-40F7-93E4-14F5D2068315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1426464" y="1169479"/>
            <a:ext cx="9460992" cy="4876800"/>
          </a:xfrm>
        </p:spPr>
        <p:txBody>
          <a:bodyPr>
            <a:normAutofit fontScale="85000" lnSpcReduction="20000"/>
          </a:bodyPr>
          <a:lstStyle/>
          <a:p>
            <a:r>
              <a:rPr lang="en-US" altLang="en-US" dirty="0"/>
              <a:t>In an </a:t>
            </a:r>
            <a:r>
              <a:rPr lang="en-US" altLang="en-US" b="1" dirty="0">
                <a:solidFill>
                  <a:srgbClr val="002060"/>
                </a:solidFill>
              </a:rPr>
              <a:t>ordered index</a:t>
            </a:r>
            <a:r>
              <a:rPr lang="en-US" altLang="en-US" b="1" dirty="0"/>
              <a:t>, </a:t>
            </a:r>
            <a:r>
              <a:rPr lang="en-US" altLang="en-US" dirty="0"/>
              <a:t>index entries are stored sorted on the search key value.  </a:t>
            </a:r>
          </a:p>
          <a:p>
            <a:endParaRPr lang="en-US" altLang="en-US" dirty="0"/>
          </a:p>
          <a:p>
            <a:r>
              <a:rPr lang="en-US" altLang="en-US" b="1" dirty="0">
                <a:solidFill>
                  <a:srgbClr val="002060"/>
                </a:solidFill>
              </a:rPr>
              <a:t>Clustering index</a:t>
            </a:r>
            <a:r>
              <a:rPr lang="en-US" altLang="en-US" b="1" dirty="0"/>
              <a:t>: </a:t>
            </a:r>
            <a:r>
              <a:rPr lang="en-US" altLang="en-US" dirty="0"/>
              <a:t>in a sequentially ordered file, the index whose search key specifies the sequential order of the file.</a:t>
            </a:r>
          </a:p>
          <a:p>
            <a:pPr lvl="1"/>
            <a:r>
              <a:rPr lang="en-US" altLang="en-US" dirty="0"/>
              <a:t>Also called </a:t>
            </a:r>
            <a:r>
              <a:rPr lang="en-US" altLang="en-US" b="1" dirty="0">
                <a:solidFill>
                  <a:srgbClr val="002060"/>
                </a:solidFill>
              </a:rPr>
              <a:t>primary index</a:t>
            </a:r>
            <a:endParaRPr lang="en-US" altLang="en-US" dirty="0">
              <a:solidFill>
                <a:srgbClr val="002060"/>
              </a:solidFill>
            </a:endParaRPr>
          </a:p>
          <a:p>
            <a:pPr lvl="1"/>
            <a:r>
              <a:rPr lang="en-US" altLang="en-US" dirty="0"/>
              <a:t>The search key of a primary index is usually but not necessarily the primary key.</a:t>
            </a:r>
          </a:p>
          <a:p>
            <a:endParaRPr lang="en-US" altLang="en-US" b="1" dirty="0">
              <a:solidFill>
                <a:srgbClr val="002060"/>
              </a:solidFill>
            </a:endParaRPr>
          </a:p>
          <a:p>
            <a:r>
              <a:rPr lang="en-US" altLang="en-US" b="1" dirty="0">
                <a:solidFill>
                  <a:srgbClr val="002060"/>
                </a:solidFill>
              </a:rPr>
              <a:t>Secondary index</a:t>
            </a:r>
            <a:r>
              <a:rPr lang="en-US" altLang="en-US" dirty="0"/>
              <a:t>:</a:t>
            </a:r>
            <a:r>
              <a:rPr lang="en-US" altLang="en-US" b="1" dirty="0"/>
              <a:t> </a:t>
            </a:r>
            <a:r>
              <a:rPr lang="en-US" altLang="en-US" dirty="0"/>
              <a:t>an index whose search key specifies an order different from the sequential order of the file.  Also called </a:t>
            </a:r>
            <a:br>
              <a:rPr lang="en-US" altLang="en-US" dirty="0"/>
            </a:br>
            <a:r>
              <a:rPr lang="en-US" altLang="en-US" b="1" dirty="0" err="1">
                <a:solidFill>
                  <a:srgbClr val="002060"/>
                </a:solidFill>
              </a:rPr>
              <a:t>nonclustering</a:t>
            </a:r>
            <a:r>
              <a:rPr lang="en-US" altLang="en-US" b="1" dirty="0">
                <a:solidFill>
                  <a:srgbClr val="002060"/>
                </a:solidFill>
              </a:rPr>
              <a:t> index</a:t>
            </a:r>
            <a:r>
              <a:rPr lang="en-US" altLang="en-US" b="1" dirty="0"/>
              <a:t>.</a:t>
            </a:r>
            <a:endParaRPr lang="en-US" altLang="en-US" dirty="0"/>
          </a:p>
          <a:p>
            <a:endParaRPr lang="en-US" altLang="en-US" b="1" dirty="0">
              <a:solidFill>
                <a:srgbClr val="002060"/>
              </a:solidFill>
            </a:endParaRPr>
          </a:p>
          <a:p>
            <a:r>
              <a:rPr lang="en-US" altLang="en-US" b="1" dirty="0">
                <a:solidFill>
                  <a:srgbClr val="002060"/>
                </a:solidFill>
              </a:rPr>
              <a:t>Index-sequential file</a:t>
            </a:r>
            <a:r>
              <a:rPr lang="en-US" altLang="en-US" b="1" dirty="0"/>
              <a:t>:</a:t>
            </a:r>
            <a:r>
              <a:rPr lang="en-US" altLang="en-US" dirty="0"/>
              <a:t> sequential file ordered on a search key, with a clustering index on the search key.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0387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 nodeType="clickPar">
                      <p:stCondLst>
                        <p:cond delay="indefinite"/>
                      </p:stCondLst>
                      <p:childTnLst>
                        <p:par>
                          <p:cTn id="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0387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0387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0387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 nodeType="clickPar">
                      <p:stCondLst>
                        <p:cond delay="indefinite"/>
                      </p:stCondLst>
                      <p:childTnLst>
                        <p:par>
                          <p:cTn id="1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03875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 nodeType="clickPar">
                      <p:stCondLst>
                        <p:cond delay="indefinite"/>
                      </p:stCondLst>
                      <p:childTnLst>
                        <p:par>
                          <p:cTn id="2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03875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5922" name="Rectangle 2">
            <a:extLst>
              <a:ext uri="{FF2B5EF4-FFF2-40B4-BE49-F238E27FC236}">
                <a16:creationId xmlns:a16="http://schemas.microsoft.com/office/drawing/2014/main" id="{69C9745A-37B7-4F0E-A3B3-2DAF58FB2FD8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221512" y="0"/>
            <a:ext cx="10515600" cy="1325563"/>
          </a:xfrm>
        </p:spPr>
        <p:txBody>
          <a:bodyPr/>
          <a:lstStyle/>
          <a:p>
            <a:pPr>
              <a:defRPr/>
            </a:pPr>
            <a:r>
              <a:rPr lang="en-US" altLang="en-US" dirty="0">
                <a:effectLst>
                  <a:outerShdw blurRad="38100" dist="38100" dir="2700000" algn="tl">
                    <a:srgbClr val="C0C0C0"/>
                  </a:outerShdw>
                </a:effectLst>
              </a:rPr>
              <a:t>Dense Index Files</a:t>
            </a:r>
          </a:p>
        </p:txBody>
      </p:sp>
      <p:sp>
        <p:nvSpPr>
          <p:cNvPr id="15363" name="Rectangle 3">
            <a:extLst>
              <a:ext uri="{FF2B5EF4-FFF2-40B4-BE49-F238E27FC236}">
                <a16:creationId xmlns:a16="http://schemas.microsoft.com/office/drawing/2014/main" id="{BAF8129C-3EED-4426-9DD8-3F433D6DF7D4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2338389" y="1093789"/>
            <a:ext cx="7661275" cy="1165225"/>
          </a:xfrm>
        </p:spPr>
        <p:txBody>
          <a:bodyPr>
            <a:normAutofit fontScale="92500" lnSpcReduction="20000"/>
          </a:bodyPr>
          <a:lstStyle/>
          <a:p>
            <a:r>
              <a:rPr lang="en-US" altLang="en-US" b="1" dirty="0">
                <a:solidFill>
                  <a:srgbClr val="002060"/>
                </a:solidFill>
              </a:rPr>
              <a:t>Dense index</a:t>
            </a:r>
            <a:r>
              <a:rPr lang="en-US" altLang="en-US" dirty="0">
                <a:solidFill>
                  <a:srgbClr val="002060"/>
                </a:solidFill>
              </a:rPr>
              <a:t> </a:t>
            </a:r>
            <a:r>
              <a:rPr lang="en-US" altLang="en-US" dirty="0"/>
              <a:t>— Index record appears for every search-key value in the file. </a:t>
            </a:r>
          </a:p>
          <a:p>
            <a:r>
              <a:rPr lang="en-US" altLang="en-US" dirty="0"/>
              <a:t>E.g. index on </a:t>
            </a:r>
            <a:r>
              <a:rPr lang="en-US" altLang="en-US" i="1" dirty="0"/>
              <a:t>ID</a:t>
            </a:r>
            <a:r>
              <a:rPr lang="en-US" altLang="en-US" dirty="0"/>
              <a:t> attribute of </a:t>
            </a:r>
            <a:r>
              <a:rPr lang="en-US" altLang="en-US" i="1" dirty="0"/>
              <a:t>instructor</a:t>
            </a:r>
            <a:r>
              <a:rPr lang="en-US" altLang="en-US" dirty="0"/>
              <a:t> relation </a:t>
            </a:r>
          </a:p>
        </p:txBody>
      </p:sp>
      <p:pic>
        <p:nvPicPr>
          <p:cNvPr id="15364" name="Picture 8">
            <a:extLst>
              <a:ext uri="{FF2B5EF4-FFF2-40B4-BE49-F238E27FC236}">
                <a16:creationId xmlns:a16="http://schemas.microsoft.com/office/drawing/2014/main" id="{710620EF-3A3A-4679-B2D8-8E62EC03AED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10683" y="2509519"/>
            <a:ext cx="6700837" cy="325469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9394" name="Rectangle 2">
            <a:extLst>
              <a:ext uri="{FF2B5EF4-FFF2-40B4-BE49-F238E27FC236}">
                <a16:creationId xmlns:a16="http://schemas.microsoft.com/office/drawing/2014/main" id="{A0AC463D-5BF0-4013-9522-A5AD19E7A614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402265" y="0"/>
            <a:ext cx="10515600" cy="1325563"/>
          </a:xfrm>
        </p:spPr>
        <p:txBody>
          <a:bodyPr/>
          <a:lstStyle/>
          <a:p>
            <a:pPr>
              <a:defRPr/>
            </a:pPr>
            <a:r>
              <a:rPr lang="en-US" altLang="en-US" dirty="0">
                <a:effectLst>
                  <a:outerShdw blurRad="38100" dist="38100" dir="2700000" algn="tl">
                    <a:srgbClr val="C0C0C0"/>
                  </a:outerShdw>
                </a:effectLst>
              </a:rPr>
              <a:t>Dense Index Files (Cont.)</a:t>
            </a:r>
          </a:p>
        </p:txBody>
      </p:sp>
      <p:sp>
        <p:nvSpPr>
          <p:cNvPr id="17411" name="Rectangle 3">
            <a:extLst>
              <a:ext uri="{FF2B5EF4-FFF2-40B4-BE49-F238E27FC236}">
                <a16:creationId xmlns:a16="http://schemas.microsoft.com/office/drawing/2014/main" id="{972A41FD-6D01-4D50-86B9-6E628B8C7744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2338389" y="1093789"/>
            <a:ext cx="7661275" cy="966787"/>
          </a:xfrm>
        </p:spPr>
        <p:txBody>
          <a:bodyPr/>
          <a:lstStyle/>
          <a:p>
            <a:r>
              <a:rPr lang="en-US" altLang="en-US" dirty="0"/>
              <a:t>Dense index on </a:t>
            </a:r>
            <a:r>
              <a:rPr lang="en-US" altLang="en-US" i="1" dirty="0"/>
              <a:t>dept_name</a:t>
            </a:r>
            <a:r>
              <a:rPr lang="en-US" altLang="en-US" dirty="0"/>
              <a:t>, with </a:t>
            </a:r>
            <a:r>
              <a:rPr lang="en-US" altLang="en-US" i="1" dirty="0"/>
              <a:t>instructor </a:t>
            </a:r>
            <a:r>
              <a:rPr lang="en-US" altLang="en-US" dirty="0"/>
              <a:t>file sorted on </a:t>
            </a:r>
            <a:r>
              <a:rPr lang="en-US" altLang="en-US" i="1" dirty="0"/>
              <a:t>dept_name</a:t>
            </a:r>
            <a:endParaRPr lang="en-US" altLang="en-US" dirty="0"/>
          </a:p>
        </p:txBody>
      </p:sp>
      <p:pic>
        <p:nvPicPr>
          <p:cNvPr id="17412" name="Picture 7">
            <a:extLst>
              <a:ext uri="{FF2B5EF4-FFF2-40B4-BE49-F238E27FC236}">
                <a16:creationId xmlns:a16="http://schemas.microsoft.com/office/drawing/2014/main" id="{6206C307-EB8B-44EE-BC03-F42F67E2936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917826" y="2208615"/>
            <a:ext cx="7081838" cy="294426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7970" name="Rectangle 2">
            <a:extLst>
              <a:ext uri="{FF2B5EF4-FFF2-40B4-BE49-F238E27FC236}">
                <a16:creationId xmlns:a16="http://schemas.microsoft.com/office/drawing/2014/main" id="{D16DB98C-5073-42B4-BF88-0C454293884F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349102" y="-91273"/>
            <a:ext cx="10515600" cy="1325563"/>
          </a:xfrm>
        </p:spPr>
        <p:txBody>
          <a:bodyPr/>
          <a:lstStyle/>
          <a:p>
            <a:pPr>
              <a:defRPr/>
            </a:pPr>
            <a:r>
              <a:rPr lang="en-US" altLang="en-US" dirty="0">
                <a:effectLst>
                  <a:outerShdw blurRad="38100" dist="38100" dir="2700000" algn="tl">
                    <a:srgbClr val="C0C0C0"/>
                  </a:outerShdw>
                </a:effectLst>
              </a:rPr>
              <a:t>Sparse Index Files</a:t>
            </a:r>
          </a:p>
        </p:txBody>
      </p:sp>
      <p:sp>
        <p:nvSpPr>
          <p:cNvPr id="19459" name="Rectangle 3">
            <a:extLst>
              <a:ext uri="{FF2B5EF4-FFF2-40B4-BE49-F238E27FC236}">
                <a16:creationId xmlns:a16="http://schemas.microsoft.com/office/drawing/2014/main" id="{AEC30A03-5B48-4877-BFDE-46B4DC9354F2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567071" y="993773"/>
            <a:ext cx="7991032" cy="2495550"/>
          </a:xfrm>
        </p:spPr>
        <p:txBody>
          <a:bodyPr>
            <a:normAutofit fontScale="92500" lnSpcReduction="20000"/>
          </a:bodyPr>
          <a:lstStyle/>
          <a:p>
            <a:r>
              <a:rPr lang="en-US" altLang="en-US" b="1" dirty="0">
                <a:solidFill>
                  <a:srgbClr val="002060"/>
                </a:solidFill>
              </a:rPr>
              <a:t>Sparse Index</a:t>
            </a:r>
            <a:r>
              <a:rPr lang="en-US" altLang="en-US" dirty="0"/>
              <a:t>:  contains index records for only some search-key values.</a:t>
            </a:r>
          </a:p>
          <a:p>
            <a:pPr lvl="1"/>
            <a:r>
              <a:rPr lang="en-US" altLang="en-US" dirty="0"/>
              <a:t>Applicable when records are sequentially ordered on search-key</a:t>
            </a:r>
          </a:p>
          <a:p>
            <a:r>
              <a:rPr lang="en-US" altLang="en-US" dirty="0"/>
              <a:t>To locate a record with search-key value </a:t>
            </a:r>
            <a:r>
              <a:rPr lang="en-US" altLang="en-US" i="1" dirty="0"/>
              <a:t>K</a:t>
            </a:r>
            <a:r>
              <a:rPr lang="en-US" altLang="en-US" dirty="0"/>
              <a:t> we:</a:t>
            </a:r>
          </a:p>
          <a:p>
            <a:pPr lvl="1"/>
            <a:r>
              <a:rPr lang="en-US" altLang="en-US" dirty="0"/>
              <a:t>Find index record with largest search-key value &lt; </a:t>
            </a:r>
            <a:r>
              <a:rPr lang="en-US" altLang="en-US" i="1" dirty="0"/>
              <a:t>K</a:t>
            </a:r>
            <a:endParaRPr lang="en-US" altLang="en-US" dirty="0"/>
          </a:p>
          <a:p>
            <a:pPr lvl="1"/>
            <a:r>
              <a:rPr lang="en-US" altLang="en-US" dirty="0"/>
              <a:t>Search file sequentially starting at the record to which the index record points</a:t>
            </a:r>
          </a:p>
        </p:txBody>
      </p:sp>
      <p:pic>
        <p:nvPicPr>
          <p:cNvPr id="19460" name="Picture 7">
            <a:extLst>
              <a:ext uri="{FF2B5EF4-FFF2-40B4-BE49-F238E27FC236}">
                <a16:creationId xmlns:a16="http://schemas.microsoft.com/office/drawing/2014/main" id="{4CA72F48-2A38-43A9-866F-F0DC1888212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203205" y="3606281"/>
            <a:ext cx="6078598" cy="279716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43490" name="Rectangle 2">
            <a:extLst>
              <a:ext uri="{FF2B5EF4-FFF2-40B4-BE49-F238E27FC236}">
                <a16:creationId xmlns:a16="http://schemas.microsoft.com/office/drawing/2014/main" id="{24121C46-A7F8-4C85-B0FA-844931DCBE37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290001" y="-11629"/>
            <a:ext cx="10515600" cy="1325563"/>
          </a:xfrm>
        </p:spPr>
        <p:txBody>
          <a:bodyPr/>
          <a:lstStyle/>
          <a:p>
            <a:pPr>
              <a:defRPr/>
            </a:pPr>
            <a:r>
              <a:rPr lang="en-US" altLang="en-US" dirty="0">
                <a:effectLst>
                  <a:outerShdw blurRad="38100" dist="38100" dir="2700000" algn="tl">
                    <a:srgbClr val="C0C0C0"/>
                  </a:outerShdw>
                </a:effectLst>
              </a:rPr>
              <a:t>Sparse Index Files (Cont.)</a:t>
            </a:r>
          </a:p>
        </p:txBody>
      </p:sp>
      <p:sp>
        <p:nvSpPr>
          <p:cNvPr id="21507" name="Rectangle 3">
            <a:extLst>
              <a:ext uri="{FF2B5EF4-FFF2-40B4-BE49-F238E27FC236}">
                <a16:creationId xmlns:a16="http://schemas.microsoft.com/office/drawing/2014/main" id="{1497FC95-73F7-4D82-B58B-073729F719AC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1406367" y="1109472"/>
            <a:ext cx="10090689" cy="5193792"/>
          </a:xfrm>
        </p:spPr>
        <p:txBody>
          <a:bodyPr>
            <a:normAutofit fontScale="92500" lnSpcReduction="10000"/>
          </a:bodyPr>
          <a:lstStyle/>
          <a:p>
            <a:r>
              <a:rPr lang="en-US" altLang="en-US" dirty="0"/>
              <a:t>Compared to dense indices:</a:t>
            </a:r>
          </a:p>
          <a:p>
            <a:pPr lvl="1"/>
            <a:r>
              <a:rPr lang="en-US" altLang="en-US" dirty="0"/>
              <a:t>Less space and less maintenance overhead for insertions and deletions.</a:t>
            </a:r>
          </a:p>
          <a:p>
            <a:pPr lvl="1"/>
            <a:r>
              <a:rPr lang="en-US" altLang="en-US" dirty="0"/>
              <a:t>Generally slower than dense index for locating records.</a:t>
            </a:r>
          </a:p>
          <a:p>
            <a:r>
              <a:rPr lang="en-US" altLang="en-US" b="1" dirty="0"/>
              <a:t>Good tradeoff</a:t>
            </a:r>
            <a:r>
              <a:rPr lang="en-US" altLang="en-US" dirty="0"/>
              <a:t>: </a:t>
            </a:r>
          </a:p>
          <a:p>
            <a:pPr lvl="1"/>
            <a:r>
              <a:rPr lang="en-US" altLang="en-US" dirty="0"/>
              <a:t>for clustered index: sparse index with an index entry for every block in file, corresponding to least search-key value in the block.</a:t>
            </a:r>
            <a:br>
              <a:rPr lang="en-US" altLang="en-US" dirty="0"/>
            </a:br>
            <a:br>
              <a:rPr lang="en-US" altLang="en-US" dirty="0"/>
            </a:br>
            <a:br>
              <a:rPr lang="en-US" altLang="en-US" dirty="0"/>
            </a:br>
            <a:br>
              <a:rPr lang="en-US" altLang="en-US" dirty="0"/>
            </a:br>
            <a:br>
              <a:rPr lang="en-US" altLang="en-US" dirty="0"/>
            </a:br>
            <a:br>
              <a:rPr lang="en-US" altLang="en-US" dirty="0"/>
            </a:br>
            <a:br>
              <a:rPr lang="en-US" altLang="en-US" dirty="0"/>
            </a:br>
            <a:br>
              <a:rPr lang="en-US" altLang="en-US" dirty="0"/>
            </a:br>
            <a:br>
              <a:rPr lang="en-US" altLang="en-US" dirty="0"/>
            </a:br>
            <a:br>
              <a:rPr lang="en-US" altLang="en-US" dirty="0"/>
            </a:br>
            <a:endParaRPr lang="en-US" altLang="en-US" dirty="0"/>
          </a:p>
          <a:p>
            <a:pPr lvl="1"/>
            <a:r>
              <a:rPr lang="en-US" altLang="en-US" dirty="0"/>
              <a:t>For </a:t>
            </a:r>
            <a:r>
              <a:rPr lang="en-US" altLang="en-US" dirty="0" err="1"/>
              <a:t>unclustered</a:t>
            </a:r>
            <a:r>
              <a:rPr lang="en-US" altLang="en-US" dirty="0"/>
              <a:t> index: sparse index on top of dense index (multilevel index)</a:t>
            </a:r>
          </a:p>
        </p:txBody>
      </p:sp>
      <p:grpSp>
        <p:nvGrpSpPr>
          <p:cNvPr id="5" name="Group 4">
            <a:extLst>
              <a:ext uri="{FF2B5EF4-FFF2-40B4-BE49-F238E27FC236}">
                <a16:creationId xmlns:a16="http://schemas.microsoft.com/office/drawing/2014/main" id="{1BDE9D94-E986-4FDA-B2F6-B47DE62C9308}"/>
              </a:ext>
            </a:extLst>
          </p:cNvPr>
          <p:cNvGrpSpPr/>
          <p:nvPr/>
        </p:nvGrpSpPr>
        <p:grpSpPr>
          <a:xfrm>
            <a:off x="4267201" y="3414712"/>
            <a:ext cx="2504405" cy="2239959"/>
            <a:chOff x="2465294" y="3429000"/>
            <a:chExt cx="2782312" cy="2568575"/>
          </a:xfrm>
        </p:grpSpPr>
        <p:pic>
          <p:nvPicPr>
            <p:cNvPr id="3" name="Graphic 2">
              <a:extLst>
                <a:ext uri="{FF2B5EF4-FFF2-40B4-BE49-F238E27FC236}">
                  <a16:creationId xmlns:a16="http://schemas.microsoft.com/office/drawing/2014/main" id="{816BB815-C486-41E2-8B5C-0756C1851E3A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rcRect l="39022" t="-6" r="-1376" b="53812"/>
            <a:stretch/>
          </p:blipFill>
          <p:spPr>
            <a:xfrm>
              <a:off x="2528392" y="3429000"/>
              <a:ext cx="2719214" cy="2441743"/>
            </a:xfrm>
            <a:prstGeom prst="rect">
              <a:avLst/>
            </a:prstGeom>
          </p:spPr>
        </p:pic>
        <p:sp>
          <p:nvSpPr>
            <p:cNvPr id="4" name="Rectangle 3">
              <a:extLst>
                <a:ext uri="{FF2B5EF4-FFF2-40B4-BE49-F238E27FC236}">
                  <a16:creationId xmlns:a16="http://schemas.microsoft.com/office/drawing/2014/main" id="{1C584757-4F0D-4F53-8610-649ED2931878}"/>
                </a:ext>
              </a:extLst>
            </p:cNvPr>
            <p:cNvSpPr/>
            <p:nvPr/>
          </p:nvSpPr>
          <p:spPr bwMode="auto">
            <a:xfrm>
              <a:off x="2465294" y="4649871"/>
              <a:ext cx="1147482" cy="1220872"/>
            </a:xfrm>
            <a:prstGeom prst="rect">
              <a:avLst/>
            </a:prstGeom>
            <a:solidFill>
              <a:schemeClr val="accent1"/>
            </a:solidFill>
            <a:ln w="9525" cap="flat" cmpd="sng" algn="ctr">
              <a:noFill/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non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eaLnBrk="0" fontAlgn="base" hangingPunct="0">
                <a:spcBef>
                  <a:spcPct val="0"/>
                </a:spcBef>
                <a:spcAft>
                  <a:spcPct val="0"/>
                </a:spcAft>
              </a:pPr>
              <a:endParaRPr lang="en-IN" sz="1600">
                <a:latin typeface="Helvetica" charset="0"/>
              </a:endParaRPr>
            </a:p>
          </p:txBody>
        </p:sp>
        <p:sp>
          <p:nvSpPr>
            <p:cNvPr id="11" name="Rectangle 10">
              <a:extLst>
                <a:ext uri="{FF2B5EF4-FFF2-40B4-BE49-F238E27FC236}">
                  <a16:creationId xmlns:a16="http://schemas.microsoft.com/office/drawing/2014/main" id="{3CA78095-0A25-48F9-9B32-1E9D76A9734D}"/>
                </a:ext>
              </a:extLst>
            </p:cNvPr>
            <p:cNvSpPr/>
            <p:nvPr/>
          </p:nvSpPr>
          <p:spPr bwMode="auto">
            <a:xfrm>
              <a:off x="3357627" y="5333999"/>
              <a:ext cx="636494" cy="663576"/>
            </a:xfrm>
            <a:prstGeom prst="rect">
              <a:avLst/>
            </a:prstGeom>
            <a:solidFill>
              <a:schemeClr val="accent1"/>
            </a:solidFill>
            <a:ln w="9525" cap="flat" cmpd="sng" algn="ctr">
              <a:noFill/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non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eaLnBrk="0" fontAlgn="base" hangingPunct="0">
                <a:spcBef>
                  <a:spcPct val="0"/>
                </a:spcBef>
                <a:spcAft>
                  <a:spcPct val="0"/>
                </a:spcAft>
              </a:pPr>
              <a:endParaRPr lang="en-IN" sz="1600">
                <a:latin typeface="Helvetica" charset="0"/>
              </a:endParaRPr>
            </a:p>
          </p:txBody>
        </p:sp>
      </p:grp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55778" name="Rectangle 2">
            <a:extLst>
              <a:ext uri="{FF2B5EF4-FFF2-40B4-BE49-F238E27FC236}">
                <a16:creationId xmlns:a16="http://schemas.microsoft.com/office/drawing/2014/main" id="{71DBFB25-C332-4E15-B164-4E01F5530593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2292350" y="96838"/>
            <a:ext cx="8077200" cy="609600"/>
          </a:xfrm>
        </p:spPr>
        <p:txBody>
          <a:bodyPr>
            <a:normAutofit fontScale="90000"/>
          </a:bodyPr>
          <a:lstStyle/>
          <a:p>
            <a:pPr>
              <a:defRPr/>
            </a:pPr>
            <a:r>
              <a:rPr lang="en-US" altLang="en-US">
                <a:effectLst>
                  <a:outerShdw blurRad="38100" dist="38100" dir="2700000" algn="tl">
                    <a:srgbClr val="C0C0C0"/>
                  </a:outerShdw>
                </a:effectLst>
              </a:rPr>
              <a:t>Secondary Indices Example</a:t>
            </a:r>
          </a:p>
        </p:txBody>
      </p:sp>
      <p:sp>
        <p:nvSpPr>
          <p:cNvPr id="23555" name="Rectangle 3">
            <a:extLst>
              <a:ext uri="{FF2B5EF4-FFF2-40B4-BE49-F238E27FC236}">
                <a16:creationId xmlns:a16="http://schemas.microsoft.com/office/drawing/2014/main" id="{614B819D-50FE-4933-AE5F-989AA66F7244}"/>
              </a:ext>
            </a:extLst>
          </p:cNvPr>
          <p:cNvSpPr>
            <a:spLocks noGrp="1" noChangeArrowheads="1"/>
          </p:cNvSpPr>
          <p:nvPr>
            <p:ph type="body" sz="half" idx="2"/>
          </p:nvPr>
        </p:nvSpPr>
        <p:spPr>
          <a:xfrm>
            <a:off x="2424114" y="1196950"/>
            <a:ext cx="7686675" cy="4818088"/>
          </a:xfrm>
        </p:spPr>
        <p:txBody>
          <a:bodyPr>
            <a:normAutofit fontScale="70000" lnSpcReduction="20000"/>
          </a:bodyPr>
          <a:lstStyle/>
          <a:p>
            <a:pPr>
              <a:buFont typeface="Wingdings" panose="05000000000000000000" pitchFamily="2" charset="2"/>
              <a:buChar char="§"/>
            </a:pPr>
            <a:r>
              <a:rPr lang="en-US" altLang="en-US" dirty="0"/>
              <a:t>Secondary index on salary field of instructor</a:t>
            </a:r>
          </a:p>
          <a:p>
            <a:pPr>
              <a:buFont typeface="Wingdings" panose="05000000000000000000" pitchFamily="2" charset="2"/>
              <a:buChar char="§"/>
            </a:pPr>
            <a:endParaRPr lang="en-US" altLang="en-US" dirty="0"/>
          </a:p>
          <a:p>
            <a:pPr>
              <a:buFont typeface="Wingdings" panose="05000000000000000000" pitchFamily="2" charset="2"/>
              <a:buChar char="§"/>
            </a:pPr>
            <a:endParaRPr lang="en-US" altLang="en-US" dirty="0"/>
          </a:p>
          <a:p>
            <a:pPr>
              <a:buFont typeface="Wingdings" panose="05000000000000000000" pitchFamily="2" charset="2"/>
              <a:buChar char="§"/>
            </a:pPr>
            <a:endParaRPr lang="en-US" altLang="en-US" dirty="0"/>
          </a:p>
          <a:p>
            <a:pPr>
              <a:buFont typeface="Wingdings" panose="05000000000000000000" pitchFamily="2" charset="2"/>
              <a:buChar char="§"/>
            </a:pPr>
            <a:endParaRPr lang="en-US" altLang="en-US" dirty="0"/>
          </a:p>
          <a:p>
            <a:pPr>
              <a:buFont typeface="Wingdings" panose="05000000000000000000" pitchFamily="2" charset="2"/>
              <a:buChar char="§"/>
            </a:pPr>
            <a:endParaRPr lang="en-US" altLang="en-US" dirty="0"/>
          </a:p>
          <a:p>
            <a:pPr>
              <a:buFont typeface="Wingdings" panose="05000000000000000000" pitchFamily="2" charset="2"/>
              <a:buChar char="§"/>
            </a:pPr>
            <a:endParaRPr lang="en-US" altLang="en-US" dirty="0"/>
          </a:p>
          <a:p>
            <a:pPr>
              <a:buFont typeface="Wingdings" panose="05000000000000000000" pitchFamily="2" charset="2"/>
              <a:buChar char="§"/>
            </a:pPr>
            <a:endParaRPr lang="en-US" altLang="en-US" dirty="0"/>
          </a:p>
          <a:p>
            <a:pPr>
              <a:buFont typeface="Wingdings" panose="05000000000000000000" pitchFamily="2" charset="2"/>
              <a:buChar char="§"/>
            </a:pPr>
            <a:endParaRPr lang="en-US" altLang="en-US" dirty="0"/>
          </a:p>
          <a:p>
            <a:pPr>
              <a:buFont typeface="Wingdings" panose="05000000000000000000" pitchFamily="2" charset="2"/>
              <a:buChar char="§"/>
            </a:pPr>
            <a:endParaRPr lang="en-US" altLang="en-US" dirty="0"/>
          </a:p>
          <a:p>
            <a:pPr marL="0" indent="0">
              <a:buNone/>
            </a:pPr>
            <a:endParaRPr lang="en-US" altLang="en-US" dirty="0"/>
          </a:p>
          <a:p>
            <a:pPr>
              <a:buFont typeface="Wingdings" panose="05000000000000000000" pitchFamily="2" charset="2"/>
              <a:buChar char="§"/>
            </a:pPr>
            <a:r>
              <a:rPr lang="en-US" altLang="en-US" dirty="0"/>
              <a:t>Index record points to a bucket that contains pointers to all the actual records with that particular search-key value.</a:t>
            </a:r>
          </a:p>
          <a:p>
            <a:pPr>
              <a:buFont typeface="Wingdings" panose="05000000000000000000" pitchFamily="2" charset="2"/>
              <a:buChar char="§"/>
            </a:pPr>
            <a:r>
              <a:rPr lang="en-US" altLang="en-US" dirty="0"/>
              <a:t>Secondary indices have to be dense</a:t>
            </a:r>
          </a:p>
        </p:txBody>
      </p:sp>
      <p:pic>
        <p:nvPicPr>
          <p:cNvPr id="23557" name="Picture 7">
            <a:extLst>
              <a:ext uri="{FF2B5EF4-FFF2-40B4-BE49-F238E27FC236}">
                <a16:creationId xmlns:a16="http://schemas.microsoft.com/office/drawing/2014/main" id="{676DB81F-D9AB-4AD6-84B4-BF691501F92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167059" y="1700205"/>
            <a:ext cx="6553190" cy="321468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3828355010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45538" name="Rectangle 2">
            <a:extLst>
              <a:ext uri="{FF2B5EF4-FFF2-40B4-BE49-F238E27FC236}">
                <a16:creationId xmlns:a16="http://schemas.microsoft.com/office/drawing/2014/main" id="{DF94CC11-5F95-4840-A50B-BD3BEEFCB130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115186" y="-65295"/>
            <a:ext cx="10515600" cy="1325563"/>
          </a:xfrm>
        </p:spPr>
        <p:txBody>
          <a:bodyPr/>
          <a:lstStyle/>
          <a:p>
            <a:pPr>
              <a:defRPr/>
            </a:pPr>
            <a:r>
              <a:rPr lang="en-US" altLang="en-US" dirty="0">
                <a:effectLst>
                  <a:outerShdw blurRad="38100" dist="38100" dir="2700000" algn="tl">
                    <a:srgbClr val="C0C0C0"/>
                  </a:outerShdw>
                </a:effectLst>
              </a:rPr>
              <a:t>Multilevel Index</a:t>
            </a:r>
          </a:p>
        </p:txBody>
      </p:sp>
      <p:sp>
        <p:nvSpPr>
          <p:cNvPr id="1345539" name="Rectangle 3">
            <a:extLst>
              <a:ext uri="{FF2B5EF4-FFF2-40B4-BE49-F238E27FC236}">
                <a16:creationId xmlns:a16="http://schemas.microsoft.com/office/drawing/2014/main" id="{B96E43A7-D9BD-4C17-BB74-FEBE960D6173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339583" y="1260268"/>
            <a:ext cx="7696724" cy="5117052"/>
          </a:xfrm>
        </p:spPr>
        <p:txBody>
          <a:bodyPr/>
          <a:lstStyle/>
          <a:p>
            <a:r>
              <a:rPr lang="en-US" altLang="en-US" sz="2000" dirty="0"/>
              <a:t>If index does not fit in memory, access becomes expensive.</a:t>
            </a:r>
          </a:p>
          <a:p>
            <a:r>
              <a:rPr lang="en-US" altLang="en-US" sz="2000" dirty="0"/>
              <a:t>Solution: treat index kept on disk as a sequential file and construct a sparse index on it.</a:t>
            </a:r>
          </a:p>
          <a:p>
            <a:pPr lvl="1"/>
            <a:r>
              <a:rPr lang="en-US" altLang="en-US" sz="2000" dirty="0"/>
              <a:t>outer index – a sparse index of the basic index</a:t>
            </a:r>
          </a:p>
          <a:p>
            <a:pPr lvl="1"/>
            <a:r>
              <a:rPr lang="en-US" altLang="en-US" sz="2000" dirty="0"/>
              <a:t>inner index – the basic index file</a:t>
            </a:r>
          </a:p>
          <a:p>
            <a:r>
              <a:rPr lang="en-US" altLang="en-US" sz="2000" dirty="0"/>
              <a:t>If even outer index is too large to fit in main memory, yet another level of index can be created, and so on.</a:t>
            </a:r>
          </a:p>
          <a:p>
            <a:r>
              <a:rPr lang="en-US" altLang="en-US" sz="2000" dirty="0"/>
              <a:t>Indices at all levels must be updated on insertion or deletion from the file.</a:t>
            </a: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87CB6F6F-5DB3-FE59-765E-652D2C0448C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733032" y="1467260"/>
            <a:ext cx="4108368" cy="3961989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4553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 nodeType="clickPar">
                      <p:stCondLst>
                        <p:cond delay="indefinite"/>
                      </p:stCondLst>
                      <p:childTnLst>
                        <p:par>
                          <p:cTn id="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4553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4553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4553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45539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45539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45539" grpId="0" build="p"/>
    </p:bldLst>
  </p:timing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2C9A565-DCA5-0E57-A33A-567CEFD0D5E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B-Tree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78A3ACC-37DD-2808-67DC-1CB12CD2CDD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IN" dirty="0"/>
              <a:t> </a:t>
            </a:r>
            <a:r>
              <a:rPr lang="en-IN" b="1" dirty="0"/>
              <a:t>B-tree</a:t>
            </a:r>
            <a:r>
              <a:rPr lang="en-IN" dirty="0"/>
              <a:t> is a self-balancing tree that maintains sorted data and allows searches, sequential access, insertions, and deletions in </a:t>
            </a:r>
            <a:r>
              <a:rPr lang="en-IN" dirty="0">
                <a:hlinkClick r:id="rId2" tooltip="Logarithmic time"/>
              </a:rPr>
              <a:t>logarithmic time</a:t>
            </a:r>
            <a:r>
              <a:rPr lang="en-IN" dirty="0"/>
              <a:t> </a:t>
            </a:r>
          </a:p>
          <a:p>
            <a:endParaRPr lang="en-IN" dirty="0"/>
          </a:p>
          <a:p>
            <a:endParaRPr lang="en-US" dirty="0"/>
          </a:p>
        </p:txBody>
      </p:sp>
      <p:pic>
        <p:nvPicPr>
          <p:cNvPr id="5" name="Picture 4" descr="A blue and white rectangular sign with black arrows and numbers&#10;&#10;AI-generated content may be incorrect.">
            <a:extLst>
              <a:ext uri="{FF2B5EF4-FFF2-40B4-BE49-F238E27FC236}">
                <a16:creationId xmlns:a16="http://schemas.microsoft.com/office/drawing/2014/main" id="{A8BE7147-D110-EAE0-A0B0-E4BF765A569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812016" y="3515390"/>
            <a:ext cx="6993563" cy="199572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39155698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59874" name="Rectangle 2">
            <a:extLst>
              <a:ext uri="{FF2B5EF4-FFF2-40B4-BE49-F238E27FC236}">
                <a16:creationId xmlns:a16="http://schemas.microsoft.com/office/drawing/2014/main" id="{DEFA663B-A102-4E3E-8A2F-E81DCB5BED3C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317205" y="-10510"/>
            <a:ext cx="10515600" cy="1325563"/>
          </a:xfrm>
        </p:spPr>
        <p:txBody>
          <a:bodyPr/>
          <a:lstStyle/>
          <a:p>
            <a:pPr>
              <a:defRPr/>
            </a:pPr>
            <a:r>
              <a:rPr lang="en-US" altLang="en-US" dirty="0">
                <a:effectLst>
                  <a:outerShdw blurRad="38100" dist="38100" dir="2700000" algn="tl">
                    <a:srgbClr val="C0C0C0"/>
                  </a:outerShdw>
                </a:effectLst>
              </a:rPr>
              <a:t>B</a:t>
            </a:r>
            <a:r>
              <a:rPr lang="en-US" altLang="en-US" baseline="30000" dirty="0">
                <a:effectLst>
                  <a:outerShdw blurRad="38100" dist="38100" dir="2700000" algn="tl">
                    <a:srgbClr val="C0C0C0"/>
                  </a:outerShdw>
                </a:effectLst>
              </a:rPr>
              <a:t>+</a:t>
            </a:r>
            <a:r>
              <a:rPr lang="en-US" altLang="en-US" dirty="0">
                <a:effectLst>
                  <a:outerShdw blurRad="38100" dist="38100" dir="2700000" algn="tl">
                    <a:srgbClr val="C0C0C0"/>
                  </a:outerShdw>
                </a:effectLst>
              </a:rPr>
              <a:t>-Tree Index Files</a:t>
            </a:r>
          </a:p>
        </p:txBody>
      </p:sp>
      <p:sp>
        <p:nvSpPr>
          <p:cNvPr id="37891" name="Rectangle 3">
            <a:extLst>
              <a:ext uri="{FF2B5EF4-FFF2-40B4-BE49-F238E27FC236}">
                <a16:creationId xmlns:a16="http://schemas.microsoft.com/office/drawing/2014/main" id="{22162B0D-B51D-446C-A191-D7BE1B40440C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1213104" y="1060928"/>
            <a:ext cx="9765792" cy="5144800"/>
          </a:xfrm>
        </p:spPr>
        <p:txBody>
          <a:bodyPr>
            <a:normAutofit fontScale="92500" lnSpcReduction="10000"/>
          </a:bodyPr>
          <a:lstStyle/>
          <a:p>
            <a:pPr>
              <a:lnSpc>
                <a:spcPct val="90000"/>
              </a:lnSpc>
            </a:pPr>
            <a:r>
              <a:rPr lang="en-US" altLang="en-US" dirty="0"/>
              <a:t> </a:t>
            </a:r>
            <a:r>
              <a:rPr lang="en-IN" dirty="0"/>
              <a:t>A </a:t>
            </a:r>
            <a:r>
              <a:rPr lang="en-IN" b="1" dirty="0"/>
              <a:t>B+ Tree</a:t>
            </a:r>
            <a:r>
              <a:rPr lang="en-IN" dirty="0"/>
              <a:t> is a self-balancing </a:t>
            </a:r>
            <a:r>
              <a:rPr lang="en-IN" b="1" dirty="0"/>
              <a:t>multi-level index</a:t>
            </a:r>
            <a:r>
              <a:rPr lang="en-IN" dirty="0"/>
              <a:t> tree structure used in </a:t>
            </a:r>
            <a:r>
              <a:rPr lang="en-IN" b="1" dirty="0"/>
              <a:t>database indexing</a:t>
            </a:r>
            <a:r>
              <a:rPr lang="en-IN" dirty="0"/>
              <a:t> and </a:t>
            </a:r>
            <a:r>
              <a:rPr lang="en-IN" b="1" dirty="0"/>
              <a:t>file systems</a:t>
            </a:r>
            <a:r>
              <a:rPr lang="en-IN" dirty="0"/>
              <a:t>.</a:t>
            </a:r>
          </a:p>
          <a:p>
            <a:pPr>
              <a:buFont typeface="Arial" panose="020B0604020202020204" pitchFamily="34" charset="0"/>
              <a:buChar char="•"/>
            </a:pPr>
            <a:endParaRPr lang="en-IN" b="1" dirty="0"/>
          </a:p>
          <a:p>
            <a:pPr>
              <a:buFont typeface="Arial" panose="020B0604020202020204" pitchFamily="34" charset="0"/>
              <a:buChar char="•"/>
            </a:pPr>
            <a:r>
              <a:rPr lang="en-IN" b="1" dirty="0"/>
              <a:t>Purpose</a:t>
            </a:r>
            <a:r>
              <a:rPr lang="en-IN" dirty="0"/>
              <a:t>: Helps in </a:t>
            </a:r>
            <a:r>
              <a:rPr lang="en-IN" b="1" dirty="0"/>
              <a:t>fast searching, insertion, deletion</a:t>
            </a:r>
            <a:r>
              <a:rPr lang="en-IN" dirty="0"/>
              <a:t>, and efficient </a:t>
            </a:r>
            <a:r>
              <a:rPr lang="en-IN" b="1" dirty="0"/>
              <a:t>range queries</a:t>
            </a:r>
            <a:r>
              <a:rPr lang="en-IN" dirty="0"/>
              <a:t>.</a:t>
            </a:r>
          </a:p>
          <a:p>
            <a:pPr>
              <a:lnSpc>
                <a:spcPct val="90000"/>
              </a:lnSpc>
            </a:pPr>
            <a:endParaRPr lang="en-US" altLang="en-US" dirty="0"/>
          </a:p>
          <a:p>
            <a:r>
              <a:rPr lang="en-IN" dirty="0"/>
              <a:t>In the </a:t>
            </a:r>
            <a:r>
              <a:rPr lang="en-IN" dirty="0">
                <a:hlinkClick r:id="rId3" tooltip="B+ tree"/>
              </a:rPr>
              <a:t>B+ tree</a:t>
            </a:r>
            <a:r>
              <a:rPr lang="en-IN" dirty="0"/>
              <a:t>, the internal nodes do not store any pointers to records</a:t>
            </a:r>
          </a:p>
          <a:p>
            <a:r>
              <a:rPr lang="en-IN" dirty="0"/>
              <a:t> Overall fewer pointers - each node can hold more keys -  the trees are shallower and thus faster to search.</a:t>
            </a:r>
          </a:p>
          <a:p>
            <a:r>
              <a:rPr lang="en-IN" dirty="0"/>
              <a:t>All pointers to records are stored in the leaf nodes</a:t>
            </a:r>
          </a:p>
          <a:p>
            <a:pPr lvl="1"/>
            <a:r>
              <a:rPr lang="en-IN" dirty="0"/>
              <a:t>In addition, a leaf node may include a pointer to the next leaf node to speed up sequential access</a:t>
            </a:r>
          </a:p>
        </p:txBody>
      </p:sp>
    </p:spTree>
  </p:cSld>
  <p:clrMapOvr>
    <a:masterClrMapping/>
  </p:clrMapOvr>
  <p:transition spd="slow"/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7532993-119A-C68D-5635-960F2679496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Structure of a B+ Tree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4D8A2D1-094E-E0B4-3F0C-CC6FD4BB6A3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buNone/>
            </a:pPr>
            <a:r>
              <a:rPr lang="en-IN" b="1" dirty="0"/>
              <a:t>Properties</a:t>
            </a:r>
            <a:r>
              <a:rPr lang="en-IN" dirty="0"/>
              <a:t>:</a:t>
            </a:r>
          </a:p>
          <a:p>
            <a:pPr>
              <a:buFont typeface="+mj-lt"/>
              <a:buAutoNum type="arabicPeriod"/>
            </a:pPr>
            <a:r>
              <a:rPr lang="en-IN" b="1" dirty="0"/>
              <a:t>Order (d)</a:t>
            </a:r>
            <a:r>
              <a:rPr lang="en-IN" dirty="0"/>
              <a:t>: Maximum number of children per node = </a:t>
            </a:r>
            <a:r>
              <a:rPr lang="en-IN" b="1" dirty="0"/>
              <a:t>d</a:t>
            </a:r>
            <a:r>
              <a:rPr lang="en-IN" dirty="0"/>
              <a:t>.</a:t>
            </a:r>
          </a:p>
          <a:p>
            <a:pPr>
              <a:buFont typeface="+mj-lt"/>
              <a:buAutoNum type="arabicPeriod"/>
            </a:pPr>
            <a:r>
              <a:rPr lang="en-IN" b="1" dirty="0"/>
              <a:t>Balanced Structure</a:t>
            </a:r>
            <a:r>
              <a:rPr lang="en-IN" dirty="0"/>
              <a:t>: All </a:t>
            </a:r>
            <a:r>
              <a:rPr lang="en-IN" b="1" dirty="0"/>
              <a:t>leaf nodes</a:t>
            </a:r>
            <a:r>
              <a:rPr lang="en-IN" dirty="0"/>
              <a:t> are at the </a:t>
            </a:r>
            <a:r>
              <a:rPr lang="en-IN" b="1" dirty="0"/>
              <a:t>same level</a:t>
            </a:r>
            <a:r>
              <a:rPr lang="en-IN" dirty="0"/>
              <a:t>.</a:t>
            </a:r>
          </a:p>
          <a:p>
            <a:pPr>
              <a:buFont typeface="+mj-lt"/>
              <a:buAutoNum type="arabicPeriod"/>
            </a:pPr>
            <a:r>
              <a:rPr lang="en-IN" b="1" dirty="0"/>
              <a:t>Internal Nodes</a:t>
            </a:r>
            <a:r>
              <a:rPr lang="en-IN" dirty="0"/>
              <a:t>: Store </a:t>
            </a:r>
            <a:r>
              <a:rPr lang="en-IN" b="1" dirty="0"/>
              <a:t>keys</a:t>
            </a:r>
            <a:r>
              <a:rPr lang="en-IN" dirty="0"/>
              <a:t> but no actual data.</a:t>
            </a:r>
          </a:p>
          <a:p>
            <a:pPr>
              <a:buFont typeface="+mj-lt"/>
              <a:buAutoNum type="arabicPeriod"/>
            </a:pPr>
            <a:r>
              <a:rPr lang="en-IN" b="1" dirty="0"/>
              <a:t>Leaf Nodes</a:t>
            </a:r>
            <a:r>
              <a:rPr lang="en-IN" dirty="0"/>
              <a:t>: </a:t>
            </a:r>
          </a:p>
          <a:p>
            <a:pPr marL="742950" lvl="1" indent="-285750">
              <a:buFont typeface="+mj-lt"/>
              <a:buAutoNum type="arabicPeriod"/>
            </a:pPr>
            <a:r>
              <a:rPr lang="en-IN" dirty="0"/>
              <a:t>Store </a:t>
            </a:r>
            <a:r>
              <a:rPr lang="en-IN" b="1" dirty="0"/>
              <a:t>actual records (or pointers)</a:t>
            </a:r>
            <a:r>
              <a:rPr lang="en-IN" dirty="0"/>
              <a:t>.</a:t>
            </a:r>
          </a:p>
          <a:p>
            <a:pPr marL="742950" lvl="1" indent="-285750">
              <a:buFont typeface="+mj-lt"/>
              <a:buAutoNum type="arabicPeriod"/>
            </a:pPr>
            <a:r>
              <a:rPr lang="en-IN" dirty="0"/>
              <a:t>Connected as a </a:t>
            </a:r>
            <a:r>
              <a:rPr lang="en-IN" b="1" dirty="0"/>
              <a:t>linked list</a:t>
            </a:r>
            <a:r>
              <a:rPr lang="en-IN" dirty="0"/>
              <a:t> (useful for range queries).</a:t>
            </a:r>
          </a:p>
          <a:p>
            <a:pPr>
              <a:buFont typeface="+mj-lt"/>
              <a:buAutoNum type="arabicPeriod"/>
            </a:pPr>
            <a:r>
              <a:rPr lang="en-IN" b="1" dirty="0"/>
              <a:t>Root Node</a:t>
            </a:r>
            <a:r>
              <a:rPr lang="en-IN" dirty="0"/>
              <a:t>: Can have </a:t>
            </a:r>
            <a:r>
              <a:rPr lang="en-IN" b="1" dirty="0"/>
              <a:t>2 to d</a:t>
            </a:r>
            <a:r>
              <a:rPr lang="en-IN" dirty="0"/>
              <a:t> children (except for the first root).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342918590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61922" name="Rectangle 2">
            <a:extLst>
              <a:ext uri="{FF2B5EF4-FFF2-40B4-BE49-F238E27FC236}">
                <a16:creationId xmlns:a16="http://schemas.microsoft.com/office/drawing/2014/main" id="{07CFB251-EA2C-47DA-B685-A75D8DCDB4A1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>
              <a:defRPr/>
            </a:pPr>
            <a:r>
              <a:rPr lang="en-US" altLang="en-US">
                <a:effectLst>
                  <a:outerShdw blurRad="38100" dist="38100" dir="2700000" algn="tl">
                    <a:srgbClr val="C0C0C0"/>
                  </a:outerShdw>
                </a:effectLst>
              </a:rPr>
              <a:t>B</a:t>
            </a:r>
            <a:r>
              <a:rPr lang="en-US" altLang="en-US" baseline="30000">
                <a:effectLst>
                  <a:outerShdw blurRad="38100" dist="38100" dir="2700000" algn="tl">
                    <a:srgbClr val="C0C0C0"/>
                  </a:outerShdw>
                </a:effectLst>
              </a:rPr>
              <a:t>+</a:t>
            </a:r>
            <a:r>
              <a:rPr lang="en-US" altLang="en-US">
                <a:effectLst>
                  <a:outerShdw blurRad="38100" dist="38100" dir="2700000" algn="tl">
                    <a:srgbClr val="C0C0C0"/>
                  </a:outerShdw>
                </a:effectLst>
              </a:rPr>
              <a:t>-Tree Index Files (Cont.)</a:t>
            </a:r>
          </a:p>
        </p:txBody>
      </p:sp>
      <p:sp>
        <p:nvSpPr>
          <p:cNvPr id="40963" name="Rectangle 3">
            <a:extLst>
              <a:ext uri="{FF2B5EF4-FFF2-40B4-BE49-F238E27FC236}">
                <a16:creationId xmlns:a16="http://schemas.microsoft.com/office/drawing/2014/main" id="{FD53499C-F106-46F2-BF14-D21BEF327FB2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957574" y="2456121"/>
            <a:ext cx="9122091" cy="3446843"/>
          </a:xfrm>
        </p:spPr>
        <p:txBody>
          <a:bodyPr>
            <a:normAutofit lnSpcReduction="10000"/>
          </a:bodyPr>
          <a:lstStyle/>
          <a:p>
            <a:r>
              <a:rPr lang="en-US" altLang="en-US" dirty="0"/>
              <a:t>All paths from root to leaf are of the same length</a:t>
            </a:r>
          </a:p>
          <a:p>
            <a:r>
              <a:rPr lang="en-US" altLang="en-US" dirty="0"/>
              <a:t>Each node that is not a root or a leaf has between </a:t>
            </a:r>
            <a:r>
              <a:rPr lang="en-US" altLang="en-US" dirty="0">
                <a:sym typeface="Symbol" panose="05050102010706020507" pitchFamily="18" charset="2"/>
              </a:rPr>
              <a:t></a:t>
            </a:r>
            <a:r>
              <a:rPr lang="en-US" altLang="en-US" i="1" dirty="0"/>
              <a:t>n</a:t>
            </a:r>
            <a:r>
              <a:rPr lang="en-US" altLang="en-US" dirty="0"/>
              <a:t>/2</a:t>
            </a:r>
            <a:r>
              <a:rPr lang="en-US" altLang="en-US" dirty="0">
                <a:sym typeface="Symbol" panose="05050102010706020507" pitchFamily="18" charset="2"/>
              </a:rPr>
              <a:t></a:t>
            </a:r>
            <a:r>
              <a:rPr lang="en-US" altLang="en-US" dirty="0"/>
              <a:t> and </a:t>
            </a:r>
            <a:r>
              <a:rPr lang="en-US" altLang="en-US" i="1" dirty="0"/>
              <a:t>n</a:t>
            </a:r>
            <a:r>
              <a:rPr lang="en-US" altLang="en-US" dirty="0"/>
              <a:t> children –</a:t>
            </a:r>
            <a:r>
              <a:rPr lang="en-US" altLang="en-US" b="1" i="1" dirty="0"/>
              <a:t> Order d can be defined</a:t>
            </a:r>
          </a:p>
          <a:p>
            <a:r>
              <a:rPr lang="en-US" altLang="en-US" dirty="0"/>
              <a:t>A leaf node has between </a:t>
            </a:r>
            <a:r>
              <a:rPr lang="en-US" altLang="en-US" dirty="0">
                <a:sym typeface="Symbol" panose="05050102010706020507" pitchFamily="18" charset="2"/>
              </a:rPr>
              <a:t></a:t>
            </a:r>
            <a:r>
              <a:rPr lang="en-US" altLang="en-US" dirty="0"/>
              <a:t>(</a:t>
            </a:r>
            <a:r>
              <a:rPr lang="en-US" altLang="en-US" i="1" dirty="0"/>
              <a:t>n</a:t>
            </a:r>
            <a:r>
              <a:rPr lang="en-US" altLang="en-US" dirty="0"/>
              <a:t>–1)/2</a:t>
            </a:r>
            <a:r>
              <a:rPr lang="en-US" altLang="en-US" dirty="0">
                <a:sym typeface="Symbol" panose="05050102010706020507" pitchFamily="18" charset="2"/>
              </a:rPr>
              <a:t></a:t>
            </a:r>
            <a:r>
              <a:rPr lang="en-US" altLang="en-US" dirty="0"/>
              <a:t> and </a:t>
            </a:r>
            <a:r>
              <a:rPr lang="en-US" altLang="en-US" i="1" dirty="0"/>
              <a:t>n</a:t>
            </a:r>
            <a:r>
              <a:rPr lang="en-US" altLang="en-US" dirty="0"/>
              <a:t>–1 values</a:t>
            </a:r>
          </a:p>
          <a:p>
            <a:r>
              <a:rPr lang="en-US" altLang="en-US" dirty="0"/>
              <a:t>Special cases: </a:t>
            </a:r>
          </a:p>
          <a:p>
            <a:pPr lvl="1"/>
            <a:r>
              <a:rPr lang="en-US" altLang="en-US" dirty="0"/>
              <a:t>If the root is not a leaf, it has at least 2 children.</a:t>
            </a:r>
          </a:p>
          <a:p>
            <a:pPr lvl="1"/>
            <a:r>
              <a:rPr lang="en-US" altLang="en-US" dirty="0"/>
              <a:t>If the root is a leaf (that is, there are no other nodes in the tree), it can have between 0 and (</a:t>
            </a:r>
            <a:r>
              <a:rPr lang="en-US" altLang="en-US" i="1" dirty="0"/>
              <a:t>n</a:t>
            </a:r>
            <a:r>
              <a:rPr lang="en-US" altLang="en-US" dirty="0"/>
              <a:t>–1) values.</a:t>
            </a:r>
          </a:p>
        </p:txBody>
      </p:sp>
      <p:sp>
        <p:nvSpPr>
          <p:cNvPr id="40964" name="Text Box 4">
            <a:extLst>
              <a:ext uri="{FF2B5EF4-FFF2-40B4-BE49-F238E27FC236}">
                <a16:creationId xmlns:a16="http://schemas.microsoft.com/office/drawing/2014/main" id="{50EC1053-5CAA-4B1C-B11A-D206AA5195D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895150" y="1711524"/>
            <a:ext cx="7246937" cy="40011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anchor="ctr">
            <a:spAutoFit/>
          </a:bodyPr>
          <a:lstStyle>
            <a:lvl1pPr>
              <a:spcBef>
                <a:spcPct val="35000"/>
              </a:spcBef>
              <a:buClr>
                <a:schemeClr val="tx2"/>
              </a:buClr>
              <a:buSzPct val="90000"/>
              <a:buFont typeface="Monotype Sorts" pitchFamily="-65" charset="2"/>
              <a:buChar char="n"/>
              <a:defRPr kumimoji="1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35000"/>
              </a:spcBef>
              <a:buClr>
                <a:schemeClr val="folHlink"/>
              </a:buClr>
              <a:buSzPct val="80000"/>
              <a:buFont typeface="Monotype Sorts" pitchFamily="-65" charset="2"/>
              <a:buChar char="l"/>
              <a:defRPr kumimoji="1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35000"/>
              </a:spcBef>
              <a:buClr>
                <a:srgbClr val="33CC33"/>
              </a:buClr>
              <a:buSzPct val="75000"/>
              <a:buFont typeface="Webdings" panose="05030102010509060703" pitchFamily="18" charset="2"/>
              <a:buChar char="4"/>
              <a:defRPr kumimoji="1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35000"/>
              </a:spcBef>
              <a:buClr>
                <a:schemeClr val="hlink"/>
              </a:buClr>
              <a:buFont typeface="Times New Roman" panose="02020603050405020304" pitchFamily="18" charset="0"/>
              <a:buChar char="–"/>
              <a:defRPr kumimoji="1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35000"/>
              </a:spcBef>
              <a:buClr>
                <a:schemeClr val="tx2"/>
              </a:buClr>
              <a:buSzPct val="75000"/>
              <a:buChar char="»"/>
              <a:defRPr kumimoji="1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35000"/>
              </a:spcBef>
              <a:spcAft>
                <a:spcPct val="0"/>
              </a:spcAft>
              <a:buClr>
                <a:schemeClr val="tx2"/>
              </a:buClr>
              <a:buSzPct val="75000"/>
              <a:buChar char="»"/>
              <a:defRPr kumimoji="1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35000"/>
              </a:spcBef>
              <a:spcAft>
                <a:spcPct val="0"/>
              </a:spcAft>
              <a:buClr>
                <a:schemeClr val="tx2"/>
              </a:buClr>
              <a:buSzPct val="75000"/>
              <a:buChar char="»"/>
              <a:defRPr kumimoji="1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35000"/>
              </a:spcBef>
              <a:spcAft>
                <a:spcPct val="0"/>
              </a:spcAft>
              <a:buClr>
                <a:schemeClr val="tx2"/>
              </a:buClr>
              <a:buSzPct val="75000"/>
              <a:buChar char="»"/>
              <a:defRPr kumimoji="1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35000"/>
              </a:spcBef>
              <a:spcAft>
                <a:spcPct val="0"/>
              </a:spcAft>
              <a:buClr>
                <a:schemeClr val="tx2"/>
              </a:buClr>
              <a:buSzPct val="75000"/>
              <a:buChar char="»"/>
              <a:defRPr kumimoji="1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>
              <a:spcBef>
                <a:spcPct val="50000"/>
              </a:spcBef>
              <a:buClrTx/>
              <a:buSzTx/>
              <a:buFontTx/>
              <a:buNone/>
            </a:pPr>
            <a:r>
              <a:rPr kumimoji="0" lang="en-US" altLang="en-US" sz="2000" dirty="0"/>
              <a:t>A B</a:t>
            </a:r>
            <a:r>
              <a:rPr kumimoji="0" lang="en-US" altLang="en-US" sz="2000" baseline="30000" dirty="0"/>
              <a:t>+</a:t>
            </a:r>
            <a:r>
              <a:rPr kumimoji="0" lang="en-US" altLang="en-US" sz="2000" dirty="0"/>
              <a:t>-tree is a rooted tree satisfying the following properties:</a:t>
            </a:r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F689EF4-75E1-6E5D-BB98-6EF05CF9D9D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DD92E46-F51D-D6DD-FC9E-918E9E40A5D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IN" dirty="0"/>
              <a:t>Let’s use a B+ tree where:</a:t>
            </a:r>
          </a:p>
          <a:p>
            <a:r>
              <a:rPr lang="en-IN" dirty="0"/>
              <a:t>Each internal node can have up to 3 keys (i.e., up to 4 children)</a:t>
            </a:r>
          </a:p>
          <a:p>
            <a:r>
              <a:rPr lang="en-IN" dirty="0"/>
              <a:t>Each leaf node can have up to 3 keys</a:t>
            </a:r>
          </a:p>
          <a:p>
            <a:pPr marL="2286000" lvl="5" indent="0">
              <a:buNone/>
            </a:pPr>
            <a:r>
              <a:rPr lang="en-IN" dirty="0"/>
              <a:t> [ 6 | 12 | 21 ]  </a:t>
            </a:r>
          </a:p>
          <a:p>
            <a:pPr marL="2286000" lvl="5" indent="0">
              <a:buNone/>
            </a:pPr>
            <a:br>
              <a:rPr lang="en-IN" dirty="0"/>
            </a:br>
            <a:r>
              <a:rPr lang="en-IN" dirty="0"/>
              <a:t> 				  </a:t>
            </a:r>
          </a:p>
          <a:p>
            <a:pPr marL="457200" lvl="1" indent="0">
              <a:buNone/>
            </a:pPr>
            <a:r>
              <a:rPr lang="en-IN" dirty="0"/>
              <a:t>[1, 2, 5]		 [6, 7, 9] 	[12, 16, 18] 	[21] ↔ ↔ ↔</a:t>
            </a:r>
          </a:p>
          <a:p>
            <a:r>
              <a:rPr lang="en-IN" dirty="0"/>
              <a:t> </a:t>
            </a:r>
          </a:p>
          <a:p>
            <a:endParaRPr lang="en-US" dirty="0"/>
          </a:p>
        </p:txBody>
      </p: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A5718151-6998-98DB-EAC2-F7C8F53DA24E}"/>
              </a:ext>
            </a:extLst>
          </p:cNvPr>
          <p:cNvCxnSpPr>
            <a:cxnSpLocks/>
          </p:cNvCxnSpPr>
          <p:nvPr/>
        </p:nvCxnSpPr>
        <p:spPr>
          <a:xfrm flipH="1">
            <a:off x="1467293" y="3646967"/>
            <a:ext cx="1765005" cy="584791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C1E9C276-B02B-D1A9-3D90-E5196BF94F9F}"/>
              </a:ext>
            </a:extLst>
          </p:cNvPr>
          <p:cNvCxnSpPr>
            <a:cxnSpLocks/>
          </p:cNvCxnSpPr>
          <p:nvPr/>
        </p:nvCxnSpPr>
        <p:spPr>
          <a:xfrm>
            <a:off x="3561907" y="3593805"/>
            <a:ext cx="616688" cy="531628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7D6D8678-9F3B-0F51-3BE2-548E6F3F1185}"/>
              </a:ext>
            </a:extLst>
          </p:cNvPr>
          <p:cNvCxnSpPr>
            <a:cxnSpLocks/>
          </p:cNvCxnSpPr>
          <p:nvPr/>
        </p:nvCxnSpPr>
        <p:spPr>
          <a:xfrm>
            <a:off x="4043917" y="3646967"/>
            <a:ext cx="1474381" cy="584791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" name="Straight Connector 16">
            <a:extLst>
              <a:ext uri="{FF2B5EF4-FFF2-40B4-BE49-F238E27FC236}">
                <a16:creationId xmlns:a16="http://schemas.microsoft.com/office/drawing/2014/main" id="{442B3A67-2560-1FA8-8641-C087AB61F3CA}"/>
              </a:ext>
            </a:extLst>
          </p:cNvPr>
          <p:cNvCxnSpPr>
            <a:cxnSpLocks/>
          </p:cNvCxnSpPr>
          <p:nvPr/>
        </p:nvCxnSpPr>
        <p:spPr>
          <a:xfrm>
            <a:off x="4401879" y="3519377"/>
            <a:ext cx="3009014" cy="712381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320627984"/>
      </p:ext>
    </p:extLst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938" name="Rectangle 2">
            <a:extLst>
              <a:ext uri="{FF2B5EF4-FFF2-40B4-BE49-F238E27FC236}">
                <a16:creationId xmlns:a16="http://schemas.microsoft.com/office/drawing/2014/main" id="{72A0A4B5-93E8-4A46-9ABB-B723A76A3787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r>
              <a:rPr lang="en-US" altLang="en-US">
                <a:effectLst/>
              </a:rPr>
              <a:t>Example of B</a:t>
            </a:r>
            <a:r>
              <a:rPr lang="en-US" altLang="en-US" baseline="30000">
                <a:effectLst/>
              </a:rPr>
              <a:t>+</a:t>
            </a:r>
            <a:r>
              <a:rPr lang="en-US" altLang="en-US">
                <a:effectLst/>
              </a:rPr>
              <a:t>-Tree</a:t>
            </a:r>
          </a:p>
        </p:txBody>
      </p:sp>
      <p:cxnSp>
        <p:nvCxnSpPr>
          <p:cNvPr id="39939" name="Straight Connector 2">
            <a:extLst>
              <a:ext uri="{FF2B5EF4-FFF2-40B4-BE49-F238E27FC236}">
                <a16:creationId xmlns:a16="http://schemas.microsoft.com/office/drawing/2014/main" id="{BC2EC05F-0D0B-4482-9874-0FF50420CFF4}"/>
              </a:ext>
            </a:extLst>
          </p:cNvPr>
          <p:cNvCxnSpPr>
            <a:cxnSpLocks noChangeShapeType="1"/>
          </p:cNvCxnSpPr>
          <p:nvPr/>
        </p:nvCxnSpPr>
        <p:spPr bwMode="auto">
          <a:xfrm flipH="1">
            <a:off x="2790826" y="5692775"/>
            <a:ext cx="468313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39940" name="Straight Connector 4">
            <a:extLst>
              <a:ext uri="{FF2B5EF4-FFF2-40B4-BE49-F238E27FC236}">
                <a16:creationId xmlns:a16="http://schemas.microsoft.com/office/drawing/2014/main" id="{933E215A-0801-419F-B5A4-24B70097A42E}"/>
              </a:ext>
            </a:extLst>
          </p:cNvPr>
          <p:cNvCxnSpPr>
            <a:cxnSpLocks noChangeShapeType="1"/>
          </p:cNvCxnSpPr>
          <p:nvPr/>
        </p:nvCxnSpPr>
        <p:spPr bwMode="auto">
          <a:xfrm flipH="1">
            <a:off x="2794000" y="2995613"/>
            <a:ext cx="19050" cy="268605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grpSp>
        <p:nvGrpSpPr>
          <p:cNvPr id="39941" name="Group 11">
            <a:extLst>
              <a:ext uri="{FF2B5EF4-FFF2-40B4-BE49-F238E27FC236}">
                <a16:creationId xmlns:a16="http://schemas.microsoft.com/office/drawing/2014/main" id="{EF92FA19-AB38-4BA7-99E1-186F98390EB1}"/>
              </a:ext>
            </a:extLst>
          </p:cNvPr>
          <p:cNvGrpSpPr>
            <a:grpSpLocks/>
          </p:cNvGrpSpPr>
          <p:nvPr/>
        </p:nvGrpSpPr>
        <p:grpSpPr bwMode="auto">
          <a:xfrm>
            <a:off x="1543369" y="1165224"/>
            <a:ext cx="8891587" cy="5030787"/>
            <a:chOff x="141288" y="1176338"/>
            <a:chExt cx="8891587" cy="5030787"/>
          </a:xfrm>
        </p:grpSpPr>
        <p:pic>
          <p:nvPicPr>
            <p:cNvPr id="39942" name="Picture 5">
              <a:extLst>
                <a:ext uri="{FF2B5EF4-FFF2-40B4-BE49-F238E27FC236}">
                  <a16:creationId xmlns:a16="http://schemas.microsoft.com/office/drawing/2014/main" id="{D1B731C9-62E9-453D-8BC8-11CED13F889D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141288" y="1176338"/>
              <a:ext cx="8891587" cy="503078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39943" name="Rectangle 10">
              <a:extLst>
                <a:ext uri="{FF2B5EF4-FFF2-40B4-BE49-F238E27FC236}">
                  <a16:creationId xmlns:a16="http://schemas.microsoft.com/office/drawing/2014/main" id="{DB162ECD-DB94-4A27-B11D-FEFC23CCB71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684609" y="3051960"/>
              <a:ext cx="64794" cy="2241992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/>
            <a:lstStyle>
              <a:lvl1pPr>
                <a:spcBef>
                  <a:spcPct val="35000"/>
                </a:spcBef>
                <a:buClr>
                  <a:schemeClr val="tx2"/>
                </a:buClr>
                <a:buSzPct val="90000"/>
                <a:buFont typeface="Monotype Sorts" pitchFamily="-65" charset="2"/>
                <a:buChar char="n"/>
                <a:defRPr kumimoji="1">
                  <a:solidFill>
                    <a:schemeClr val="tx1"/>
                  </a:solidFill>
                  <a:latin typeface="Helvetica" panose="020B0604020202020204" pitchFamily="34" charset="0"/>
                  <a:ea typeface="MS PGothic" panose="020B0600070205080204" pitchFamily="34" charset="-128"/>
                </a:defRPr>
              </a:lvl1pPr>
              <a:lvl2pPr marL="742950" indent="-285750">
                <a:spcBef>
                  <a:spcPct val="35000"/>
                </a:spcBef>
                <a:buClr>
                  <a:schemeClr val="folHlink"/>
                </a:buClr>
                <a:buSzPct val="80000"/>
                <a:buFont typeface="Monotype Sorts" pitchFamily="-65" charset="2"/>
                <a:buChar char="l"/>
                <a:defRPr kumimoji="1">
                  <a:solidFill>
                    <a:schemeClr val="tx1"/>
                  </a:solidFill>
                  <a:latin typeface="Helvetica" panose="020B0604020202020204" pitchFamily="34" charset="0"/>
                  <a:ea typeface="MS PGothic" panose="020B0600070205080204" pitchFamily="34" charset="-128"/>
                </a:defRPr>
              </a:lvl2pPr>
              <a:lvl3pPr marL="1143000" indent="-228600">
                <a:spcBef>
                  <a:spcPct val="35000"/>
                </a:spcBef>
                <a:buClr>
                  <a:srgbClr val="33CC33"/>
                </a:buClr>
                <a:buSzPct val="75000"/>
                <a:buFont typeface="Webdings" panose="05030102010509060703" pitchFamily="18" charset="2"/>
                <a:buChar char="4"/>
                <a:defRPr kumimoji="1">
                  <a:solidFill>
                    <a:schemeClr val="tx1"/>
                  </a:solidFill>
                  <a:latin typeface="Helvetica" panose="020B0604020202020204" pitchFamily="34" charset="0"/>
                  <a:ea typeface="MS PGothic" panose="020B0600070205080204" pitchFamily="34" charset="-128"/>
                </a:defRPr>
              </a:lvl3pPr>
              <a:lvl4pPr marL="1600200" indent="-228600">
                <a:spcBef>
                  <a:spcPct val="35000"/>
                </a:spcBef>
                <a:buClr>
                  <a:schemeClr val="hlink"/>
                </a:buClr>
                <a:buFont typeface="Times New Roman" panose="02020603050405020304" pitchFamily="18" charset="0"/>
                <a:buChar char="–"/>
                <a:defRPr kumimoji="1">
                  <a:solidFill>
                    <a:schemeClr val="tx1"/>
                  </a:solidFill>
                  <a:latin typeface="Helvetica" panose="020B0604020202020204" pitchFamily="34" charset="0"/>
                  <a:ea typeface="MS PGothic" panose="020B0600070205080204" pitchFamily="34" charset="-128"/>
                </a:defRPr>
              </a:lvl4pPr>
              <a:lvl5pPr marL="2057400" indent="-228600">
                <a:spcBef>
                  <a:spcPct val="35000"/>
                </a:spcBef>
                <a:buClr>
                  <a:schemeClr val="tx2"/>
                </a:buClr>
                <a:buSzPct val="75000"/>
                <a:buChar char="»"/>
                <a:defRPr kumimoji="1">
                  <a:solidFill>
                    <a:schemeClr val="tx1"/>
                  </a:solidFill>
                  <a:latin typeface="Helvetica" panose="020B0604020202020204" pitchFamily="34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35000"/>
                </a:spcBef>
                <a:spcAft>
                  <a:spcPct val="0"/>
                </a:spcAft>
                <a:buClr>
                  <a:schemeClr val="tx2"/>
                </a:buClr>
                <a:buSzPct val="75000"/>
                <a:buChar char="»"/>
                <a:defRPr kumimoji="1">
                  <a:solidFill>
                    <a:schemeClr val="tx1"/>
                  </a:solidFill>
                  <a:latin typeface="Helvetica" panose="020B0604020202020204" pitchFamily="34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35000"/>
                </a:spcBef>
                <a:spcAft>
                  <a:spcPct val="0"/>
                </a:spcAft>
                <a:buClr>
                  <a:schemeClr val="tx2"/>
                </a:buClr>
                <a:buSzPct val="75000"/>
                <a:buChar char="»"/>
                <a:defRPr kumimoji="1">
                  <a:solidFill>
                    <a:schemeClr val="tx1"/>
                  </a:solidFill>
                  <a:latin typeface="Helvetica" panose="020B0604020202020204" pitchFamily="34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35000"/>
                </a:spcBef>
                <a:spcAft>
                  <a:spcPct val="0"/>
                </a:spcAft>
                <a:buClr>
                  <a:schemeClr val="tx2"/>
                </a:buClr>
                <a:buSzPct val="75000"/>
                <a:buChar char="»"/>
                <a:defRPr kumimoji="1">
                  <a:solidFill>
                    <a:schemeClr val="tx1"/>
                  </a:solidFill>
                  <a:latin typeface="Helvetica" panose="020B0604020202020204" pitchFamily="34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35000"/>
                </a:spcBef>
                <a:spcAft>
                  <a:spcPct val="0"/>
                </a:spcAft>
                <a:buClr>
                  <a:schemeClr val="tx2"/>
                </a:buClr>
                <a:buSzPct val="75000"/>
                <a:buChar char="»"/>
                <a:defRPr kumimoji="1">
                  <a:solidFill>
                    <a:schemeClr val="tx1"/>
                  </a:solidFill>
                  <a:latin typeface="Helvetica" panose="020B0604020202020204" pitchFamily="34" charset="0"/>
                  <a:ea typeface="MS PGothic" panose="020B0600070205080204" pitchFamily="34" charset="-128"/>
                </a:defRPr>
              </a:lvl9pPr>
            </a:lstStyle>
            <a:p>
              <a:pPr>
                <a:spcBef>
                  <a:spcPct val="0"/>
                </a:spcBef>
                <a:buClrTx/>
                <a:buSzTx/>
                <a:buFontTx/>
                <a:buNone/>
              </a:pPr>
              <a:endParaRPr kumimoji="0" lang="en-US" altLang="en-US"/>
            </a:p>
          </p:txBody>
        </p:sp>
        <p:sp>
          <p:nvSpPr>
            <p:cNvPr id="39944" name="Rectangle 13">
              <a:extLst>
                <a:ext uri="{FF2B5EF4-FFF2-40B4-BE49-F238E27FC236}">
                  <a16:creationId xmlns:a16="http://schemas.microsoft.com/office/drawing/2014/main" id="{6E563E24-5E98-4177-9D3D-31217A7F205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658717" y="5315675"/>
              <a:ext cx="100548" cy="368827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/>
            <a:lstStyle>
              <a:lvl1pPr>
                <a:spcBef>
                  <a:spcPct val="35000"/>
                </a:spcBef>
                <a:buClr>
                  <a:schemeClr val="tx2"/>
                </a:buClr>
                <a:buSzPct val="90000"/>
                <a:buFont typeface="Monotype Sorts" pitchFamily="-65" charset="2"/>
                <a:buChar char="n"/>
                <a:defRPr kumimoji="1">
                  <a:solidFill>
                    <a:schemeClr val="tx1"/>
                  </a:solidFill>
                  <a:latin typeface="Helvetica" panose="020B0604020202020204" pitchFamily="34" charset="0"/>
                  <a:ea typeface="MS PGothic" panose="020B0600070205080204" pitchFamily="34" charset="-128"/>
                </a:defRPr>
              </a:lvl1pPr>
              <a:lvl2pPr marL="742950" indent="-285750">
                <a:spcBef>
                  <a:spcPct val="35000"/>
                </a:spcBef>
                <a:buClr>
                  <a:schemeClr val="folHlink"/>
                </a:buClr>
                <a:buSzPct val="80000"/>
                <a:buFont typeface="Monotype Sorts" pitchFamily="-65" charset="2"/>
                <a:buChar char="l"/>
                <a:defRPr kumimoji="1">
                  <a:solidFill>
                    <a:schemeClr val="tx1"/>
                  </a:solidFill>
                  <a:latin typeface="Helvetica" panose="020B0604020202020204" pitchFamily="34" charset="0"/>
                  <a:ea typeface="MS PGothic" panose="020B0600070205080204" pitchFamily="34" charset="-128"/>
                </a:defRPr>
              </a:lvl2pPr>
              <a:lvl3pPr marL="1143000" indent="-228600">
                <a:spcBef>
                  <a:spcPct val="35000"/>
                </a:spcBef>
                <a:buClr>
                  <a:srgbClr val="33CC33"/>
                </a:buClr>
                <a:buSzPct val="75000"/>
                <a:buFont typeface="Webdings" panose="05030102010509060703" pitchFamily="18" charset="2"/>
                <a:buChar char="4"/>
                <a:defRPr kumimoji="1">
                  <a:solidFill>
                    <a:schemeClr val="tx1"/>
                  </a:solidFill>
                  <a:latin typeface="Helvetica" panose="020B0604020202020204" pitchFamily="34" charset="0"/>
                  <a:ea typeface="MS PGothic" panose="020B0600070205080204" pitchFamily="34" charset="-128"/>
                </a:defRPr>
              </a:lvl3pPr>
              <a:lvl4pPr marL="1600200" indent="-228600">
                <a:spcBef>
                  <a:spcPct val="35000"/>
                </a:spcBef>
                <a:buClr>
                  <a:schemeClr val="hlink"/>
                </a:buClr>
                <a:buFont typeface="Times New Roman" panose="02020603050405020304" pitchFamily="18" charset="0"/>
                <a:buChar char="–"/>
                <a:defRPr kumimoji="1">
                  <a:solidFill>
                    <a:schemeClr val="tx1"/>
                  </a:solidFill>
                  <a:latin typeface="Helvetica" panose="020B0604020202020204" pitchFamily="34" charset="0"/>
                  <a:ea typeface="MS PGothic" panose="020B0600070205080204" pitchFamily="34" charset="-128"/>
                </a:defRPr>
              </a:lvl4pPr>
              <a:lvl5pPr marL="2057400" indent="-228600">
                <a:spcBef>
                  <a:spcPct val="35000"/>
                </a:spcBef>
                <a:buClr>
                  <a:schemeClr val="tx2"/>
                </a:buClr>
                <a:buSzPct val="75000"/>
                <a:buChar char="»"/>
                <a:defRPr kumimoji="1">
                  <a:solidFill>
                    <a:schemeClr val="tx1"/>
                  </a:solidFill>
                  <a:latin typeface="Helvetica" panose="020B0604020202020204" pitchFamily="34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35000"/>
                </a:spcBef>
                <a:spcAft>
                  <a:spcPct val="0"/>
                </a:spcAft>
                <a:buClr>
                  <a:schemeClr val="tx2"/>
                </a:buClr>
                <a:buSzPct val="75000"/>
                <a:buChar char="»"/>
                <a:defRPr kumimoji="1">
                  <a:solidFill>
                    <a:schemeClr val="tx1"/>
                  </a:solidFill>
                  <a:latin typeface="Helvetica" panose="020B0604020202020204" pitchFamily="34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35000"/>
                </a:spcBef>
                <a:spcAft>
                  <a:spcPct val="0"/>
                </a:spcAft>
                <a:buClr>
                  <a:schemeClr val="tx2"/>
                </a:buClr>
                <a:buSzPct val="75000"/>
                <a:buChar char="»"/>
                <a:defRPr kumimoji="1">
                  <a:solidFill>
                    <a:schemeClr val="tx1"/>
                  </a:solidFill>
                  <a:latin typeface="Helvetica" panose="020B0604020202020204" pitchFamily="34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35000"/>
                </a:spcBef>
                <a:spcAft>
                  <a:spcPct val="0"/>
                </a:spcAft>
                <a:buClr>
                  <a:schemeClr val="tx2"/>
                </a:buClr>
                <a:buSzPct val="75000"/>
                <a:buChar char="»"/>
                <a:defRPr kumimoji="1">
                  <a:solidFill>
                    <a:schemeClr val="tx1"/>
                  </a:solidFill>
                  <a:latin typeface="Helvetica" panose="020B0604020202020204" pitchFamily="34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35000"/>
                </a:spcBef>
                <a:spcAft>
                  <a:spcPct val="0"/>
                </a:spcAft>
                <a:buClr>
                  <a:schemeClr val="tx2"/>
                </a:buClr>
                <a:buSzPct val="75000"/>
                <a:buChar char="»"/>
                <a:defRPr kumimoji="1">
                  <a:solidFill>
                    <a:schemeClr val="tx1"/>
                  </a:solidFill>
                  <a:latin typeface="Helvetica" panose="020B0604020202020204" pitchFamily="34" charset="0"/>
                  <a:ea typeface="MS PGothic" panose="020B0600070205080204" pitchFamily="34" charset="-128"/>
                </a:defRPr>
              </a:lvl9pPr>
            </a:lstStyle>
            <a:p>
              <a:pPr>
                <a:spcBef>
                  <a:spcPct val="0"/>
                </a:spcBef>
                <a:buClrTx/>
                <a:buSzTx/>
                <a:buFontTx/>
                <a:buNone/>
              </a:pPr>
              <a:endParaRPr kumimoji="0" lang="en-US" altLang="en-US"/>
            </a:p>
          </p:txBody>
        </p:sp>
      </p:grpSp>
    </p:spTree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63970" name="Rectangle 2">
            <a:extLst>
              <a:ext uri="{FF2B5EF4-FFF2-40B4-BE49-F238E27FC236}">
                <a16:creationId xmlns:a16="http://schemas.microsoft.com/office/drawing/2014/main" id="{68085FC6-4A92-4F65-BAF7-E4906F9897AD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753140" y="120576"/>
            <a:ext cx="10515600" cy="1325563"/>
          </a:xfrm>
        </p:spPr>
        <p:txBody>
          <a:bodyPr/>
          <a:lstStyle/>
          <a:p>
            <a:pPr>
              <a:defRPr/>
            </a:pPr>
            <a:r>
              <a:rPr lang="en-US" altLang="en-US" dirty="0">
                <a:effectLst>
                  <a:outerShdw blurRad="38100" dist="38100" dir="2700000" algn="tl">
                    <a:srgbClr val="C0C0C0"/>
                  </a:outerShdw>
                </a:effectLst>
              </a:rPr>
              <a:t>B</a:t>
            </a:r>
            <a:r>
              <a:rPr lang="en-US" altLang="en-US" baseline="30000" dirty="0">
                <a:effectLst>
                  <a:outerShdw blurRad="38100" dist="38100" dir="2700000" algn="tl">
                    <a:srgbClr val="C0C0C0"/>
                  </a:outerShdw>
                </a:effectLst>
              </a:rPr>
              <a:t>+</a:t>
            </a:r>
            <a:r>
              <a:rPr lang="en-US" altLang="en-US" dirty="0">
                <a:effectLst>
                  <a:outerShdw blurRad="38100" dist="38100" dir="2700000" algn="tl">
                    <a:srgbClr val="C0C0C0"/>
                  </a:outerShdw>
                </a:effectLst>
              </a:rPr>
              <a:t>-Tree Node Structure</a:t>
            </a:r>
          </a:p>
        </p:txBody>
      </p:sp>
      <p:sp>
        <p:nvSpPr>
          <p:cNvPr id="43011" name="Rectangle 3">
            <a:extLst>
              <a:ext uri="{FF2B5EF4-FFF2-40B4-BE49-F238E27FC236}">
                <a16:creationId xmlns:a16="http://schemas.microsoft.com/office/drawing/2014/main" id="{5E2DF636-C20B-414E-A588-A610771C96EE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1341121" y="1067663"/>
            <a:ext cx="8697618" cy="5263469"/>
          </a:xfrm>
        </p:spPr>
        <p:txBody>
          <a:bodyPr/>
          <a:lstStyle/>
          <a:p>
            <a:pPr>
              <a:tabLst>
                <a:tab pos="1655763" algn="l"/>
              </a:tabLst>
            </a:pPr>
            <a:r>
              <a:rPr lang="en-US" altLang="en-US" dirty="0"/>
              <a:t>Typical node</a:t>
            </a:r>
            <a:br>
              <a:rPr lang="en-US" altLang="en-US" dirty="0"/>
            </a:br>
            <a:br>
              <a:rPr lang="en-US" altLang="en-US" dirty="0"/>
            </a:br>
            <a:br>
              <a:rPr lang="en-US" altLang="en-US" dirty="0"/>
            </a:br>
            <a:endParaRPr lang="en-US" altLang="en-US" dirty="0"/>
          </a:p>
          <a:p>
            <a:pPr lvl="1">
              <a:tabLst>
                <a:tab pos="1655763" algn="l"/>
              </a:tabLst>
            </a:pPr>
            <a:r>
              <a:rPr lang="en-US" altLang="en-US" dirty="0"/>
              <a:t>K</a:t>
            </a:r>
            <a:r>
              <a:rPr lang="en-US" altLang="en-US" baseline="-25000" dirty="0"/>
              <a:t>i</a:t>
            </a:r>
            <a:r>
              <a:rPr lang="en-US" altLang="en-US" dirty="0"/>
              <a:t> are the search-key values </a:t>
            </a:r>
          </a:p>
          <a:p>
            <a:pPr lvl="1">
              <a:tabLst>
                <a:tab pos="1655763" algn="l"/>
              </a:tabLst>
            </a:pPr>
            <a:r>
              <a:rPr lang="en-US" altLang="en-US" dirty="0"/>
              <a:t>P</a:t>
            </a:r>
            <a:r>
              <a:rPr lang="en-US" altLang="en-US" baseline="-25000" dirty="0"/>
              <a:t>i</a:t>
            </a:r>
            <a:r>
              <a:rPr lang="en-US" altLang="en-US" dirty="0"/>
              <a:t> are pointers to children (for non-leaf nodes) or pointers to records or buckets of records (for leaf nodes).</a:t>
            </a:r>
          </a:p>
          <a:p>
            <a:pPr>
              <a:tabLst>
                <a:tab pos="1655763" algn="l"/>
              </a:tabLst>
            </a:pPr>
            <a:r>
              <a:rPr lang="en-US" altLang="en-US" dirty="0"/>
              <a:t>The search-keys in a node are ordered </a:t>
            </a:r>
          </a:p>
          <a:p>
            <a:pPr>
              <a:buNone/>
              <a:tabLst>
                <a:tab pos="1655763" algn="l"/>
              </a:tabLst>
            </a:pPr>
            <a:r>
              <a:rPr lang="en-US" altLang="en-US" dirty="0"/>
              <a:t>		 </a:t>
            </a:r>
            <a:r>
              <a:rPr lang="en-US" altLang="en-US" i="1" dirty="0"/>
              <a:t>K</a:t>
            </a:r>
            <a:r>
              <a:rPr lang="en-US" altLang="en-US" baseline="-25000" dirty="0"/>
              <a:t>1 </a:t>
            </a:r>
            <a:r>
              <a:rPr lang="en-US" altLang="en-US" dirty="0">
                <a:sym typeface="Symbol" panose="05050102010706020507" pitchFamily="18" charset="2"/>
              </a:rPr>
              <a:t>&lt;</a:t>
            </a:r>
            <a:r>
              <a:rPr lang="en-US" altLang="en-US" dirty="0"/>
              <a:t> </a:t>
            </a:r>
            <a:r>
              <a:rPr lang="en-US" altLang="en-US" i="1" dirty="0"/>
              <a:t>K</a:t>
            </a:r>
            <a:r>
              <a:rPr lang="en-US" altLang="en-US" baseline="-25000" dirty="0"/>
              <a:t>2 </a:t>
            </a:r>
            <a:r>
              <a:rPr lang="en-US" altLang="en-US" dirty="0">
                <a:sym typeface="Symbol" panose="05050102010706020507" pitchFamily="18" charset="2"/>
              </a:rPr>
              <a:t>&lt;</a:t>
            </a:r>
            <a:r>
              <a:rPr lang="en-US" altLang="en-US" dirty="0"/>
              <a:t> </a:t>
            </a:r>
            <a:r>
              <a:rPr lang="en-US" altLang="en-US" i="1" dirty="0"/>
              <a:t>K</a:t>
            </a:r>
            <a:r>
              <a:rPr lang="en-US" altLang="en-US" baseline="-25000" dirty="0"/>
              <a:t>3 </a:t>
            </a:r>
            <a:r>
              <a:rPr lang="en-US" altLang="en-US" dirty="0">
                <a:sym typeface="Symbol" panose="05050102010706020507" pitchFamily="18" charset="2"/>
              </a:rPr>
              <a:t>&lt;</a:t>
            </a:r>
            <a:r>
              <a:rPr lang="en-US" altLang="en-US" dirty="0"/>
              <a:t> </a:t>
            </a:r>
            <a:r>
              <a:rPr lang="en-US" altLang="en-US" i="1" dirty="0"/>
              <a:t>. . .</a:t>
            </a:r>
            <a:r>
              <a:rPr lang="en-US" altLang="en-US" baseline="-25000" dirty="0"/>
              <a:t> </a:t>
            </a:r>
            <a:r>
              <a:rPr lang="en-US" altLang="en-US" dirty="0">
                <a:sym typeface="Symbol" panose="05050102010706020507" pitchFamily="18" charset="2"/>
              </a:rPr>
              <a:t>&lt;</a:t>
            </a:r>
            <a:r>
              <a:rPr lang="en-US" altLang="en-US" dirty="0"/>
              <a:t> </a:t>
            </a:r>
            <a:r>
              <a:rPr lang="en-US" altLang="en-US" i="1" dirty="0" err="1"/>
              <a:t>K</a:t>
            </a:r>
            <a:r>
              <a:rPr lang="en-US" altLang="en-US" i="1" baseline="-25000" dirty="0" err="1"/>
              <a:t>n</a:t>
            </a:r>
            <a:r>
              <a:rPr lang="en-US" altLang="en-US" i="1" baseline="-25000" dirty="0"/>
              <a:t>–</a:t>
            </a:r>
            <a:r>
              <a:rPr lang="en-US" altLang="en-US" baseline="-25000" dirty="0"/>
              <a:t>1</a:t>
            </a:r>
          </a:p>
          <a:p>
            <a:pPr>
              <a:buNone/>
              <a:tabLst>
                <a:tab pos="1655763" algn="l"/>
              </a:tabLst>
            </a:pPr>
            <a:r>
              <a:rPr lang="en-US" altLang="en-US" baseline="-25000" dirty="0"/>
              <a:t>        </a:t>
            </a:r>
            <a:r>
              <a:rPr lang="en-US" altLang="en-US" dirty="0"/>
              <a:t>(Initially assume no duplicate keys, address duplicates later)</a:t>
            </a:r>
          </a:p>
          <a:p>
            <a:pPr>
              <a:buNone/>
              <a:tabLst>
                <a:tab pos="1655763" algn="l"/>
              </a:tabLst>
            </a:pPr>
            <a:endParaRPr lang="en-US" altLang="en-US" dirty="0"/>
          </a:p>
          <a:p>
            <a:pPr>
              <a:buNone/>
              <a:tabLst>
                <a:tab pos="1655763" algn="l"/>
              </a:tabLst>
            </a:pPr>
            <a:endParaRPr lang="en-US" altLang="en-US" dirty="0"/>
          </a:p>
          <a:p>
            <a:pPr>
              <a:buNone/>
              <a:tabLst>
                <a:tab pos="1655763" algn="l"/>
              </a:tabLst>
            </a:pPr>
            <a:endParaRPr lang="en-US" altLang="en-US" dirty="0"/>
          </a:p>
        </p:txBody>
      </p:sp>
      <p:pic>
        <p:nvPicPr>
          <p:cNvPr id="43012" name="Picture 6">
            <a:extLst>
              <a:ext uri="{FF2B5EF4-FFF2-40B4-BE49-F238E27FC236}">
                <a16:creationId xmlns:a16="http://schemas.microsoft.com/office/drawing/2014/main" id="{61F7658D-8529-4C17-B4AA-522328E4873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181337" y="1648064"/>
            <a:ext cx="5813424" cy="45061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8898" name="Rectangle 2">
            <a:extLst>
              <a:ext uri="{FF2B5EF4-FFF2-40B4-BE49-F238E27FC236}">
                <a16:creationId xmlns:a16="http://schemas.microsoft.com/office/drawing/2014/main" id="{0977D842-A55D-45FB-A569-781D6F374B75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extLst>
            <a:ext uri="{909E8E84-426E-40dd-AFC4-6F175D3DCCD1}"/>
            <a:ext uri="{91240B29-F687-4f45-9708-019B960494DF}"/>
          </a:extLst>
        </p:spPr>
        <p:txBody>
          <a:bodyPr/>
          <a:lstStyle/>
          <a:p>
            <a:pPr>
              <a:defRPr/>
            </a:pPr>
            <a:r>
              <a:rPr lang="en-US" altLang="en-US">
                <a:effectLst>
                  <a:outerShdw blurRad="38100" dist="38100" dir="2700000" algn="tl">
                    <a:srgbClr val="C0C0C0"/>
                  </a:outerShdw>
                </a:effectLst>
              </a:rPr>
              <a:t>Non-Leaf Nodes in B</a:t>
            </a:r>
            <a:r>
              <a:rPr lang="en-US" altLang="en-US" baseline="30000">
                <a:effectLst>
                  <a:outerShdw blurRad="38100" dist="38100" dir="2700000" algn="tl">
                    <a:srgbClr val="C0C0C0"/>
                  </a:outerShdw>
                </a:effectLst>
              </a:rPr>
              <a:t>+</a:t>
            </a:r>
            <a:r>
              <a:rPr lang="en-US" altLang="en-US">
                <a:effectLst>
                  <a:outerShdw blurRad="38100" dist="38100" dir="2700000" algn="tl">
                    <a:srgbClr val="C0C0C0"/>
                  </a:outerShdw>
                </a:effectLst>
              </a:rPr>
              <a:t>-Trees</a:t>
            </a:r>
          </a:p>
        </p:txBody>
      </p:sp>
      <p:sp>
        <p:nvSpPr>
          <p:cNvPr id="47107" name="Rectangle 3">
            <a:extLst>
              <a:ext uri="{FF2B5EF4-FFF2-40B4-BE49-F238E27FC236}">
                <a16:creationId xmlns:a16="http://schemas.microsoft.com/office/drawing/2014/main" id="{522285B4-4C44-43C2-9590-DFD402152A18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1463295" y="1318416"/>
            <a:ext cx="7965798" cy="5263469"/>
          </a:xfrm>
        </p:spPr>
        <p:txBody>
          <a:bodyPr/>
          <a:lstStyle/>
          <a:p>
            <a:r>
              <a:rPr lang="en-US" altLang="en-US" dirty="0"/>
              <a:t>Non leaf nodes form a multi-level sparse index on the leaf nodes.  </a:t>
            </a:r>
          </a:p>
          <a:p>
            <a:r>
              <a:rPr lang="en-US" altLang="en-US" dirty="0"/>
              <a:t>For a non-leaf node with </a:t>
            </a:r>
            <a:r>
              <a:rPr lang="en-US" altLang="en-US" i="1" dirty="0"/>
              <a:t>m</a:t>
            </a:r>
            <a:r>
              <a:rPr lang="en-US" altLang="en-US" dirty="0"/>
              <a:t> pointers:</a:t>
            </a:r>
          </a:p>
          <a:p>
            <a:pPr lvl="1"/>
            <a:r>
              <a:rPr lang="en-US" altLang="en-US" dirty="0"/>
              <a:t>All the search-keys in the subtree to which </a:t>
            </a:r>
            <a:r>
              <a:rPr lang="en-US" altLang="en-US" i="1" dirty="0"/>
              <a:t>P</a:t>
            </a:r>
            <a:r>
              <a:rPr lang="en-US" altLang="en-US" baseline="-25000" dirty="0"/>
              <a:t>1</a:t>
            </a:r>
            <a:r>
              <a:rPr lang="en-US" altLang="en-US" dirty="0"/>
              <a:t> points are less than </a:t>
            </a:r>
            <a:r>
              <a:rPr lang="en-US" altLang="en-US" i="1" dirty="0"/>
              <a:t>K</a:t>
            </a:r>
            <a:r>
              <a:rPr lang="en-US" altLang="en-US" baseline="-25000" dirty="0"/>
              <a:t>1 </a:t>
            </a:r>
            <a:endParaRPr lang="en-US" altLang="en-US" dirty="0"/>
          </a:p>
          <a:p>
            <a:pPr lvl="1"/>
            <a:r>
              <a:rPr lang="en-US" altLang="en-US" dirty="0"/>
              <a:t>For 2 </a:t>
            </a:r>
            <a:r>
              <a:rPr lang="en-US" altLang="en-US" dirty="0">
                <a:sym typeface="Symbol" panose="05050102010706020507" pitchFamily="18" charset="2"/>
              </a:rPr>
              <a:t> </a:t>
            </a:r>
            <a:r>
              <a:rPr lang="en-US" altLang="en-US" i="1" dirty="0" err="1">
                <a:sym typeface="Symbol" panose="05050102010706020507" pitchFamily="18" charset="2"/>
              </a:rPr>
              <a:t>i</a:t>
            </a:r>
            <a:r>
              <a:rPr lang="en-US" altLang="en-US" i="1" dirty="0">
                <a:sym typeface="Symbol" panose="05050102010706020507" pitchFamily="18" charset="2"/>
              </a:rPr>
              <a:t> </a:t>
            </a:r>
            <a:r>
              <a:rPr lang="en-US" altLang="en-US" dirty="0">
                <a:sym typeface="Symbol" panose="05050102010706020507" pitchFamily="18" charset="2"/>
              </a:rPr>
              <a:t> </a:t>
            </a:r>
            <a:r>
              <a:rPr lang="en-US" altLang="en-US" i="1" dirty="0">
                <a:sym typeface="Symbol" panose="05050102010706020507" pitchFamily="18" charset="2"/>
              </a:rPr>
              <a:t>n </a:t>
            </a:r>
            <a:r>
              <a:rPr lang="en-US" altLang="en-US" dirty="0">
                <a:sym typeface="Symbol" panose="05050102010706020507" pitchFamily="18" charset="2"/>
              </a:rPr>
              <a:t>– 1, all the search-keys in the subtree to which </a:t>
            </a:r>
            <a:r>
              <a:rPr lang="en-US" altLang="en-US" i="1" dirty="0">
                <a:sym typeface="Symbol" panose="05050102010706020507" pitchFamily="18" charset="2"/>
              </a:rPr>
              <a:t>P</a:t>
            </a:r>
            <a:r>
              <a:rPr lang="en-US" altLang="en-US" i="1" baseline="-25000" dirty="0">
                <a:sym typeface="Symbol" panose="05050102010706020507" pitchFamily="18" charset="2"/>
              </a:rPr>
              <a:t>i</a:t>
            </a:r>
            <a:r>
              <a:rPr lang="en-US" altLang="en-US" dirty="0">
                <a:sym typeface="Symbol" panose="05050102010706020507" pitchFamily="18" charset="2"/>
              </a:rPr>
              <a:t> points have values greater than or equal to </a:t>
            </a:r>
            <a:r>
              <a:rPr lang="en-US" altLang="en-US" i="1" dirty="0">
                <a:sym typeface="Symbol" panose="05050102010706020507" pitchFamily="18" charset="2"/>
              </a:rPr>
              <a:t>K</a:t>
            </a:r>
            <a:r>
              <a:rPr lang="en-US" altLang="en-US" i="1" baseline="-25000" dirty="0">
                <a:sym typeface="Symbol" panose="05050102010706020507" pitchFamily="18" charset="2"/>
              </a:rPr>
              <a:t>i</a:t>
            </a:r>
            <a:r>
              <a:rPr lang="en-US" altLang="en-US" baseline="-25000" dirty="0">
                <a:sym typeface="Symbol" panose="05050102010706020507" pitchFamily="18" charset="2"/>
              </a:rPr>
              <a:t>–1</a:t>
            </a:r>
            <a:r>
              <a:rPr lang="en-US" altLang="en-US" dirty="0">
                <a:sym typeface="Symbol" panose="05050102010706020507" pitchFamily="18" charset="2"/>
              </a:rPr>
              <a:t> and less than </a:t>
            </a:r>
            <a:r>
              <a:rPr lang="en-US" altLang="en-US" i="1" dirty="0">
                <a:sym typeface="Symbol" panose="05050102010706020507" pitchFamily="18" charset="2"/>
              </a:rPr>
              <a:t>K</a:t>
            </a:r>
            <a:r>
              <a:rPr lang="en-US" altLang="en-US" i="1" baseline="-25000" dirty="0">
                <a:sym typeface="Symbol" panose="05050102010706020507" pitchFamily="18" charset="2"/>
              </a:rPr>
              <a:t>i </a:t>
            </a:r>
          </a:p>
          <a:p>
            <a:pPr lvl="1"/>
            <a:r>
              <a:rPr lang="en-US" altLang="en-US" dirty="0">
                <a:sym typeface="Symbol" panose="05050102010706020507" pitchFamily="18" charset="2"/>
              </a:rPr>
              <a:t>All the search-keys in the subtree to which </a:t>
            </a:r>
            <a:r>
              <a:rPr lang="en-US" altLang="en-US" i="1" dirty="0" err="1">
                <a:sym typeface="Symbol" panose="05050102010706020507" pitchFamily="18" charset="2"/>
              </a:rPr>
              <a:t>P</a:t>
            </a:r>
            <a:r>
              <a:rPr lang="en-US" altLang="en-US" i="1" baseline="-25000" dirty="0" err="1">
                <a:sym typeface="Symbol" panose="05050102010706020507" pitchFamily="18" charset="2"/>
              </a:rPr>
              <a:t>n</a:t>
            </a:r>
            <a:r>
              <a:rPr lang="en-US" altLang="en-US" dirty="0">
                <a:sym typeface="Symbol" panose="05050102010706020507" pitchFamily="18" charset="2"/>
              </a:rPr>
              <a:t> points have values greater than or equal to </a:t>
            </a:r>
            <a:r>
              <a:rPr lang="en-US" altLang="en-US" i="1" dirty="0" err="1">
                <a:sym typeface="Symbol" panose="05050102010706020507" pitchFamily="18" charset="2"/>
              </a:rPr>
              <a:t>K</a:t>
            </a:r>
            <a:r>
              <a:rPr lang="en-US" altLang="en-US" i="1" baseline="-25000" dirty="0" err="1">
                <a:sym typeface="Symbol" panose="05050102010706020507" pitchFamily="18" charset="2"/>
              </a:rPr>
              <a:t>n</a:t>
            </a:r>
            <a:r>
              <a:rPr lang="en-US" altLang="en-US" baseline="-25000" dirty="0">
                <a:sym typeface="Symbol" panose="05050102010706020507" pitchFamily="18" charset="2"/>
              </a:rPr>
              <a:t>–1</a:t>
            </a:r>
            <a:endParaRPr lang="en-US" altLang="en-US" dirty="0">
              <a:sym typeface="Symbol" panose="05050102010706020507" pitchFamily="18" charset="2"/>
            </a:endParaRPr>
          </a:p>
          <a:p>
            <a:pPr lvl="1"/>
            <a:r>
              <a:rPr lang="en-US" altLang="en-US" dirty="0">
                <a:sym typeface="Symbol" panose="05050102010706020507" pitchFamily="18" charset="2"/>
              </a:rPr>
              <a:t>General structure</a:t>
            </a:r>
          </a:p>
        </p:txBody>
      </p:sp>
      <p:pic>
        <p:nvPicPr>
          <p:cNvPr id="47108" name="Picture 6">
            <a:extLst>
              <a:ext uri="{FF2B5EF4-FFF2-40B4-BE49-F238E27FC236}">
                <a16:creationId xmlns:a16="http://schemas.microsoft.com/office/drawing/2014/main" id="{62FC7E36-0E9F-4C04-A7DA-9617738A4A9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762907" y="5848401"/>
            <a:ext cx="5147161" cy="39896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1826" name="Rectangle 2">
            <a:extLst>
              <a:ext uri="{FF2B5EF4-FFF2-40B4-BE49-F238E27FC236}">
                <a16:creationId xmlns:a16="http://schemas.microsoft.com/office/drawing/2014/main" id="{E63D3C7E-96EA-4A31-B122-60E5F49F34E7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462969" y="0"/>
            <a:ext cx="10515600" cy="1325563"/>
          </a:xfrm>
        </p:spPr>
        <p:txBody>
          <a:bodyPr/>
          <a:lstStyle/>
          <a:p>
            <a:pPr>
              <a:defRPr/>
            </a:pPr>
            <a:r>
              <a:rPr lang="en-US" altLang="en-US" dirty="0">
                <a:effectLst>
                  <a:outerShdw blurRad="38100" dist="38100" dir="2700000" algn="tl">
                    <a:srgbClr val="C0C0C0"/>
                  </a:outerShdw>
                </a:effectLst>
              </a:rPr>
              <a:t>Index Evaluation Metrics</a:t>
            </a:r>
          </a:p>
        </p:txBody>
      </p:sp>
      <p:sp>
        <p:nvSpPr>
          <p:cNvPr id="11267" name="Rectangle 3">
            <a:extLst>
              <a:ext uri="{FF2B5EF4-FFF2-40B4-BE49-F238E27FC236}">
                <a16:creationId xmlns:a16="http://schemas.microsoft.com/office/drawing/2014/main" id="{C7764C8B-2890-4967-BE1D-831825A2EAC1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1212452" y="1341120"/>
            <a:ext cx="9016635" cy="3929774"/>
          </a:xfrm>
        </p:spPr>
        <p:txBody>
          <a:bodyPr>
            <a:normAutofit lnSpcReduction="10000"/>
          </a:bodyPr>
          <a:lstStyle/>
          <a:p>
            <a:r>
              <a:rPr lang="en-US" altLang="en-US" dirty="0"/>
              <a:t>Access types supported efficiently.  E.g., </a:t>
            </a:r>
          </a:p>
          <a:p>
            <a:pPr lvl="1"/>
            <a:r>
              <a:rPr lang="en-US" altLang="en-US" dirty="0"/>
              <a:t>Records with a specified value in the attribute</a:t>
            </a:r>
          </a:p>
          <a:p>
            <a:pPr lvl="1"/>
            <a:r>
              <a:rPr lang="en-US" altLang="en-US" dirty="0"/>
              <a:t>Records with an attribute value falling in a specified range of values.</a:t>
            </a:r>
          </a:p>
          <a:p>
            <a:endParaRPr lang="en-US" altLang="en-US" dirty="0"/>
          </a:p>
          <a:p>
            <a:r>
              <a:rPr lang="en-US" altLang="en-US" dirty="0"/>
              <a:t>Access time</a:t>
            </a:r>
          </a:p>
          <a:p>
            <a:r>
              <a:rPr lang="en-US" altLang="en-US" dirty="0"/>
              <a:t>Insertion time</a:t>
            </a:r>
          </a:p>
          <a:p>
            <a:r>
              <a:rPr lang="en-US" altLang="en-US" dirty="0"/>
              <a:t>Deletion time</a:t>
            </a:r>
          </a:p>
          <a:p>
            <a:r>
              <a:rPr lang="en-US" altLang="en-US" dirty="0"/>
              <a:t>Space overhead</a:t>
            </a:r>
          </a:p>
        </p:txBody>
      </p:sp>
    </p:spTree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66018" name="Rectangle 2">
            <a:extLst>
              <a:ext uri="{FF2B5EF4-FFF2-40B4-BE49-F238E27FC236}">
                <a16:creationId xmlns:a16="http://schemas.microsoft.com/office/drawing/2014/main" id="{30825248-ECF3-42B1-B321-CDFB41005F42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497958" y="-53097"/>
            <a:ext cx="10515600" cy="1325563"/>
          </a:xfrm>
        </p:spPr>
        <p:txBody>
          <a:bodyPr/>
          <a:lstStyle/>
          <a:p>
            <a:pPr>
              <a:defRPr/>
            </a:pPr>
            <a:r>
              <a:rPr lang="en-US" altLang="en-US" dirty="0">
                <a:effectLst>
                  <a:outerShdw blurRad="38100" dist="38100" dir="2700000" algn="tl">
                    <a:srgbClr val="C0C0C0"/>
                  </a:outerShdw>
                </a:effectLst>
              </a:rPr>
              <a:t>Leaf Nodes in B</a:t>
            </a:r>
            <a:r>
              <a:rPr lang="en-US" altLang="en-US" baseline="30000" dirty="0">
                <a:effectLst>
                  <a:outerShdw blurRad="38100" dist="38100" dir="2700000" algn="tl">
                    <a:srgbClr val="C0C0C0"/>
                  </a:outerShdw>
                </a:effectLst>
              </a:rPr>
              <a:t>+</a:t>
            </a:r>
            <a:r>
              <a:rPr lang="en-US" altLang="en-US" dirty="0">
                <a:effectLst>
                  <a:outerShdw blurRad="38100" dist="38100" dir="2700000" algn="tl">
                    <a:srgbClr val="C0C0C0"/>
                  </a:outerShdw>
                </a:effectLst>
              </a:rPr>
              <a:t>-Trees</a:t>
            </a:r>
          </a:p>
        </p:txBody>
      </p:sp>
      <p:sp>
        <p:nvSpPr>
          <p:cNvPr id="45059" name="Rectangle 3">
            <a:extLst>
              <a:ext uri="{FF2B5EF4-FFF2-40B4-BE49-F238E27FC236}">
                <a16:creationId xmlns:a16="http://schemas.microsoft.com/office/drawing/2014/main" id="{33B428D0-E1FF-4080-8E20-A5CE39542436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701556" y="1205230"/>
            <a:ext cx="10604908" cy="4876800"/>
          </a:xfrm>
        </p:spPr>
        <p:txBody>
          <a:bodyPr/>
          <a:lstStyle/>
          <a:p>
            <a:r>
              <a:rPr lang="en-US" altLang="en-US" dirty="0"/>
              <a:t>For </a:t>
            </a:r>
            <a:r>
              <a:rPr lang="en-US" altLang="en-US" i="1" dirty="0" err="1"/>
              <a:t>i</a:t>
            </a:r>
            <a:r>
              <a:rPr lang="en-US" altLang="en-US" dirty="0"/>
              <a:t> = 1, 2, . . ., </a:t>
            </a:r>
            <a:r>
              <a:rPr lang="en-US" altLang="en-US" i="1" dirty="0"/>
              <a:t>n–</a:t>
            </a:r>
            <a:r>
              <a:rPr lang="en-US" altLang="en-US" dirty="0"/>
              <a:t>1, pointer </a:t>
            </a:r>
            <a:r>
              <a:rPr lang="en-US" altLang="en-US" i="1" dirty="0"/>
              <a:t>P</a:t>
            </a:r>
            <a:r>
              <a:rPr lang="en-US" altLang="en-US" i="1" baseline="-25000" dirty="0"/>
              <a:t>i</a:t>
            </a:r>
            <a:r>
              <a:rPr lang="en-US" altLang="en-US" dirty="0"/>
              <a:t> points to a file record with search-key value </a:t>
            </a:r>
            <a:r>
              <a:rPr lang="en-US" altLang="en-US" i="1" dirty="0"/>
              <a:t>K</a:t>
            </a:r>
            <a:r>
              <a:rPr lang="en-US" altLang="en-US" i="1" baseline="-25000" dirty="0"/>
              <a:t>i</a:t>
            </a:r>
            <a:r>
              <a:rPr lang="en-US" altLang="en-US" dirty="0"/>
              <a:t>, </a:t>
            </a:r>
          </a:p>
          <a:p>
            <a:r>
              <a:rPr lang="en-US" altLang="en-US" dirty="0"/>
              <a:t>If </a:t>
            </a:r>
            <a:r>
              <a:rPr lang="en-US" altLang="en-US" i="1" dirty="0"/>
              <a:t>L</a:t>
            </a:r>
            <a:r>
              <a:rPr lang="en-US" altLang="en-US" i="1" baseline="-25000" dirty="0"/>
              <a:t>i</a:t>
            </a:r>
            <a:r>
              <a:rPr lang="en-US" altLang="en-US" i="1" dirty="0"/>
              <a:t>, </a:t>
            </a:r>
            <a:r>
              <a:rPr lang="en-US" altLang="en-US" i="1" dirty="0" err="1"/>
              <a:t>L</a:t>
            </a:r>
            <a:r>
              <a:rPr lang="en-US" altLang="en-US" i="1" baseline="-25000" dirty="0" err="1"/>
              <a:t>j</a:t>
            </a:r>
            <a:r>
              <a:rPr lang="en-US" altLang="en-US" dirty="0"/>
              <a:t> are leaf nodes and </a:t>
            </a:r>
            <a:r>
              <a:rPr lang="en-US" altLang="en-US" i="1" dirty="0" err="1"/>
              <a:t>i</a:t>
            </a:r>
            <a:r>
              <a:rPr lang="en-US" altLang="en-US" i="1" dirty="0"/>
              <a:t> </a:t>
            </a:r>
            <a:r>
              <a:rPr lang="en-US" altLang="en-US" dirty="0"/>
              <a:t>&lt; </a:t>
            </a:r>
            <a:r>
              <a:rPr lang="en-US" altLang="en-US" i="1" dirty="0"/>
              <a:t>j, L</a:t>
            </a:r>
            <a:r>
              <a:rPr lang="en-US" altLang="en-US" i="1" baseline="-25000" dirty="0"/>
              <a:t>i</a:t>
            </a:r>
            <a:r>
              <a:rPr lang="ja-JP" altLang="en-US" dirty="0"/>
              <a:t>’</a:t>
            </a:r>
            <a:r>
              <a:rPr lang="en-US" altLang="ja-JP" dirty="0"/>
              <a:t>s search-key values are less than or equal to </a:t>
            </a:r>
            <a:r>
              <a:rPr lang="en-US" altLang="ja-JP" i="1" dirty="0" err="1"/>
              <a:t>L</a:t>
            </a:r>
            <a:r>
              <a:rPr lang="en-US" altLang="ja-JP" i="1" baseline="-25000" dirty="0" err="1"/>
              <a:t>j</a:t>
            </a:r>
            <a:r>
              <a:rPr lang="ja-JP" altLang="en-US" dirty="0"/>
              <a:t>’</a:t>
            </a:r>
            <a:r>
              <a:rPr lang="en-US" altLang="ja-JP" dirty="0"/>
              <a:t>s search-key values</a:t>
            </a:r>
          </a:p>
          <a:p>
            <a:r>
              <a:rPr lang="en-US" altLang="en-US" i="1" dirty="0" err="1"/>
              <a:t>P</a:t>
            </a:r>
            <a:r>
              <a:rPr lang="en-US" altLang="en-US" i="1" baseline="-25000" dirty="0" err="1"/>
              <a:t>n</a:t>
            </a:r>
            <a:r>
              <a:rPr lang="en-US" altLang="en-US" dirty="0"/>
              <a:t> points to next leaf node in search-key order</a:t>
            </a:r>
          </a:p>
        </p:txBody>
      </p:sp>
      <p:grpSp>
        <p:nvGrpSpPr>
          <p:cNvPr id="45061" name="Group 7">
            <a:extLst>
              <a:ext uri="{FF2B5EF4-FFF2-40B4-BE49-F238E27FC236}">
                <a16:creationId xmlns:a16="http://schemas.microsoft.com/office/drawing/2014/main" id="{0ABF95CC-E6C9-439C-8C6C-8B69BDB3EC8C}"/>
              </a:ext>
            </a:extLst>
          </p:cNvPr>
          <p:cNvGrpSpPr>
            <a:grpSpLocks/>
          </p:cNvGrpSpPr>
          <p:nvPr/>
        </p:nvGrpSpPr>
        <p:grpSpPr bwMode="auto">
          <a:xfrm>
            <a:off x="2246186" y="3429000"/>
            <a:ext cx="7505700" cy="3295650"/>
            <a:chOff x="961" y="2239"/>
            <a:chExt cx="4527" cy="1961"/>
          </a:xfrm>
        </p:grpSpPr>
        <p:pic>
          <p:nvPicPr>
            <p:cNvPr id="45062" name="Picture 8">
              <a:extLst>
                <a:ext uri="{FF2B5EF4-FFF2-40B4-BE49-F238E27FC236}">
                  <a16:creationId xmlns:a16="http://schemas.microsoft.com/office/drawing/2014/main" id="{012C4B4A-CC70-4617-8C41-85390F3903CA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t="28848" b="9171"/>
            <a:stretch>
              <a:fillRect/>
            </a:stretch>
          </p:blipFill>
          <p:spPr bwMode="auto">
            <a:xfrm>
              <a:off x="961" y="2537"/>
              <a:ext cx="4521" cy="166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pic>
          <p:nvPicPr>
            <p:cNvPr id="45063" name="Picture 8">
              <a:extLst>
                <a:ext uri="{FF2B5EF4-FFF2-40B4-BE49-F238E27FC236}">
                  <a16:creationId xmlns:a16="http://schemas.microsoft.com/office/drawing/2014/main" id="{7BD2BFE1-0AF9-488E-85E2-AE4A1033A750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b="88744"/>
            <a:stretch>
              <a:fillRect/>
            </a:stretch>
          </p:blipFill>
          <p:spPr bwMode="auto">
            <a:xfrm>
              <a:off x="967" y="2239"/>
              <a:ext cx="4521" cy="30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</p:grpSp>
    </p:spTree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1B1B064-0F25-07CC-EA57-4A18D4D55E7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Operations on B+ Trees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7E163D6-A308-C143-2AFE-90D11DAF050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269015" y="1589088"/>
            <a:ext cx="10215033" cy="4903787"/>
          </a:xfrm>
        </p:spPr>
        <p:txBody>
          <a:bodyPr>
            <a:normAutofit lnSpcReduction="10000"/>
          </a:bodyPr>
          <a:lstStyle/>
          <a:p>
            <a:pPr>
              <a:buNone/>
            </a:pPr>
            <a:r>
              <a:rPr lang="en-IN" b="1" dirty="0"/>
              <a:t>(a) Searching</a:t>
            </a:r>
            <a:endParaRPr lang="en-IN" dirty="0"/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IN" dirty="0"/>
              <a:t>Start from the </a:t>
            </a:r>
            <a:r>
              <a:rPr lang="en-IN" b="1" dirty="0"/>
              <a:t>root</a:t>
            </a:r>
            <a:r>
              <a:rPr lang="en-IN" dirty="0"/>
              <a:t>.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IN" dirty="0"/>
              <a:t>Compare key with </a:t>
            </a:r>
            <a:r>
              <a:rPr lang="en-IN" b="1" dirty="0"/>
              <a:t>internal node values</a:t>
            </a:r>
            <a:r>
              <a:rPr lang="en-IN" dirty="0"/>
              <a:t>.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IN" dirty="0"/>
              <a:t>Follow the </a:t>
            </a:r>
            <a:r>
              <a:rPr lang="en-IN" b="1" dirty="0"/>
              <a:t>appropriate child pointer</a:t>
            </a:r>
            <a:r>
              <a:rPr lang="en-IN" dirty="0"/>
              <a:t>.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IN" dirty="0"/>
              <a:t>Once at the </a:t>
            </a:r>
            <a:r>
              <a:rPr lang="en-IN" b="1" dirty="0"/>
              <a:t>leaf node</a:t>
            </a:r>
            <a:r>
              <a:rPr lang="en-IN" dirty="0"/>
              <a:t>, perform a </a:t>
            </a:r>
            <a:r>
              <a:rPr lang="en-IN" b="1" dirty="0"/>
              <a:t>linear search</a:t>
            </a:r>
            <a:r>
              <a:rPr lang="en-IN" dirty="0"/>
              <a:t>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IN" b="1" dirty="0"/>
              <a:t>Time Complexity</a:t>
            </a:r>
            <a:r>
              <a:rPr lang="en-IN" dirty="0"/>
              <a:t>: </a:t>
            </a:r>
            <a:r>
              <a:rPr lang="en-IN" b="1" dirty="0"/>
              <a:t>O(</a:t>
            </a:r>
            <a:r>
              <a:rPr lang="en-IN" b="1" dirty="0" err="1"/>
              <a:t>log</a:t>
            </a:r>
            <a:r>
              <a:rPr lang="en-IN" b="1" baseline="-25000" dirty="0" err="1"/>
              <a:t>d</a:t>
            </a:r>
            <a:r>
              <a:rPr lang="en-IN" b="1" dirty="0" err="1"/>
              <a:t>N</a:t>
            </a:r>
            <a:r>
              <a:rPr lang="en-IN" b="1" dirty="0"/>
              <a:t>)</a:t>
            </a:r>
            <a:r>
              <a:rPr lang="en-IN" dirty="0"/>
              <a:t>  </a:t>
            </a:r>
          </a:p>
          <a:p>
            <a:pPr>
              <a:buNone/>
            </a:pPr>
            <a:endParaRPr lang="en-IN" b="1" dirty="0"/>
          </a:p>
          <a:p>
            <a:pPr>
              <a:buNone/>
            </a:pPr>
            <a:r>
              <a:rPr lang="en-IN" b="1" dirty="0"/>
              <a:t>(b) Insertion</a:t>
            </a:r>
            <a:endParaRPr lang="en-IN" dirty="0"/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IN" dirty="0"/>
              <a:t>Find the </a:t>
            </a:r>
            <a:r>
              <a:rPr lang="en-IN" b="1" dirty="0"/>
              <a:t>correct leaf node</a:t>
            </a:r>
            <a:r>
              <a:rPr lang="en-IN" dirty="0"/>
              <a:t>.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IN" dirty="0"/>
              <a:t>Insert the key </a:t>
            </a:r>
            <a:r>
              <a:rPr lang="en-IN" b="1" dirty="0"/>
              <a:t>in sorted order</a:t>
            </a:r>
            <a:r>
              <a:rPr lang="en-IN" dirty="0"/>
              <a:t>.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IN" dirty="0"/>
              <a:t>If the leaf node </a:t>
            </a:r>
            <a:r>
              <a:rPr lang="en-IN" b="1" dirty="0"/>
              <a:t>overflows</a:t>
            </a:r>
            <a:r>
              <a:rPr lang="en-IN" dirty="0"/>
              <a:t>, </a:t>
            </a:r>
            <a:r>
              <a:rPr lang="en-IN" b="1" dirty="0"/>
              <a:t>split</a:t>
            </a:r>
            <a:r>
              <a:rPr lang="en-IN" dirty="0"/>
              <a:t> it.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IN" dirty="0"/>
              <a:t>Propagate the split </a:t>
            </a:r>
            <a:r>
              <a:rPr lang="en-IN" b="1" dirty="0"/>
              <a:t>upward</a:t>
            </a:r>
            <a:r>
              <a:rPr lang="en-IN" dirty="0"/>
              <a:t> if needed.</a:t>
            </a:r>
          </a:p>
        </p:txBody>
      </p:sp>
    </p:spTree>
    <p:extLst>
      <p:ext uri="{BB962C8B-B14F-4D97-AF65-F5344CB8AC3E}">
        <p14:creationId xmlns:p14="http://schemas.microsoft.com/office/powerpoint/2010/main" val="2890807636"/>
      </p:ext>
    </p:extLst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D59032F-37C9-4238-C7C8-F4EF453C7CE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Operations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D1031DA-6A3E-6C38-00D4-D3C6D253CF7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endParaRPr lang="en-IN" dirty="0"/>
          </a:p>
          <a:p>
            <a:pPr>
              <a:buNone/>
            </a:pPr>
            <a:r>
              <a:rPr lang="en-IN" b="1" dirty="0"/>
              <a:t>(c) Deletion</a:t>
            </a:r>
            <a:endParaRPr lang="en-IN" dirty="0"/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IN" dirty="0"/>
              <a:t>Find the </a:t>
            </a:r>
            <a:r>
              <a:rPr lang="en-IN" b="1" dirty="0"/>
              <a:t>leaf node</a:t>
            </a:r>
            <a:r>
              <a:rPr lang="en-IN" dirty="0"/>
              <a:t> containing the key.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IN" dirty="0"/>
              <a:t>Remove the key.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IN" dirty="0"/>
              <a:t>If the node </a:t>
            </a:r>
            <a:r>
              <a:rPr lang="en-IN" b="1" dirty="0"/>
              <a:t>underflows</a:t>
            </a:r>
            <a:r>
              <a:rPr lang="en-IN" dirty="0"/>
              <a:t>, </a:t>
            </a:r>
            <a:r>
              <a:rPr lang="en-IN" b="1" dirty="0"/>
              <a:t>borrow</a:t>
            </a:r>
            <a:r>
              <a:rPr lang="en-IN" dirty="0"/>
              <a:t> from sibling or </a:t>
            </a:r>
            <a:r>
              <a:rPr lang="en-IN" b="1" dirty="0"/>
              <a:t>merge</a:t>
            </a:r>
            <a:r>
              <a:rPr lang="en-IN" dirty="0"/>
              <a:t> nodes.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IN" dirty="0"/>
              <a:t>Adjust </a:t>
            </a:r>
            <a:r>
              <a:rPr lang="en-IN" b="1" dirty="0"/>
              <a:t>internal nodes</a:t>
            </a:r>
            <a:r>
              <a:rPr lang="en-IN" dirty="0"/>
              <a:t> if needed.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962173765"/>
      </p:ext>
    </p:extLst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1D1DB65-3AB5-443A-A7F5-4B745B85381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Example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F9DFE01-519C-5ED2-DD79-37249C66A46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589088"/>
            <a:ext cx="10215033" cy="4903787"/>
          </a:xfrm>
        </p:spPr>
        <p:txBody>
          <a:bodyPr>
            <a:normAutofit/>
          </a:bodyPr>
          <a:lstStyle/>
          <a:p>
            <a:r>
              <a:rPr lang="en-IN" dirty="0"/>
              <a:t>Construct a </a:t>
            </a:r>
            <a:r>
              <a:rPr lang="en-IN" b="1" dirty="0"/>
              <a:t>B+ Tree of order 4</a:t>
            </a:r>
            <a:r>
              <a:rPr lang="en-IN" dirty="0"/>
              <a:t> and insert the keys:</a:t>
            </a:r>
            <a:br>
              <a:rPr lang="en-IN" dirty="0"/>
            </a:br>
            <a:r>
              <a:rPr lang="en-IN" dirty="0"/>
              <a:t>10, 20, 5, 6, 12, 30, 7, 17</a:t>
            </a:r>
          </a:p>
          <a:p>
            <a:r>
              <a:rPr lang="en-IN" dirty="0"/>
              <a:t>Maximum number of children per node = </a:t>
            </a:r>
            <a:r>
              <a:rPr lang="en-IN" b="1" dirty="0"/>
              <a:t>4</a:t>
            </a:r>
          </a:p>
          <a:p>
            <a:endParaRPr lang="en-IN" b="1" dirty="0"/>
          </a:p>
          <a:p>
            <a:pPr marL="0" indent="0">
              <a:buNone/>
            </a:pPr>
            <a:endParaRPr lang="en-IN" b="1" dirty="0"/>
          </a:p>
          <a:p>
            <a:r>
              <a:rPr lang="en-IN" dirty="0"/>
              <a:t>Insert 12 - Node Split! - </a:t>
            </a:r>
            <a:r>
              <a:rPr lang="en-IN" b="1" dirty="0"/>
              <a:t>Left Leaf:</a:t>
            </a:r>
            <a:r>
              <a:rPr lang="en-IN" dirty="0"/>
              <a:t> [5, 6] - </a:t>
            </a:r>
            <a:r>
              <a:rPr lang="en-IN" b="1" dirty="0"/>
              <a:t>Right Leaf:</a:t>
            </a:r>
            <a:r>
              <a:rPr lang="en-IN" dirty="0"/>
              <a:t> [10, 12, 20] -   </a:t>
            </a:r>
            <a:r>
              <a:rPr lang="en-IN" b="1" dirty="0"/>
              <a:t>middle key (10)</a:t>
            </a:r>
            <a:r>
              <a:rPr lang="en-IN" dirty="0"/>
              <a:t> moves </a:t>
            </a:r>
            <a:r>
              <a:rPr lang="en-IN" b="1" dirty="0"/>
              <a:t>up</a:t>
            </a:r>
            <a:r>
              <a:rPr lang="en-IN" dirty="0"/>
              <a:t> to the root node.</a:t>
            </a:r>
            <a:endParaRPr lang="en-US" dirty="0"/>
          </a:p>
        </p:txBody>
      </p:sp>
      <p:pic>
        <p:nvPicPr>
          <p:cNvPr id="5" name="Picture 4" descr="A blue number with black lines&#10;&#10;AI-generated content may be incorrect.">
            <a:extLst>
              <a:ext uri="{FF2B5EF4-FFF2-40B4-BE49-F238E27FC236}">
                <a16:creationId xmlns:a16="http://schemas.microsoft.com/office/drawing/2014/main" id="{5D7F78D6-CF07-81FE-FA1B-B0D2A29FBB3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38767" y="3334611"/>
            <a:ext cx="901700" cy="596900"/>
          </a:xfrm>
          <a:prstGeom prst="rect">
            <a:avLst/>
          </a:prstGeom>
        </p:spPr>
      </p:pic>
      <p:pic>
        <p:nvPicPr>
          <p:cNvPr id="7" name="Picture 6" descr="A blue text on a white background&#10;&#10;AI-generated content may be incorrect.">
            <a:extLst>
              <a:ext uri="{FF2B5EF4-FFF2-40B4-BE49-F238E27FC236}">
                <a16:creationId xmlns:a16="http://schemas.microsoft.com/office/drawing/2014/main" id="{2FC3857B-BFC6-8AB9-8569-97AE9EC1018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160183" y="3429000"/>
            <a:ext cx="1739900" cy="533400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84B95211-E35D-E17C-A93A-F59305FDAD88}"/>
              </a:ext>
            </a:extLst>
          </p:cNvPr>
          <p:cNvSpPr txBox="1"/>
          <p:nvPr/>
        </p:nvSpPr>
        <p:spPr>
          <a:xfrm>
            <a:off x="1960947" y="2872946"/>
            <a:ext cx="248786" cy="92333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.</a:t>
            </a:r>
          </a:p>
          <a:p>
            <a:r>
              <a:rPr lang="en-US" dirty="0"/>
              <a:t>.</a:t>
            </a:r>
          </a:p>
          <a:p>
            <a:r>
              <a:rPr lang="en-US" dirty="0"/>
              <a:t>.</a:t>
            </a:r>
          </a:p>
        </p:txBody>
      </p:sp>
      <p:pic>
        <p:nvPicPr>
          <p:cNvPr id="10" name="Picture 9" descr="A number with numbers and letters&#10;&#10;AI-generated content may be incorrect.">
            <a:extLst>
              <a:ext uri="{FF2B5EF4-FFF2-40B4-BE49-F238E27FC236}">
                <a16:creationId xmlns:a16="http://schemas.microsoft.com/office/drawing/2014/main" id="{FB5B982F-38CC-DBA7-9199-E08D527E2358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030133" y="5186363"/>
            <a:ext cx="2463800" cy="11684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89217512"/>
      </p:ext>
    </p:extLst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Content Placeholder 3">
            <a:extLst>
              <a:ext uri="{FF2B5EF4-FFF2-40B4-BE49-F238E27FC236}">
                <a16:creationId xmlns:a16="http://schemas.microsoft.com/office/drawing/2014/main" id="{1DE7BDEE-1CA0-D553-C401-94C3AD0F2C7C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579413" y="1365535"/>
            <a:ext cx="3048000" cy="1079500"/>
          </a:xfrm>
          <a:prstGeom prst="rect">
            <a:avLst/>
          </a:prstGeom>
        </p:spPr>
      </p:pic>
      <p:pic>
        <p:nvPicPr>
          <p:cNvPr id="6" name="Picture 5" descr="A number and numbers on a white background&#10;&#10;AI-generated content may be incorrect.">
            <a:extLst>
              <a:ext uri="{FF2B5EF4-FFF2-40B4-BE49-F238E27FC236}">
                <a16:creationId xmlns:a16="http://schemas.microsoft.com/office/drawing/2014/main" id="{EAD2B7FF-93C0-39FB-EBE4-F4ADC17CEFF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588103" y="2882899"/>
            <a:ext cx="3585166" cy="1317625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9F6F9687-A9A9-04DB-DC19-A6F9935DA83A}"/>
              </a:ext>
            </a:extLst>
          </p:cNvPr>
          <p:cNvSpPr txBox="1"/>
          <p:nvPr/>
        </p:nvSpPr>
        <p:spPr>
          <a:xfrm>
            <a:off x="1125587" y="558339"/>
            <a:ext cx="6100762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dirty="0"/>
              <a:t>10, 20, 5, 6, 12, 30, 7, 17</a:t>
            </a:r>
            <a:endParaRPr lang="en-US" dirty="0"/>
          </a:p>
        </p:txBody>
      </p:sp>
      <p:pic>
        <p:nvPicPr>
          <p:cNvPr id="10" name="Picture 9" descr="A number and a black line&#10;&#10;AI-generated content may be incorrect.">
            <a:extLst>
              <a:ext uri="{FF2B5EF4-FFF2-40B4-BE49-F238E27FC236}">
                <a16:creationId xmlns:a16="http://schemas.microsoft.com/office/drawing/2014/main" id="{7BD961D6-5A66-6AAE-4E2D-1EF82E0CB445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449143" y="5047176"/>
            <a:ext cx="4047485" cy="1136934"/>
          </a:xfrm>
          <a:prstGeom prst="rect">
            <a:avLst/>
          </a:prstGeom>
        </p:spPr>
      </p:pic>
      <p:sp>
        <p:nvSpPr>
          <p:cNvPr id="12" name="TextBox 11">
            <a:extLst>
              <a:ext uri="{FF2B5EF4-FFF2-40B4-BE49-F238E27FC236}">
                <a16:creationId xmlns:a16="http://schemas.microsoft.com/office/drawing/2014/main" id="{A0228562-7712-4D5F-6D08-32DBC1B611DB}"/>
              </a:ext>
            </a:extLst>
          </p:cNvPr>
          <p:cNvSpPr txBox="1"/>
          <p:nvPr/>
        </p:nvSpPr>
        <p:spPr>
          <a:xfrm>
            <a:off x="5745559" y="4268336"/>
            <a:ext cx="6096000" cy="203132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IN" dirty="0"/>
              <a:t>Insert 17 – needs second Node Split!</a:t>
            </a:r>
          </a:p>
          <a:p>
            <a:pPr>
              <a:buNone/>
            </a:pPr>
            <a:endParaRPr lang="en-IN" dirty="0"/>
          </a:p>
          <a:p>
            <a:pPr>
              <a:buFont typeface="Arial" panose="020B0604020202020204" pitchFamily="34" charset="0"/>
              <a:buChar char="•"/>
            </a:pPr>
            <a:r>
              <a:rPr lang="en-IN" dirty="0"/>
              <a:t>The right leaf node [10, 12, 20, 30] is full, so it splits: 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IN" dirty="0"/>
              <a:t>Left Leaf: [10, 12]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IN" dirty="0"/>
              <a:t>Right Leaf: [17, 20, 30]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endParaRPr lang="en-IN" dirty="0"/>
          </a:p>
          <a:p>
            <a:pPr>
              <a:buFont typeface="Arial" panose="020B0604020202020204" pitchFamily="34" charset="0"/>
              <a:buChar char="•"/>
            </a:pPr>
            <a:r>
              <a:rPr lang="en-IN" dirty="0"/>
              <a:t>The middle key (17) moves up to the root.</a:t>
            </a:r>
          </a:p>
        </p:txBody>
      </p:sp>
    </p:spTree>
    <p:extLst>
      <p:ext uri="{BB962C8B-B14F-4D97-AF65-F5344CB8AC3E}">
        <p14:creationId xmlns:p14="http://schemas.microsoft.com/office/powerpoint/2010/main" val="1212220247"/>
      </p:ext>
    </p:extLst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72162" name="Rectangle 2">
            <a:extLst>
              <a:ext uri="{FF2B5EF4-FFF2-40B4-BE49-F238E27FC236}">
                <a16:creationId xmlns:a16="http://schemas.microsoft.com/office/drawing/2014/main" id="{32E1A6C6-86FE-48FF-AA43-AFD7CE8AD82B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689344" y="0"/>
            <a:ext cx="10515600" cy="1325563"/>
          </a:xfrm>
        </p:spPr>
        <p:txBody>
          <a:bodyPr/>
          <a:lstStyle/>
          <a:p>
            <a:pPr>
              <a:defRPr/>
            </a:pPr>
            <a:r>
              <a:rPr lang="en-US" altLang="en-US" dirty="0">
                <a:effectLst>
                  <a:outerShdw blurRad="38100" dist="38100" dir="2700000" algn="tl">
                    <a:srgbClr val="C0C0C0"/>
                  </a:outerShdw>
                </a:effectLst>
              </a:rPr>
              <a:t>Example of B</a:t>
            </a:r>
            <a:r>
              <a:rPr lang="en-US" altLang="en-US" baseline="30000" dirty="0">
                <a:effectLst>
                  <a:outerShdw blurRad="38100" dist="38100" dir="2700000" algn="tl">
                    <a:srgbClr val="C0C0C0"/>
                  </a:outerShdw>
                </a:effectLst>
              </a:rPr>
              <a:t>+</a:t>
            </a:r>
            <a:r>
              <a:rPr lang="en-US" altLang="en-US" dirty="0">
                <a:effectLst>
                  <a:outerShdw blurRad="38100" dist="38100" dir="2700000" algn="tl">
                    <a:srgbClr val="C0C0C0"/>
                  </a:outerShdw>
                </a:effectLst>
              </a:rPr>
              <a:t>-tree</a:t>
            </a:r>
          </a:p>
        </p:txBody>
      </p:sp>
      <p:sp>
        <p:nvSpPr>
          <p:cNvPr id="48131" name="Rectangle 3">
            <a:extLst>
              <a:ext uri="{FF2B5EF4-FFF2-40B4-BE49-F238E27FC236}">
                <a16:creationId xmlns:a16="http://schemas.microsoft.com/office/drawing/2014/main" id="{F1965228-E904-49E0-AF36-1FD378CB67E5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1706880" y="1207008"/>
            <a:ext cx="8678545" cy="5047487"/>
          </a:xfrm>
        </p:spPr>
        <p:txBody>
          <a:bodyPr>
            <a:normAutofit fontScale="77500" lnSpcReduction="20000"/>
          </a:bodyPr>
          <a:lstStyle/>
          <a:p>
            <a:r>
              <a:rPr kumimoji="0" lang="en-US" altLang="en-US" dirty="0"/>
              <a:t>B</a:t>
            </a:r>
            <a:r>
              <a:rPr kumimoji="0" lang="en-US" altLang="en-US" baseline="30000" dirty="0"/>
              <a:t>+</a:t>
            </a:r>
            <a:r>
              <a:rPr kumimoji="0" lang="en-US" altLang="en-US" dirty="0"/>
              <a:t>-tree for </a:t>
            </a:r>
            <a:r>
              <a:rPr kumimoji="0" lang="en-US" altLang="en-US" i="1" dirty="0"/>
              <a:t>instructor </a:t>
            </a:r>
            <a:r>
              <a:rPr kumimoji="0" lang="en-US" altLang="en-US" dirty="0"/>
              <a:t>file (</a:t>
            </a:r>
            <a:r>
              <a:rPr kumimoji="0" lang="en-US" altLang="en-US" i="1" dirty="0"/>
              <a:t>n</a:t>
            </a:r>
            <a:r>
              <a:rPr kumimoji="0" lang="en-US" altLang="en-US" dirty="0"/>
              <a:t> = 6)</a:t>
            </a:r>
          </a:p>
          <a:p>
            <a:endParaRPr lang="en-US" altLang="en-US" dirty="0"/>
          </a:p>
          <a:p>
            <a:endParaRPr lang="en-US" altLang="en-US" dirty="0"/>
          </a:p>
          <a:p>
            <a:endParaRPr lang="en-US" altLang="en-US" dirty="0"/>
          </a:p>
          <a:p>
            <a:endParaRPr lang="en-US" altLang="en-US" dirty="0"/>
          </a:p>
          <a:p>
            <a:pPr marL="0" indent="0">
              <a:buNone/>
            </a:pPr>
            <a:endParaRPr lang="en-US" altLang="en-US" dirty="0"/>
          </a:p>
          <a:p>
            <a:r>
              <a:rPr lang="en-US" altLang="en-US" dirty="0"/>
              <a:t>Leaf nodes must have between 3 and 5 values </a:t>
            </a:r>
          </a:p>
          <a:p>
            <a:pPr marL="0" indent="0">
              <a:buNone/>
            </a:pPr>
            <a:endParaRPr lang="en-US" altLang="en-US" dirty="0"/>
          </a:p>
          <a:p>
            <a:pPr marL="0" indent="0">
              <a:buNone/>
            </a:pPr>
            <a:r>
              <a:rPr lang="en-US" altLang="en-US" dirty="0"/>
              <a:t>(</a:t>
            </a:r>
            <a:r>
              <a:rPr lang="en-US" altLang="en-US" dirty="0">
                <a:sym typeface="Symbol" panose="05050102010706020507" pitchFamily="18" charset="2"/>
              </a:rPr>
              <a:t>(</a:t>
            </a:r>
            <a:r>
              <a:rPr lang="en-US" altLang="en-US" i="1" dirty="0">
                <a:sym typeface="Symbol" panose="05050102010706020507" pitchFamily="18" charset="2"/>
              </a:rPr>
              <a:t>n</a:t>
            </a:r>
            <a:r>
              <a:rPr lang="en-US" altLang="en-US" dirty="0">
                <a:sym typeface="Symbol" panose="05050102010706020507" pitchFamily="18" charset="2"/>
              </a:rPr>
              <a:t>–1)/2 and </a:t>
            </a:r>
            <a:r>
              <a:rPr lang="en-US" altLang="en-US" i="1" dirty="0">
                <a:sym typeface="Symbol" panose="05050102010706020507" pitchFamily="18" charset="2"/>
              </a:rPr>
              <a:t>n </a:t>
            </a:r>
            <a:r>
              <a:rPr lang="en-US" altLang="en-US" dirty="0">
                <a:sym typeface="Symbol" panose="05050102010706020507" pitchFamily="18" charset="2"/>
              </a:rPr>
              <a:t>–1, with </a:t>
            </a:r>
            <a:r>
              <a:rPr lang="en-US" altLang="en-US" i="1" dirty="0">
                <a:sym typeface="Symbol" panose="05050102010706020507" pitchFamily="18" charset="2"/>
              </a:rPr>
              <a:t>n</a:t>
            </a:r>
            <a:r>
              <a:rPr lang="en-US" altLang="en-US" dirty="0">
                <a:sym typeface="Symbol" panose="05050102010706020507" pitchFamily="18" charset="2"/>
              </a:rPr>
              <a:t> = 6).</a:t>
            </a:r>
          </a:p>
          <a:p>
            <a:endParaRPr lang="en-US" altLang="en-US" dirty="0">
              <a:sym typeface="Symbol" panose="05050102010706020507" pitchFamily="18" charset="2"/>
            </a:endParaRPr>
          </a:p>
          <a:p>
            <a:r>
              <a:rPr lang="en-US" altLang="en-US" dirty="0">
                <a:sym typeface="Symbol" panose="05050102010706020507" pitchFamily="18" charset="2"/>
              </a:rPr>
              <a:t>Non-leaf nodes other than root must have between 3 and 6 children </a:t>
            </a:r>
            <a:r>
              <a:rPr lang="en-US" altLang="en-US" dirty="0"/>
              <a:t>(</a:t>
            </a:r>
            <a:r>
              <a:rPr lang="en-US" altLang="en-US" dirty="0">
                <a:sym typeface="Symbol" panose="05050102010706020507" pitchFamily="18" charset="2"/>
              </a:rPr>
              <a:t>(</a:t>
            </a:r>
            <a:r>
              <a:rPr lang="en-US" altLang="en-US" i="1" dirty="0">
                <a:sym typeface="Symbol" panose="05050102010706020507" pitchFamily="18" charset="2"/>
              </a:rPr>
              <a:t>n</a:t>
            </a:r>
            <a:r>
              <a:rPr lang="en-US" altLang="en-US" dirty="0">
                <a:sym typeface="Symbol" panose="05050102010706020507" pitchFamily="18" charset="2"/>
              </a:rPr>
              <a:t>/2 and </a:t>
            </a:r>
            <a:r>
              <a:rPr lang="en-US" altLang="en-US" i="1" dirty="0">
                <a:sym typeface="Symbol" panose="05050102010706020507" pitchFamily="18" charset="2"/>
              </a:rPr>
              <a:t>n </a:t>
            </a:r>
            <a:r>
              <a:rPr lang="en-US" altLang="en-US" dirty="0">
                <a:sym typeface="Symbol" panose="05050102010706020507" pitchFamily="18" charset="2"/>
              </a:rPr>
              <a:t>with </a:t>
            </a:r>
            <a:r>
              <a:rPr lang="en-US" altLang="en-US" i="1" dirty="0">
                <a:sym typeface="Symbol" panose="05050102010706020507" pitchFamily="18" charset="2"/>
              </a:rPr>
              <a:t>n</a:t>
            </a:r>
            <a:r>
              <a:rPr lang="en-US" altLang="en-US" dirty="0">
                <a:sym typeface="Symbol" panose="05050102010706020507" pitchFamily="18" charset="2"/>
              </a:rPr>
              <a:t> =6).</a:t>
            </a:r>
          </a:p>
          <a:p>
            <a:endParaRPr lang="en-US" altLang="en-US" dirty="0">
              <a:sym typeface="Symbol" panose="05050102010706020507" pitchFamily="18" charset="2"/>
            </a:endParaRPr>
          </a:p>
          <a:p>
            <a:r>
              <a:rPr lang="en-US" altLang="en-US" dirty="0">
                <a:sym typeface="Symbol" panose="05050102010706020507" pitchFamily="18" charset="2"/>
              </a:rPr>
              <a:t>Root must have at least 2 children.</a:t>
            </a:r>
          </a:p>
        </p:txBody>
      </p:sp>
      <p:pic>
        <p:nvPicPr>
          <p:cNvPr id="48133" name="Picture 6">
            <a:extLst>
              <a:ext uri="{FF2B5EF4-FFF2-40B4-BE49-F238E27FC236}">
                <a16:creationId xmlns:a16="http://schemas.microsoft.com/office/drawing/2014/main" id="{33F38C9F-4795-45E8-AC13-8552F375DDD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806575" y="1892291"/>
            <a:ext cx="8540750" cy="11604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74210" name="Rectangle 2">
            <a:extLst>
              <a:ext uri="{FF2B5EF4-FFF2-40B4-BE49-F238E27FC236}">
                <a16:creationId xmlns:a16="http://schemas.microsoft.com/office/drawing/2014/main" id="{2236C35C-12A7-41B6-BCCD-455129331DC9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561754" y="88679"/>
            <a:ext cx="10515600" cy="1325563"/>
          </a:xfrm>
        </p:spPr>
        <p:txBody>
          <a:bodyPr/>
          <a:lstStyle/>
          <a:p>
            <a:pPr>
              <a:defRPr/>
            </a:pPr>
            <a:r>
              <a:rPr lang="en-US" altLang="en-US" dirty="0">
                <a:effectLst>
                  <a:outerShdw blurRad="38100" dist="38100" dir="2700000" algn="tl">
                    <a:srgbClr val="C0C0C0"/>
                  </a:outerShdw>
                </a:effectLst>
              </a:rPr>
              <a:t>Observations about B</a:t>
            </a:r>
            <a:r>
              <a:rPr lang="en-US" altLang="en-US" baseline="30000" dirty="0">
                <a:effectLst>
                  <a:outerShdw blurRad="38100" dist="38100" dir="2700000" algn="tl">
                    <a:srgbClr val="C0C0C0"/>
                  </a:outerShdw>
                </a:effectLst>
              </a:rPr>
              <a:t>+</a:t>
            </a:r>
            <a:r>
              <a:rPr lang="en-US" altLang="en-US" dirty="0">
                <a:effectLst>
                  <a:outerShdw blurRad="38100" dist="38100" dir="2700000" algn="tl">
                    <a:srgbClr val="C0C0C0"/>
                  </a:outerShdw>
                </a:effectLst>
              </a:rPr>
              <a:t>-trees</a:t>
            </a:r>
          </a:p>
        </p:txBody>
      </p:sp>
      <p:sp>
        <p:nvSpPr>
          <p:cNvPr id="61442" name="Rectangle 3">
            <a:extLst>
              <a:ext uri="{FF2B5EF4-FFF2-40B4-BE49-F238E27FC236}">
                <a16:creationId xmlns:a16="http://schemas.microsoft.com/office/drawing/2014/main" id="{30320B58-A814-4C25-9DB6-EE325318540C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1194588" y="1682785"/>
            <a:ext cx="9014271" cy="4491889"/>
          </a:xfrm>
        </p:spPr>
        <p:txBody>
          <a:bodyPr>
            <a:normAutofit fontScale="85000" lnSpcReduction="10000"/>
          </a:bodyPr>
          <a:lstStyle/>
          <a:p>
            <a:r>
              <a:rPr lang="en-US" altLang="en-US" dirty="0"/>
              <a:t>Since the inter-node connections are done by pointers, </a:t>
            </a:r>
            <a:r>
              <a:rPr lang="ja-JP" altLang="en-US" dirty="0"/>
              <a:t>“</a:t>
            </a:r>
            <a:r>
              <a:rPr lang="en-US" altLang="ja-JP" dirty="0"/>
              <a:t>logically</a:t>
            </a:r>
            <a:r>
              <a:rPr lang="ja-JP" altLang="en-US" dirty="0"/>
              <a:t>”</a:t>
            </a:r>
            <a:r>
              <a:rPr lang="en-US" altLang="ja-JP" dirty="0"/>
              <a:t> close blocks need not be </a:t>
            </a:r>
            <a:r>
              <a:rPr lang="ja-JP" altLang="en-US" dirty="0"/>
              <a:t>“</a:t>
            </a:r>
            <a:r>
              <a:rPr lang="en-US" altLang="ja-JP" dirty="0"/>
              <a:t>physically</a:t>
            </a:r>
            <a:r>
              <a:rPr lang="ja-JP" altLang="en-US" dirty="0"/>
              <a:t>”</a:t>
            </a:r>
            <a:r>
              <a:rPr lang="en-US" altLang="ja-JP" dirty="0"/>
              <a:t> close.</a:t>
            </a:r>
          </a:p>
          <a:p>
            <a:r>
              <a:rPr lang="en-US" altLang="en-US" dirty="0"/>
              <a:t>The non-leaf levels of the B</a:t>
            </a:r>
            <a:r>
              <a:rPr lang="en-US" altLang="en-US" baseline="30000" dirty="0"/>
              <a:t>+</a:t>
            </a:r>
            <a:r>
              <a:rPr lang="en-US" altLang="en-US" dirty="0"/>
              <a:t>-tree form a hierarchy of sparse indices.</a:t>
            </a:r>
          </a:p>
          <a:p>
            <a:r>
              <a:rPr lang="en-US" altLang="en-US" dirty="0"/>
              <a:t>The B</a:t>
            </a:r>
            <a:r>
              <a:rPr lang="en-US" altLang="en-US" baseline="30000" dirty="0"/>
              <a:t>+</a:t>
            </a:r>
            <a:r>
              <a:rPr lang="en-US" altLang="en-US" dirty="0"/>
              <a:t>-tree contains a relatively small number of levels</a:t>
            </a:r>
          </a:p>
          <a:p>
            <a:pPr lvl="2"/>
            <a:r>
              <a:rPr lang="en-US" altLang="en-US" dirty="0"/>
              <a:t>Level below root has at least 2* </a:t>
            </a:r>
            <a:r>
              <a:rPr lang="en-US" altLang="en-US" dirty="0">
                <a:sym typeface="Symbol" panose="05050102010706020507" pitchFamily="18" charset="2"/>
              </a:rPr>
              <a:t></a:t>
            </a:r>
            <a:r>
              <a:rPr lang="en-US" altLang="en-US" dirty="0"/>
              <a:t>n/2</a:t>
            </a:r>
            <a:r>
              <a:rPr lang="en-US" altLang="en-US" dirty="0">
                <a:sym typeface="Symbol" panose="05050102010706020507" pitchFamily="18" charset="2"/>
              </a:rPr>
              <a:t> </a:t>
            </a:r>
            <a:r>
              <a:rPr lang="en-US" altLang="en-US" dirty="0"/>
              <a:t>values</a:t>
            </a:r>
          </a:p>
          <a:p>
            <a:pPr lvl="2"/>
            <a:r>
              <a:rPr lang="en-US" altLang="en-US" dirty="0"/>
              <a:t>Next level has at least 2* </a:t>
            </a:r>
            <a:r>
              <a:rPr lang="en-US" altLang="en-US" dirty="0">
                <a:sym typeface="Symbol" panose="05050102010706020507" pitchFamily="18" charset="2"/>
              </a:rPr>
              <a:t></a:t>
            </a:r>
            <a:r>
              <a:rPr lang="en-US" altLang="en-US" dirty="0"/>
              <a:t>n/2</a:t>
            </a:r>
            <a:r>
              <a:rPr lang="en-US" altLang="en-US" dirty="0">
                <a:sym typeface="Symbol" panose="05050102010706020507" pitchFamily="18" charset="2"/>
              </a:rPr>
              <a:t> * </a:t>
            </a:r>
            <a:r>
              <a:rPr lang="en-US" altLang="en-US" dirty="0"/>
              <a:t>n/2</a:t>
            </a:r>
            <a:r>
              <a:rPr lang="en-US" altLang="en-US" dirty="0">
                <a:sym typeface="Symbol" panose="05050102010706020507" pitchFamily="18" charset="2"/>
              </a:rPr>
              <a:t></a:t>
            </a:r>
            <a:r>
              <a:rPr lang="en-US" altLang="en-US" dirty="0"/>
              <a:t> values</a:t>
            </a:r>
          </a:p>
          <a:p>
            <a:pPr lvl="1"/>
            <a:endParaRPr lang="en-US" altLang="en-US" dirty="0"/>
          </a:p>
          <a:p>
            <a:r>
              <a:rPr lang="en-US" altLang="en-US" dirty="0"/>
              <a:t>If there are </a:t>
            </a:r>
            <a:r>
              <a:rPr lang="en-US" altLang="en-US" i="1" dirty="0"/>
              <a:t>K</a:t>
            </a:r>
            <a:r>
              <a:rPr lang="en-US" altLang="en-US" dirty="0"/>
              <a:t> search-key values in the file, the tree height is no more than </a:t>
            </a:r>
            <a:r>
              <a:rPr lang="en-US" altLang="en-US" dirty="0">
                <a:sym typeface="Symbol" panose="05050102010706020507" pitchFamily="18" charset="2"/>
              </a:rPr>
              <a:t> </a:t>
            </a:r>
            <a:r>
              <a:rPr lang="en-US" altLang="en-US" dirty="0" err="1">
                <a:sym typeface="Symbol" panose="05050102010706020507" pitchFamily="18" charset="2"/>
              </a:rPr>
              <a:t>log</a:t>
            </a:r>
            <a:r>
              <a:rPr lang="en-US" altLang="en-US" baseline="-25000" dirty="0" err="1">
                <a:sym typeface="Symbol" panose="05050102010706020507" pitchFamily="18" charset="2"/>
              </a:rPr>
              <a:t></a:t>
            </a:r>
            <a:r>
              <a:rPr lang="en-US" altLang="en-US" i="1" baseline="-25000" dirty="0" err="1">
                <a:sym typeface="Symbol" panose="05050102010706020507" pitchFamily="18" charset="2"/>
              </a:rPr>
              <a:t>n</a:t>
            </a:r>
            <a:r>
              <a:rPr lang="en-US" altLang="en-US" baseline="-25000" dirty="0">
                <a:sym typeface="Symbol" panose="05050102010706020507" pitchFamily="18" charset="2"/>
              </a:rPr>
              <a:t>/2</a:t>
            </a:r>
            <a:r>
              <a:rPr lang="en-US" altLang="en-US" dirty="0">
                <a:sym typeface="Symbol" panose="05050102010706020507" pitchFamily="18" charset="2"/>
              </a:rPr>
              <a:t>(</a:t>
            </a:r>
            <a:r>
              <a:rPr lang="en-US" altLang="en-US" i="1" dirty="0">
                <a:sym typeface="Symbol" panose="05050102010706020507" pitchFamily="18" charset="2"/>
              </a:rPr>
              <a:t>K</a:t>
            </a:r>
            <a:r>
              <a:rPr lang="en-US" altLang="en-US" dirty="0">
                <a:sym typeface="Symbol" panose="05050102010706020507" pitchFamily="18" charset="2"/>
              </a:rPr>
              <a:t>)</a:t>
            </a:r>
            <a:endParaRPr lang="en-US" altLang="en-US" dirty="0"/>
          </a:p>
          <a:p>
            <a:pPr lvl="1"/>
            <a:r>
              <a:rPr lang="en-US" altLang="en-US" b="1" i="1" dirty="0"/>
              <a:t>thus searches can be conducted efficiently.</a:t>
            </a:r>
          </a:p>
          <a:p>
            <a:r>
              <a:rPr lang="en-US" altLang="en-US" dirty="0"/>
              <a:t>Insertions and deletions to the main file can be handled efficiently, as the index can be restructured in logarithmic time  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44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 nodeType="clickPar">
                      <p:stCondLst>
                        <p:cond delay="indefinite"/>
                      </p:stCondLst>
                      <p:childTnLst>
                        <p:par>
                          <p:cTn id="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44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 nodeType="clickPar">
                      <p:stCondLst>
                        <p:cond delay="indefinite"/>
                      </p:stCondLst>
                      <p:childTnLst>
                        <p:par>
                          <p:cTn id="1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44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44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44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442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442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 nodeType="clickPar">
                      <p:stCondLst>
                        <p:cond delay="indefinite"/>
                      </p:stCondLst>
                      <p:childTnLst>
                        <p:par>
                          <p:cTn id="2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442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1442" grpId="0" build="p"/>
    </p:bld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283</TotalTime>
  <Words>3455</Words>
  <Application>Microsoft Macintosh PowerPoint</Application>
  <PresentationFormat>Widescreen</PresentationFormat>
  <Paragraphs>368</Paragraphs>
  <Slides>51</Slides>
  <Notes>25</Notes>
  <HiddenSlides>0</HiddenSlides>
  <MMClips>0</MMClips>
  <ScaleCrop>false</ScaleCrop>
  <HeadingPairs>
    <vt:vector size="6" baseType="variant">
      <vt:variant>
        <vt:lpstr>Fonts Used</vt:lpstr>
      </vt:variant>
      <vt:variant>
        <vt:i4>9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51</vt:i4>
      </vt:variant>
    </vt:vector>
  </HeadingPairs>
  <TitlesOfParts>
    <vt:vector size="61" baseType="lpstr">
      <vt:lpstr>Aptos</vt:lpstr>
      <vt:lpstr>Aptos Display</vt:lpstr>
      <vt:lpstr>Arial</vt:lpstr>
      <vt:lpstr>Greek Symbols</vt:lpstr>
      <vt:lpstr>Helvetica</vt:lpstr>
      <vt:lpstr>Nunito</vt:lpstr>
      <vt:lpstr>Symbol</vt:lpstr>
      <vt:lpstr>Times New Roman</vt:lpstr>
      <vt:lpstr>Wingdings</vt:lpstr>
      <vt:lpstr>Office Theme</vt:lpstr>
      <vt:lpstr>Data Storage and Indexing</vt:lpstr>
      <vt:lpstr>PowerPoint Presentation</vt:lpstr>
      <vt:lpstr>SQL Query Processing</vt:lpstr>
      <vt:lpstr>Steps</vt:lpstr>
      <vt:lpstr>Execution Engine</vt:lpstr>
      <vt:lpstr>PowerPoint Presentation</vt:lpstr>
      <vt:lpstr>Primary Memory</vt:lpstr>
      <vt:lpstr>Secondary Memory</vt:lpstr>
      <vt:lpstr>Redundant Array of Independent Disks </vt:lpstr>
      <vt:lpstr>Tertiary Memory </vt:lpstr>
      <vt:lpstr>PowerPoint Presentation</vt:lpstr>
      <vt:lpstr>Accessing Data</vt:lpstr>
      <vt:lpstr>File Organization</vt:lpstr>
      <vt:lpstr>Fixed-Length Records</vt:lpstr>
      <vt:lpstr>Fixed-Length Records</vt:lpstr>
      <vt:lpstr>Fixed-Length Records</vt:lpstr>
      <vt:lpstr>Fixed-Length Records</vt:lpstr>
      <vt:lpstr>Organization of Records in Files</vt:lpstr>
      <vt:lpstr>Heap File Organization</vt:lpstr>
      <vt:lpstr>Sequential File Organization</vt:lpstr>
      <vt:lpstr>Sequential File Organization (Cont.)</vt:lpstr>
      <vt:lpstr>Multitable Clustering File Organization</vt:lpstr>
      <vt:lpstr>Multitable Clustering File Organization (cont.)</vt:lpstr>
      <vt:lpstr>Partitioning</vt:lpstr>
      <vt:lpstr>Data Dictionary Storage</vt:lpstr>
      <vt:lpstr>Relational Representation of System Metadata</vt:lpstr>
      <vt:lpstr>Indexing</vt:lpstr>
      <vt:lpstr>Basic Concepts</vt:lpstr>
      <vt:lpstr>Ordered Indices</vt:lpstr>
      <vt:lpstr>Dense Index Files</vt:lpstr>
      <vt:lpstr>Dense Index Files (Cont.)</vt:lpstr>
      <vt:lpstr>Sparse Index Files</vt:lpstr>
      <vt:lpstr>Sparse Index Files (Cont.)</vt:lpstr>
      <vt:lpstr>Secondary Indices Example</vt:lpstr>
      <vt:lpstr>Multilevel Index</vt:lpstr>
      <vt:lpstr>B-Tree</vt:lpstr>
      <vt:lpstr>B+-Tree Index Files</vt:lpstr>
      <vt:lpstr>Structure of a B+ Tree</vt:lpstr>
      <vt:lpstr>B+-Tree Index Files (Cont.)</vt:lpstr>
      <vt:lpstr>PowerPoint Presentation</vt:lpstr>
      <vt:lpstr>Example of B+-Tree</vt:lpstr>
      <vt:lpstr>B+-Tree Node Structure</vt:lpstr>
      <vt:lpstr>Non-Leaf Nodes in B+-Trees</vt:lpstr>
      <vt:lpstr>Index Evaluation Metrics</vt:lpstr>
      <vt:lpstr>Leaf Nodes in B+-Trees</vt:lpstr>
      <vt:lpstr>Operations on B+ Trees</vt:lpstr>
      <vt:lpstr>Operations</vt:lpstr>
      <vt:lpstr>Example</vt:lpstr>
      <vt:lpstr>PowerPoint Presentation</vt:lpstr>
      <vt:lpstr>Example of B+-tree</vt:lpstr>
      <vt:lpstr>Observations about B+-trees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Lipika Dey</dc:creator>
  <cp:lastModifiedBy>Lipika Dey</cp:lastModifiedBy>
  <cp:revision>2</cp:revision>
  <dcterms:created xsi:type="dcterms:W3CDTF">2026-02-19T01:38:32Z</dcterms:created>
  <dcterms:modified xsi:type="dcterms:W3CDTF">2026-02-19T06:22:02Z</dcterms:modified>
</cp:coreProperties>
</file>